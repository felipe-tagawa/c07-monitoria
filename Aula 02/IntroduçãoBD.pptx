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82" r:id="rId5"/>
    <p:sldId id="283" r:id="rId6"/>
    <p:sldId id="273" r:id="rId7"/>
    <p:sldId id="281" r:id="rId8"/>
    <p:sldId id="258" r:id="rId9"/>
    <p:sldId id="260" r:id="rId10"/>
    <p:sldId id="275" r:id="rId11"/>
    <p:sldId id="274" r:id="rId12"/>
    <p:sldId id="259" r:id="rId13"/>
    <p:sldId id="271" r:id="rId14"/>
    <p:sldId id="277" r:id="rId15"/>
    <p:sldId id="276" r:id="rId16"/>
    <p:sldId id="272" r:id="rId17"/>
    <p:sldId id="264" r:id="rId18"/>
    <p:sldId id="278" r:id="rId19"/>
    <p:sldId id="280" r:id="rId20"/>
    <p:sldId id="261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93AE48-05F5-F8FB-EF77-76387A15C63C}" v="497" dt="2026-08-07T21:09:55.3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66D05-5E24-33BF-801F-78EF3CC22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92E566-4F7F-3564-09B2-9AA2CAFA8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ECC3AD-18CF-C373-82E1-2F6ADEE61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E696-207E-4958-8130-FF51108F7A86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3B2040-78C9-8745-F35D-EF11E515E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1EFC78-D113-1835-803D-D7950AD4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3BE-9412-4791-80FA-A05BEA5BD3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9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D03E4-65C7-6593-B5D9-BD43F5CC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4D748A-D7DC-6AF6-0A9D-42EE1A617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0C1F43-955F-F284-E52B-96BA73CFF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E696-207E-4958-8130-FF51108F7A86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581143-3F69-7D97-15B4-69F904111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12B4A7-5B6D-CE06-1474-8152CE4C9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3BE-9412-4791-80FA-A05BEA5BD3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9260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6AF45D-7CC4-DAF0-F92E-9503919E5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84446F-69DE-17E3-1834-C6E1D8381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1C1E53-8076-5532-F637-209CC4602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E696-207E-4958-8130-FF51108F7A86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7B2FC7-E025-DE2F-9266-076106F64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4B7233-721C-65ED-5A48-5DD0AB448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3BE-9412-4791-80FA-A05BEA5BD3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90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6B61AE-BDA8-4C78-A9DA-828AA1293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C8D7EF-96E4-CE37-CB3B-01B6E53C7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215D9C-4CAA-2A0B-8630-4CA95CB05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26DCE2-7E90-4DC6-15F8-EE3D801F3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E696-207E-4958-8130-FF51108F7A86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88BBA6-2AF8-48A3-B2EF-7AC9E0D6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0C3E75-6F57-4D54-4FBF-C5C75177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3BE-9412-4791-80FA-A05BEA5BD3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7019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9C3A99-536B-7AFE-28AA-EED60F2B8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0D7D7C-900A-CE79-35D3-928D1892A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31FAA5-3656-CC7D-B2FD-5EA22B0C8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B0C700E-296D-A95B-7B4A-B7B57EF03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6AE0995-EB67-0DA4-6493-D5A71E988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5045AFE-E853-B107-5B5B-7414A75E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E696-207E-4958-8130-FF51108F7A86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4681C3B-8E7A-D99F-6E7A-E62C1D91B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2B2B4F2-19FC-BF30-3660-FEE2608D8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3BE-9412-4791-80FA-A05BEA5BD3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026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9450A-ECDB-AE4A-676E-4AC03A3F1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CE8266F-101B-1E35-4F75-13CF679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E696-207E-4958-8130-FF51108F7A86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75E159-E392-08D4-8DD3-96CCDF122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355A25A-A42C-DC3A-385A-81BAD7DC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3BE-9412-4791-80FA-A05BEA5BD3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711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CF8965C-703D-D0F1-405F-F0EE866CE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E696-207E-4958-8130-FF51108F7A86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69E630B-E994-3AF0-38BA-4424BEB86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B32EE82-EC7C-A46D-A6F9-D0A95D247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3BE-9412-4791-80FA-A05BEA5BD3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7833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4D3032-EFD8-CF46-E874-0BECE203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C26BB1-FD8E-0701-52A9-7CFF97B8F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5EDEB8-D4A2-ACDE-114C-82B33E82B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0A5CB5-5450-DE4C-4227-EF24E040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E696-207E-4958-8130-FF51108F7A86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7DC88D-3C25-7A53-1C03-BC624FC63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EB4D63-40FF-0D4B-13D9-A6D181ABB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3BE-9412-4791-80FA-A05BEA5BD3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91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D738B-7BCC-4FCF-7591-DC7B9A171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673AE3A-3152-BA0E-9CD8-8E4320A199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D656892-2A17-1153-8069-C6925B97F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816881-A0DA-97F4-6317-C02775E75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E696-207E-4958-8130-FF51108F7A86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371B19-F6BB-9C24-DD83-D1E7B2028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AE0EEBA-E23B-5848-6443-E03189C5A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3BE-9412-4791-80FA-A05BEA5BD3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1148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2C9CA-F1E5-FF2E-921C-AD52A3DCD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9BD8E9-0A2B-C061-C70C-C3F70A09D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6CD184-049D-93BC-ADFE-06F757BF8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E696-207E-4958-8130-FF51108F7A86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3D6FFC-C1ED-5A9D-2094-DD3CC9066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D0B10A-F8B5-C6D2-3FEA-4B4EC6AE2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3BE-9412-4791-80FA-A05BEA5BD3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644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0FF676-4324-F294-99BE-AB1FD834A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879113-B5D4-24F6-59D8-097AC80BB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0184AF-CC75-CB46-EDFE-8210F2EB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E696-207E-4958-8130-FF51108F7A86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B5C0B6-9875-C2A1-8F76-DF096D9F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D3A412-E7E0-F4A8-B68D-98795D066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3BE-9412-4791-80FA-A05BEA5BD3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3214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FE8E7C6-4948-E3AC-8897-466C8618E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6682EE-8C1B-7051-425C-B1739304B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EAB68A-98F2-4B2E-F0D2-990427860B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3E696-207E-4958-8130-FF51108F7A86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F172A0-C762-EC83-DD34-413B6AF23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1D855C-CA58-81AE-11FC-EA68E523C0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1D3BE-9412-4791-80FA-A05BEA5BD3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689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D9A92-26DC-45D3-C254-7A9BBFED12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B5D45A-48DB-36EA-4530-E7B033A973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513EBAF-93F3-1B28-C6F8-D7D7D1CAC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03723" cy="685800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9001E6E-B9F0-2839-EE2E-690FCA50D6A9}"/>
              </a:ext>
            </a:extLst>
          </p:cNvPr>
          <p:cNvSpPr txBox="1"/>
          <p:nvPr/>
        </p:nvSpPr>
        <p:spPr>
          <a:xfrm>
            <a:off x="105508" y="5257801"/>
            <a:ext cx="46071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Introdução a Banco de Dados Relacionais</a:t>
            </a:r>
            <a:endParaRPr lang="pt-BR" sz="40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2918265-162C-5A48-27BB-E867F7A03A5E}"/>
              </a:ext>
            </a:extLst>
          </p:cNvPr>
          <p:cNvSpPr txBox="1"/>
          <p:nvPr/>
        </p:nvSpPr>
        <p:spPr>
          <a:xfrm>
            <a:off x="105508" y="114300"/>
            <a:ext cx="39389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Banco de Dados – C07</a:t>
            </a:r>
            <a:endParaRPr lang="pt-BR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0CAE585-3A47-F69A-7EB8-BF8F308CE487}"/>
              </a:ext>
            </a:extLst>
          </p:cNvPr>
          <p:cNvSpPr txBox="1"/>
          <p:nvPr/>
        </p:nvSpPr>
        <p:spPr>
          <a:xfrm>
            <a:off x="105508" y="602313"/>
            <a:ext cx="2523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Felipe Tagawa Reis</a:t>
            </a:r>
            <a:endParaRPr lang="pt-BR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859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A27A6-8EF8-12D8-8FD8-D7F39147A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F18DC9-5815-0212-B6E0-D8C10E6A4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8E3B4E-2F8A-3689-618B-A91B245EF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1421DD0-6686-3CBC-6B71-56FD159EB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7296BF4-EF26-F538-26E9-4DC854B48CD9}"/>
              </a:ext>
            </a:extLst>
          </p:cNvPr>
          <p:cNvSpPr txBox="1"/>
          <p:nvPr/>
        </p:nvSpPr>
        <p:spPr>
          <a:xfrm>
            <a:off x="386861" y="202223"/>
            <a:ext cx="906486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Instalação</a:t>
            </a:r>
            <a:r>
              <a:rPr lang="en-US" sz="3600" dirty="0"/>
              <a:t> do MySQL Workbench</a:t>
            </a:r>
          </a:p>
          <a:p>
            <a:endParaRPr lang="en-US" sz="3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Vídeo</a:t>
            </a:r>
            <a:r>
              <a:rPr lang="en-US" dirty="0"/>
              <a:t> com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detalhes</a:t>
            </a:r>
            <a:r>
              <a:rPr lang="en-US" dirty="0"/>
              <a:t> da </a:t>
            </a:r>
            <a:r>
              <a:rPr lang="en-US" dirty="0" err="1"/>
              <a:t>instalação</a:t>
            </a:r>
            <a:r>
              <a:rPr lang="en-US" dirty="0"/>
              <a:t> no canal do Teams.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Arquivo</a:t>
            </a:r>
            <a:r>
              <a:rPr lang="en-US" dirty="0"/>
              <a:t> com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detalhes</a:t>
            </a:r>
            <a:r>
              <a:rPr lang="en-US" dirty="0"/>
              <a:t> no TEAMS </a:t>
            </a:r>
            <a:r>
              <a:rPr lang="en-US" dirty="0" err="1"/>
              <a:t>ou</a:t>
            </a:r>
            <a:r>
              <a:rPr lang="en-US" dirty="0"/>
              <a:t> no meu </a:t>
            </a:r>
            <a:r>
              <a:rPr lang="en-US" dirty="0" err="1"/>
              <a:t>repositório</a:t>
            </a:r>
            <a:r>
              <a:rPr lang="en-US" dirty="0"/>
              <a:t> da </a:t>
            </a:r>
            <a:r>
              <a:rPr lang="en-US" dirty="0" err="1"/>
              <a:t>disciplina</a:t>
            </a:r>
            <a:r>
              <a:rPr lang="en-US" dirty="0"/>
              <a:t> no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IMPORTANTE: para </a:t>
            </a:r>
            <a:r>
              <a:rPr lang="en-US" dirty="0" err="1"/>
              <a:t>facilitar</a:t>
            </a:r>
            <a:r>
              <a:rPr lang="en-US" dirty="0"/>
              <a:t> entradas posteriores (</a:t>
            </a:r>
            <a:r>
              <a:rPr lang="en-US" dirty="0" err="1"/>
              <a:t>principalmente</a:t>
            </a:r>
            <a:r>
              <a:rPr lang="en-US" dirty="0"/>
              <a:t> no </a:t>
            </a:r>
            <a:r>
              <a:rPr lang="en-US" dirty="0" err="1"/>
              <a:t>projeto</a:t>
            </a:r>
            <a:r>
              <a:rPr lang="en-US" dirty="0"/>
              <a:t>), </a:t>
            </a:r>
            <a:r>
              <a:rPr lang="en-US" dirty="0" err="1"/>
              <a:t>recomendo</a:t>
            </a:r>
            <a:r>
              <a:rPr lang="en-US" dirty="0"/>
              <a:t> </a:t>
            </a:r>
            <a:r>
              <a:rPr lang="en-US" dirty="0" err="1"/>
              <a:t>colocar</a:t>
            </a:r>
            <a:r>
              <a:rPr lang="en-US" dirty="0"/>
              <a:t> o </a:t>
            </a:r>
            <a:r>
              <a:rPr lang="en-US" b="1" u="sng" dirty="0" err="1"/>
              <a:t>nome</a:t>
            </a:r>
            <a:r>
              <a:rPr lang="en-US" b="1" u="sng" dirty="0"/>
              <a:t> de </a:t>
            </a:r>
            <a:r>
              <a:rPr lang="en-US" b="1" u="sng" dirty="0" err="1"/>
              <a:t>usuário</a:t>
            </a:r>
            <a:r>
              <a:rPr lang="en-US" b="1" u="sng" dirty="0"/>
              <a:t> e </a:t>
            </a:r>
            <a:r>
              <a:rPr lang="en-US" b="1" u="sng" dirty="0" err="1"/>
              <a:t>senha</a:t>
            </a:r>
            <a:r>
              <a:rPr lang="en-US" b="1" u="sng" dirty="0"/>
              <a:t> </a:t>
            </a:r>
            <a:r>
              <a:rPr lang="en-US" b="1" u="sng" dirty="0" err="1"/>
              <a:t>como</a:t>
            </a:r>
            <a:r>
              <a:rPr lang="en-US" b="1" u="sng" dirty="0"/>
              <a:t> “root”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Vídeo</a:t>
            </a:r>
            <a:r>
              <a:rPr lang="en-US" dirty="0"/>
              <a:t> e material de consulta para </a:t>
            </a:r>
            <a:r>
              <a:rPr lang="en-US" dirty="0" err="1"/>
              <a:t>instalação</a:t>
            </a:r>
            <a:r>
              <a:rPr lang="en-US" dirty="0"/>
              <a:t> do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já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‘Aula 1’ no Teams.</a:t>
            </a:r>
          </a:p>
          <a:p>
            <a:endParaRPr lang="en-US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4812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290AE22-E4FF-A407-1354-05C1DB399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155F15B-B75A-1E12-471B-0B4EE238AAC0}"/>
              </a:ext>
            </a:extLst>
          </p:cNvPr>
          <p:cNvSpPr txBox="1"/>
          <p:nvPr/>
        </p:nvSpPr>
        <p:spPr>
          <a:xfrm>
            <a:off x="720968" y="1450731"/>
            <a:ext cx="41704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São sistemas de gerenciamento e armazenamento de dados em tabelas estruturadas com linhas e colunas, onde as informações são distribuídas e organizadas de forma lógica e inter-</a:t>
            </a:r>
            <a:r>
              <a:rPr lang="en-US" sz="2400" dirty="0" err="1"/>
              <a:t>relacionada</a:t>
            </a:r>
            <a:r>
              <a:rPr lang="en-US" sz="2400" dirty="0"/>
              <a:t>.</a:t>
            </a:r>
            <a:endParaRPr lang="pt-BR" sz="24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08DE015-0AE8-0A49-75FD-BB516AD11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912" y="1248508"/>
            <a:ext cx="6142573" cy="49295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2" descr="ANÁLISE COMPARATIVA ENTRE BANCO DE DADOS RELACIONAL E NEWSQL EM UM SISTEMA  DE PEQUENO PORTE">
            <a:extLst>
              <a:ext uri="{FF2B5EF4-FFF2-40B4-BE49-F238E27FC236}">
                <a16:creationId xmlns:a16="http://schemas.microsoft.com/office/drawing/2014/main" id="{DD498767-D8C2-37EE-C15C-53B180CC8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38" y="4497719"/>
            <a:ext cx="4328747" cy="2069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E072230-7C4F-F72D-3728-915BD50BE4A5}"/>
              </a:ext>
            </a:extLst>
          </p:cNvPr>
          <p:cNvSpPr txBox="1"/>
          <p:nvPr/>
        </p:nvSpPr>
        <p:spPr>
          <a:xfrm>
            <a:off x="3568212" y="360484"/>
            <a:ext cx="5055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Bancos</a:t>
            </a:r>
            <a:r>
              <a:rPr lang="en-US" sz="3200" dirty="0"/>
              <a:t> de Dados </a:t>
            </a:r>
            <a:r>
              <a:rPr lang="en-US" sz="3200" dirty="0" err="1"/>
              <a:t>Relacionais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031300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E617-CC02-4ED5-C455-962B76E9F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A3506CD-E9C5-DE03-25AA-8C552385B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440ADD3-6A84-8052-BD6F-F23396EA5F4F}"/>
              </a:ext>
            </a:extLst>
          </p:cNvPr>
          <p:cNvSpPr txBox="1"/>
          <p:nvPr/>
        </p:nvSpPr>
        <p:spPr>
          <a:xfrm>
            <a:off x="4179958" y="285357"/>
            <a:ext cx="382135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dirty="0" err="1"/>
              <a:t>Contexto</a:t>
            </a:r>
            <a:r>
              <a:rPr lang="en-US" sz="3200" dirty="0"/>
              <a:t> e </a:t>
            </a:r>
            <a:r>
              <a:rPr lang="en-US" sz="3200" dirty="0" err="1"/>
              <a:t>Motivação</a:t>
            </a:r>
            <a:endParaRPr lang="en-US" sz="3200" dirty="0" err="1">
              <a:ea typeface="Calibri"/>
              <a:cs typeface="Calibri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2B185811-5466-F8F3-3592-C3839B3A2DB9}"/>
              </a:ext>
            </a:extLst>
          </p:cNvPr>
          <p:cNvSpPr/>
          <p:nvPr/>
        </p:nvSpPr>
        <p:spPr>
          <a:xfrm>
            <a:off x="912253" y="1105436"/>
            <a:ext cx="10335295" cy="507642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2AD348-D62C-6CC5-2323-46A57DDD08CD}"/>
              </a:ext>
            </a:extLst>
          </p:cNvPr>
          <p:cNvSpPr txBox="1"/>
          <p:nvPr/>
        </p:nvSpPr>
        <p:spPr>
          <a:xfrm>
            <a:off x="1298619" y="1459605"/>
            <a:ext cx="961622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ea typeface="Calibri"/>
                <a:cs typeface="Calibri"/>
              </a:rPr>
              <a:t>Por que não usar ferramentas simples, como planilhas e arquivos?</a:t>
            </a:r>
          </a:p>
          <a:p>
            <a:endParaRPr lang="pt-BR" dirty="0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pt-BR" dirty="0">
                <a:ea typeface="Calibri"/>
                <a:cs typeface="Calibri"/>
              </a:rPr>
              <a:t>Duplicação e Incon</a:t>
            </a:r>
            <a:r>
              <a:rPr lang="pt-BR">
                <a:ea typeface="Calibri"/>
                <a:cs typeface="Calibri"/>
              </a:rPr>
              <a:t>sistência - dados inconsistentes para falta de atualização total;</a:t>
            </a:r>
            <a:endParaRPr lang="pt-BR" dirty="0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pt-BR">
                <a:ea typeface="Calibri"/>
                <a:cs typeface="Calibri"/>
              </a:rPr>
              <a:t>Falta de Controle de Acesso Simultâneo - risco de sobrescrita e perda de dados;</a:t>
            </a:r>
          </a:p>
          <a:p>
            <a:pPr marL="285750" indent="-285750">
              <a:buFont typeface="Calibri"/>
              <a:buChar char="-"/>
            </a:pPr>
            <a:r>
              <a:rPr lang="pt-BR" dirty="0">
                <a:ea typeface="Calibri"/>
                <a:cs typeface="Calibri"/>
              </a:rPr>
              <a:t>Escalabilidade Limitada – planilhas travam com muit</a:t>
            </a:r>
            <a:r>
              <a:rPr lang="pt-BR">
                <a:ea typeface="Calibri"/>
                <a:cs typeface="Calibri"/>
              </a:rPr>
              <a:t>as linhas;</a:t>
            </a:r>
            <a:endParaRPr lang="pt-BR" dirty="0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pt-BR">
                <a:ea typeface="Calibri"/>
                <a:cs typeface="Calibri"/>
              </a:rPr>
              <a:t>Falta de Integridade – falta de ferramentas de controle de tipo .</a:t>
            </a:r>
            <a:endParaRPr lang="pt-BR" dirty="0">
              <a:ea typeface="Calibri"/>
              <a:cs typeface="Calibri"/>
            </a:endParaRPr>
          </a:p>
        </p:txBody>
      </p:sp>
      <p:pic>
        <p:nvPicPr>
          <p:cNvPr id="4" name="Imagem 3" descr="Planilha Excel: Modelos Prontos e Dashboards Profissionais">
            <a:extLst>
              <a:ext uri="{FF2B5EF4-FFF2-40B4-BE49-F238E27FC236}">
                <a16:creationId xmlns:a16="http://schemas.microsoft.com/office/drawing/2014/main" id="{755BD4DF-995D-D287-404F-399E0E371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448" y="3645660"/>
            <a:ext cx="3495272" cy="211025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m 8" descr="Arquivos - ícones de arquivos e pastas grátis">
            <a:extLst>
              <a:ext uri="{FF2B5EF4-FFF2-40B4-BE49-F238E27FC236}">
                <a16:creationId xmlns:a16="http://schemas.microsoft.com/office/drawing/2014/main" id="{12A9D290-85B6-0C31-4319-464A6F4E6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055" y="3538068"/>
            <a:ext cx="3602596" cy="232544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0157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1AE17-F9DE-D073-0CD5-8BF76786E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ADD6EB5-9D40-73DE-2B4D-F6381CDA9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7EF9231B-72DF-6E85-1602-AC78194374C5}"/>
              </a:ext>
            </a:extLst>
          </p:cNvPr>
          <p:cNvSpPr txBox="1"/>
          <p:nvPr/>
        </p:nvSpPr>
        <p:spPr>
          <a:xfrm>
            <a:off x="4866832" y="253160"/>
            <a:ext cx="244760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/>
              <a:t>Casos de Uso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43B98C5-DE16-8F40-A70E-77EF46785C5E}"/>
              </a:ext>
            </a:extLst>
          </p:cNvPr>
          <p:cNvSpPr/>
          <p:nvPr/>
        </p:nvSpPr>
        <p:spPr>
          <a:xfrm>
            <a:off x="912253" y="1105436"/>
            <a:ext cx="10335295" cy="507642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Dicas para E-Commerce! - NC SISTEMAS WEBSITES">
            <a:extLst>
              <a:ext uri="{FF2B5EF4-FFF2-40B4-BE49-F238E27FC236}">
                <a16:creationId xmlns:a16="http://schemas.microsoft.com/office/drawing/2014/main" id="{A804D9CC-6A78-9A1C-843C-729D3F973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276" y="2148022"/>
            <a:ext cx="2959056" cy="299125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m 6" descr="Integração bancária: saiba o que é e qual sua importância - eSales">
            <a:extLst>
              <a:ext uri="{FF2B5EF4-FFF2-40B4-BE49-F238E27FC236}">
                <a16:creationId xmlns:a16="http://schemas.microsoft.com/office/drawing/2014/main" id="{1A361F03-2350-C190-EBF3-B0D9E8244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645" y="2144400"/>
            <a:ext cx="4417723" cy="299849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4384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7B96E-3FEB-82EB-1226-CA1E0E4BF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71AE479-C112-4CA3-5E71-78C9A350D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6E48C7D-7FA0-AEA3-BFEF-16BEA8D03DB2}"/>
              </a:ext>
            </a:extLst>
          </p:cNvPr>
          <p:cNvSpPr txBox="1"/>
          <p:nvPr/>
        </p:nvSpPr>
        <p:spPr>
          <a:xfrm>
            <a:off x="2831123" y="1362808"/>
            <a:ext cx="1107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Prós</a:t>
            </a:r>
            <a:endParaRPr lang="en-US" sz="32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11790C2-FF9A-9204-0D19-06D81072AE06}"/>
              </a:ext>
            </a:extLst>
          </p:cNvPr>
          <p:cNvSpPr txBox="1"/>
          <p:nvPr/>
        </p:nvSpPr>
        <p:spPr>
          <a:xfrm>
            <a:off x="4785213" y="428583"/>
            <a:ext cx="2621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Prós</a:t>
            </a:r>
            <a:r>
              <a:rPr lang="en-US" sz="3200" dirty="0"/>
              <a:t> e Contras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A8A664-F2E7-B048-DDBB-08A95E1562AD}"/>
              </a:ext>
            </a:extLst>
          </p:cNvPr>
          <p:cNvSpPr txBox="1"/>
          <p:nvPr/>
        </p:nvSpPr>
        <p:spPr>
          <a:xfrm>
            <a:off x="7833946" y="1362808"/>
            <a:ext cx="15269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Contras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3D5653-29ED-0A18-782A-3F77F3BCCC8C}"/>
              </a:ext>
            </a:extLst>
          </p:cNvPr>
          <p:cNvSpPr txBox="1"/>
          <p:nvPr/>
        </p:nvSpPr>
        <p:spPr>
          <a:xfrm>
            <a:off x="6298223" y="2376166"/>
            <a:ext cx="57912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/>
              <a:t>Escala Vertical (Baixa Escalabilidade);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/>
              <a:t>Esquema Rígido (Pouca Flexibilidade);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/>
              <a:t>Menor Desempenho em cenários Big Data – Exemplo do Post do Instagram.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6DCDE54-8572-CFFE-0B75-05525B32A744}"/>
              </a:ext>
            </a:extLst>
          </p:cNvPr>
          <p:cNvSpPr txBox="1"/>
          <p:nvPr/>
        </p:nvSpPr>
        <p:spPr>
          <a:xfrm>
            <a:off x="1085850" y="2376166"/>
            <a:ext cx="459837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/>
              <a:t>Garantia </a:t>
            </a:r>
            <a:r>
              <a:rPr lang="pt-BR" sz="2800" b="1" dirty="0"/>
              <a:t>ACID</a:t>
            </a:r>
            <a:r>
              <a:rPr lang="pt-BR" sz="2800" dirty="0"/>
              <a:t> – Segurança e Consistência;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/>
              <a:t>Sistema Robusto de consultas;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/>
              <a:t>Padronização – Estabilidade.</a:t>
            </a:r>
          </a:p>
        </p:txBody>
      </p:sp>
    </p:spTree>
    <p:extLst>
      <p:ext uri="{BB962C8B-B14F-4D97-AF65-F5344CB8AC3E}">
        <p14:creationId xmlns:p14="http://schemas.microsoft.com/office/powerpoint/2010/main" val="804502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357AF-9FD7-164C-A7ED-B134EA890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120D945-E733-F59D-8F9D-701D3B459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C216CDC-5AA1-9AD4-EAAC-AB4A8FA004F5}"/>
              </a:ext>
            </a:extLst>
          </p:cNvPr>
          <p:cNvSpPr txBox="1"/>
          <p:nvPr/>
        </p:nvSpPr>
        <p:spPr>
          <a:xfrm>
            <a:off x="4641147" y="460311"/>
            <a:ext cx="29097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Transações</a:t>
            </a:r>
            <a:r>
              <a:rPr lang="en-US" sz="3200" dirty="0"/>
              <a:t> ACID</a:t>
            </a:r>
            <a:endParaRPr lang="pt-BR" sz="3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ECF3DCD-204F-28AE-7594-3C13661EF92C}"/>
              </a:ext>
            </a:extLst>
          </p:cNvPr>
          <p:cNvSpPr txBox="1"/>
          <p:nvPr/>
        </p:nvSpPr>
        <p:spPr>
          <a:xfrm>
            <a:off x="1519604" y="1505396"/>
            <a:ext cx="9152792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3200" dirty="0"/>
              <a:t>A (Atomicidade)</a:t>
            </a:r>
          </a:p>
          <a:p>
            <a:r>
              <a:rPr lang="pt-BR" dirty="0"/>
              <a:t>	</a:t>
            </a:r>
            <a:r>
              <a:rPr lang="pt-BR" sz="2000" dirty="0"/>
              <a:t>- Atomicidade trata das transações serem indivisíveis;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3200" dirty="0"/>
              <a:t>C (Consistência)</a:t>
            </a:r>
          </a:p>
          <a:p>
            <a:r>
              <a:rPr lang="pt-BR" dirty="0"/>
              <a:t>	</a:t>
            </a:r>
            <a:r>
              <a:rPr lang="pt-BR" sz="2000" dirty="0"/>
              <a:t>- Integridade geral dos dados;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3200" dirty="0"/>
              <a:t>I (Isolamento)</a:t>
            </a:r>
          </a:p>
          <a:p>
            <a:r>
              <a:rPr lang="pt-BR" dirty="0"/>
              <a:t>	</a:t>
            </a:r>
            <a:r>
              <a:rPr lang="pt-BR" sz="2000" dirty="0"/>
              <a:t>- Impossibilidade de interferência entre transações;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3200" dirty="0"/>
              <a:t>D (Durabilidade)</a:t>
            </a:r>
          </a:p>
          <a:p>
            <a:r>
              <a:rPr lang="pt-BR" dirty="0"/>
              <a:t>	</a:t>
            </a:r>
            <a:r>
              <a:rPr lang="pt-BR" sz="2000" dirty="0"/>
              <a:t>- Disponibilidade dos Dados, mesmo em casos adversos.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2985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4A81F-FB2A-8C0A-B028-8D100530B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0A59D2-3DFC-7F99-AA0D-6A9D525F4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4E96833-C58D-A904-75A9-1A3FBBAEB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B183E33-21E7-CBCA-C10C-9C7F7F4252F7}"/>
              </a:ext>
            </a:extLst>
          </p:cNvPr>
          <p:cNvSpPr txBox="1"/>
          <p:nvPr/>
        </p:nvSpPr>
        <p:spPr>
          <a:xfrm>
            <a:off x="5361784" y="507245"/>
            <a:ext cx="1679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Tabelas</a:t>
            </a:r>
            <a:endParaRPr lang="pt-BR" sz="36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7A7230C-3228-D2F1-D70B-D45A7FAEE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71" y="2350851"/>
            <a:ext cx="1952898" cy="22767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C0B14-793A-F183-C623-67F4538F6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450" y="2523392"/>
            <a:ext cx="5323292" cy="20409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5A1F8F2-3D47-AFBA-07AB-CC6C2B6C6107}"/>
              </a:ext>
            </a:extLst>
          </p:cNvPr>
          <p:cNvCxnSpPr>
            <a:cxnSpLocks/>
          </p:cNvCxnSpPr>
          <p:nvPr/>
        </p:nvCxnSpPr>
        <p:spPr>
          <a:xfrm>
            <a:off x="3226777" y="3443547"/>
            <a:ext cx="24618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1F69BD2-7A79-07E2-2082-7D0BE7DD3F87}"/>
              </a:ext>
            </a:extLst>
          </p:cNvPr>
          <p:cNvSpPr txBox="1"/>
          <p:nvPr/>
        </p:nvSpPr>
        <p:spPr>
          <a:xfrm>
            <a:off x="1231115" y="4627644"/>
            <a:ext cx="1368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Modelo do Workbench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6579E6D-0B72-D7FC-6459-168E6428A857}"/>
              </a:ext>
            </a:extLst>
          </p:cNvPr>
          <p:cNvSpPr txBox="1"/>
          <p:nvPr/>
        </p:nvSpPr>
        <p:spPr>
          <a:xfrm>
            <a:off x="8084599" y="4892787"/>
            <a:ext cx="1556994" cy="38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Tabela Simples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3749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9C2AA-FBF7-903E-653B-05FE47F3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1F1969-1A42-4671-CC35-05FD6D1F9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C8E56B4-1CFF-90BC-F549-2E9515818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7C9C99E-86FD-270E-78CA-F920A1860433}"/>
              </a:ext>
            </a:extLst>
          </p:cNvPr>
          <p:cNvSpPr txBox="1"/>
          <p:nvPr/>
        </p:nvSpPr>
        <p:spPr>
          <a:xfrm>
            <a:off x="4226902" y="625296"/>
            <a:ext cx="37381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/>
              <a:t>Tipos</a:t>
            </a:r>
            <a:r>
              <a:rPr lang="en-US" sz="3600" dirty="0"/>
              <a:t> de Dados </a:t>
            </a:r>
            <a:r>
              <a:rPr lang="en-US" sz="3600" dirty="0" err="1"/>
              <a:t>mais</a:t>
            </a:r>
            <a:r>
              <a:rPr lang="en-US" sz="3600" dirty="0"/>
              <a:t> </a:t>
            </a:r>
            <a:r>
              <a:rPr lang="en-US" sz="3600" dirty="0" err="1"/>
              <a:t>Utilizados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F5DB712-4B36-E46B-B72F-EC5B1251A957}"/>
              </a:ext>
            </a:extLst>
          </p:cNvPr>
          <p:cNvSpPr txBox="1"/>
          <p:nvPr/>
        </p:nvSpPr>
        <p:spPr>
          <a:xfrm>
            <a:off x="668213" y="2149019"/>
            <a:ext cx="1890347" cy="175432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Numéricos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INTEGER(INT);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DECIMAL(</a:t>
            </a:r>
            <a:r>
              <a:rPr lang="en-US" dirty="0" err="1"/>
              <a:t>i,j</a:t>
            </a:r>
            <a:r>
              <a:rPr lang="en-US" dirty="0"/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FLOAT(j);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DOUBLE.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DE7E38E-3494-6408-7350-6ECF0D1C611F}"/>
              </a:ext>
            </a:extLst>
          </p:cNvPr>
          <p:cNvSpPr txBox="1"/>
          <p:nvPr/>
        </p:nvSpPr>
        <p:spPr>
          <a:xfrm>
            <a:off x="668213" y="4432211"/>
            <a:ext cx="1890347" cy="147732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String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CHAR(n);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VARCHAR(n);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TEXT.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5D6A370-6461-1F31-4384-B06A74A36017}"/>
              </a:ext>
            </a:extLst>
          </p:cNvPr>
          <p:cNvSpPr txBox="1"/>
          <p:nvPr/>
        </p:nvSpPr>
        <p:spPr>
          <a:xfrm>
            <a:off x="6655044" y="2149019"/>
            <a:ext cx="1310054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Data e Hora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CA0C54F-A8DD-7C4C-6D28-8AC3ADD6AE9D}"/>
              </a:ext>
            </a:extLst>
          </p:cNvPr>
          <p:cNvSpPr txBox="1"/>
          <p:nvPr/>
        </p:nvSpPr>
        <p:spPr>
          <a:xfrm>
            <a:off x="2817931" y="2703017"/>
            <a:ext cx="1925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i: </a:t>
            </a:r>
            <a:r>
              <a:rPr lang="en-US" dirty="0" err="1"/>
              <a:t>dígitos</a:t>
            </a:r>
            <a:r>
              <a:rPr lang="en-US" dirty="0"/>
              <a:t> </a:t>
            </a:r>
            <a:r>
              <a:rPr lang="en-US" dirty="0" err="1"/>
              <a:t>totais</a:t>
            </a:r>
            <a:r>
              <a:rPr lang="en-US" dirty="0"/>
              <a:t>;</a:t>
            </a:r>
          </a:p>
          <a:p>
            <a:r>
              <a:rPr lang="en-US" dirty="0"/>
              <a:t>j: </a:t>
            </a:r>
            <a:r>
              <a:rPr lang="en-US" dirty="0" err="1"/>
              <a:t>dígitos</a:t>
            </a:r>
            <a:r>
              <a:rPr lang="en-US" dirty="0"/>
              <a:t> </a:t>
            </a:r>
            <a:r>
              <a:rPr lang="en-US" dirty="0" err="1"/>
              <a:t>decimais</a:t>
            </a:r>
            <a:r>
              <a:rPr lang="en-US" dirty="0"/>
              <a:t>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160FF93-9C48-8D4D-E000-96C7BC087CFE}"/>
              </a:ext>
            </a:extLst>
          </p:cNvPr>
          <p:cNvSpPr txBox="1"/>
          <p:nvPr/>
        </p:nvSpPr>
        <p:spPr>
          <a:xfrm>
            <a:off x="3059722" y="4709210"/>
            <a:ext cx="81153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 é FIXO em </a:t>
            </a:r>
            <a:r>
              <a:rPr lang="en-US" b="1" u="sng" dirty="0"/>
              <a:t>n </a:t>
            </a:r>
            <a:r>
              <a:rPr lang="en-US" dirty="0" err="1"/>
              <a:t>caracteres</a:t>
            </a:r>
            <a:r>
              <a:rPr lang="en-US" dirty="0"/>
              <a:t>!</a:t>
            </a:r>
          </a:p>
          <a:p>
            <a:r>
              <a:rPr lang="en-US" dirty="0"/>
              <a:t>VARCHAR </a:t>
            </a:r>
            <a:r>
              <a:rPr lang="en-US" dirty="0" err="1"/>
              <a:t>aceita</a:t>
            </a:r>
            <a:r>
              <a:rPr lang="en-US" dirty="0"/>
              <a:t> </a:t>
            </a:r>
            <a:r>
              <a:rPr lang="en-US" b="1" u="sng" dirty="0" err="1"/>
              <a:t>até</a:t>
            </a:r>
            <a:r>
              <a:rPr lang="en-US" b="1" u="sng" dirty="0"/>
              <a:t> n </a:t>
            </a:r>
            <a:r>
              <a:rPr lang="en-US" dirty="0" err="1"/>
              <a:t>caracteres</a:t>
            </a:r>
            <a:r>
              <a:rPr lang="en-US" dirty="0"/>
              <a:t>!</a:t>
            </a:r>
          </a:p>
          <a:p>
            <a:pPr algn="just"/>
            <a:r>
              <a:rPr lang="en-US" dirty="0"/>
              <a:t>TEXT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quantidade</a:t>
            </a:r>
            <a:r>
              <a:rPr lang="en-US" dirty="0"/>
              <a:t> </a:t>
            </a:r>
            <a:r>
              <a:rPr lang="en-US" dirty="0" err="1"/>
              <a:t>fixa</a:t>
            </a:r>
            <a:r>
              <a:rPr lang="en-US" dirty="0"/>
              <a:t>, é </a:t>
            </a:r>
            <a:r>
              <a:rPr lang="en-US" dirty="0" err="1"/>
              <a:t>bastante</a:t>
            </a:r>
            <a:r>
              <a:rPr lang="en-US" dirty="0"/>
              <a:t> </a:t>
            </a:r>
            <a:r>
              <a:rPr lang="en-US" dirty="0" err="1"/>
              <a:t>usado</a:t>
            </a:r>
            <a:r>
              <a:rPr lang="en-US" dirty="0"/>
              <a:t> para </a:t>
            </a:r>
            <a:r>
              <a:rPr lang="en-US" dirty="0" err="1"/>
              <a:t>textos</a:t>
            </a:r>
            <a:r>
              <a:rPr lang="en-US" dirty="0"/>
              <a:t> e </a:t>
            </a:r>
            <a:r>
              <a:rPr lang="en-US" dirty="0" err="1"/>
              <a:t>descrições</a:t>
            </a:r>
            <a:r>
              <a:rPr lang="en-US" dirty="0"/>
              <a:t> </a:t>
            </a:r>
            <a:r>
              <a:rPr lang="en-US" b="1" u="sng" dirty="0" err="1"/>
              <a:t>extensos</a:t>
            </a:r>
            <a:r>
              <a:rPr lang="en-US" dirty="0"/>
              <a:t>.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AE54747-6513-C3D7-FD53-04D4E0AB047D}"/>
              </a:ext>
            </a:extLst>
          </p:cNvPr>
          <p:cNvSpPr txBox="1"/>
          <p:nvPr/>
        </p:nvSpPr>
        <p:spPr>
          <a:xfrm>
            <a:off x="8135085" y="2450385"/>
            <a:ext cx="2312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DATE (YYYY-MM-DD);</a:t>
            </a:r>
          </a:p>
          <a:p>
            <a:r>
              <a:rPr lang="en-US" dirty="0"/>
              <a:t>TIME (HH:MM:SS).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638EE8C-744C-0D4F-815E-F27C65E8D203}"/>
              </a:ext>
            </a:extLst>
          </p:cNvPr>
          <p:cNvSpPr txBox="1"/>
          <p:nvPr/>
        </p:nvSpPr>
        <p:spPr>
          <a:xfrm>
            <a:off x="6655044" y="3903345"/>
            <a:ext cx="1600200" cy="92333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Lógico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BOOLEAN.</a:t>
            </a:r>
          </a:p>
        </p:txBody>
      </p:sp>
    </p:spTree>
    <p:extLst>
      <p:ext uri="{BB962C8B-B14F-4D97-AF65-F5344CB8AC3E}">
        <p14:creationId xmlns:p14="http://schemas.microsoft.com/office/powerpoint/2010/main" val="3068825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3D399-0E22-4E3B-364D-D0374FFAB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A24F0-3283-32F7-52BA-CB6E49BC7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BD90EA-17CD-6205-3B39-487EEEC2E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1907E70-2A94-1DCF-C0B5-04AD6BA33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69F7BF0-B16D-F005-3C99-877B66C74A60}"/>
              </a:ext>
            </a:extLst>
          </p:cNvPr>
          <p:cNvSpPr txBox="1"/>
          <p:nvPr/>
        </p:nvSpPr>
        <p:spPr>
          <a:xfrm>
            <a:off x="4226902" y="498257"/>
            <a:ext cx="3738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/>
              <a:t>CHAR x VARCHAR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A5192B5-CF7F-F0C1-0A40-333626E1B5C5}"/>
              </a:ext>
            </a:extLst>
          </p:cNvPr>
          <p:cNvSpPr txBox="1"/>
          <p:nvPr/>
        </p:nvSpPr>
        <p:spPr>
          <a:xfrm>
            <a:off x="838200" y="336950"/>
            <a:ext cx="2467708" cy="147732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String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CHAR(n);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VARCHAR(n);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TEXT.</a:t>
            </a:r>
            <a:endParaRPr lang="pt-BR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6DEAC94-F68B-2F70-754B-561B241836AA}"/>
              </a:ext>
            </a:extLst>
          </p:cNvPr>
          <p:cNvSpPr/>
          <p:nvPr/>
        </p:nvSpPr>
        <p:spPr>
          <a:xfrm>
            <a:off x="1169376" y="909949"/>
            <a:ext cx="1371600" cy="606669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 descr="Caixa Tampa Sapato Medida: 20x30x12 - 3mm">
            <a:extLst>
              <a:ext uri="{FF2B5EF4-FFF2-40B4-BE49-F238E27FC236}">
                <a16:creationId xmlns:a16="http://schemas.microsoft.com/office/drawing/2014/main" id="{4AF0CFC5-CB1E-C7ED-34C4-8C894B8CE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376" y="2699726"/>
            <a:ext cx="4648200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ochila Saco em TNT CB 18505 | Célo Presentes Personalizados">
            <a:extLst>
              <a:ext uri="{FF2B5EF4-FFF2-40B4-BE49-F238E27FC236}">
                <a16:creationId xmlns:a16="http://schemas.microsoft.com/office/drawing/2014/main" id="{9D1D9185-5185-BCC4-DAD0-A0103616B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677" y="2497016"/>
            <a:ext cx="3679947" cy="3679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F5A10B96-3C0E-403F-5742-D557A3C6C448}"/>
              </a:ext>
            </a:extLst>
          </p:cNvPr>
          <p:cNvSpPr txBox="1"/>
          <p:nvPr/>
        </p:nvSpPr>
        <p:spPr>
          <a:xfrm>
            <a:off x="3031880" y="6311900"/>
            <a:ext cx="923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CHAR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DB9C59B-3357-E4BD-B326-51F407B56D68}"/>
              </a:ext>
            </a:extLst>
          </p:cNvPr>
          <p:cNvSpPr txBox="1"/>
          <p:nvPr/>
        </p:nvSpPr>
        <p:spPr>
          <a:xfrm>
            <a:off x="8491995" y="6227298"/>
            <a:ext cx="1381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VARCHAR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D711219-99E7-7024-BCF6-8AF28AE1559F}"/>
              </a:ext>
            </a:extLst>
          </p:cNvPr>
          <p:cNvSpPr txBox="1"/>
          <p:nvPr/>
        </p:nvSpPr>
        <p:spPr>
          <a:xfrm>
            <a:off x="8740377" y="4336989"/>
            <a:ext cx="884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Molde</a:t>
            </a:r>
            <a:r>
              <a:rPr lang="pt-BR" dirty="0"/>
              <a:t>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09EC1C3-EA7A-9767-C1C8-C1EBD4CD0D15}"/>
              </a:ext>
            </a:extLst>
          </p:cNvPr>
          <p:cNvSpPr txBox="1"/>
          <p:nvPr/>
        </p:nvSpPr>
        <p:spPr>
          <a:xfrm>
            <a:off x="3206327" y="3819988"/>
            <a:ext cx="5841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>
                <a:solidFill>
                  <a:srgbClr val="000000"/>
                </a:solidFill>
              </a:rPr>
              <a:t>Fixo</a:t>
            </a:r>
            <a:endParaRPr lang="pt-B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090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56F5F-7B90-0286-D0AC-48C7B7559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2668181-0034-E595-230A-A3E376096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432ACAF-4D47-7516-C29C-FEB386218782}"/>
              </a:ext>
            </a:extLst>
          </p:cNvPr>
          <p:cNvSpPr txBox="1"/>
          <p:nvPr/>
        </p:nvSpPr>
        <p:spPr>
          <a:xfrm>
            <a:off x="4955931" y="404324"/>
            <a:ext cx="2203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Null X Zero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30DE2AE-7BE7-BB5B-0BD0-416B40B9805B}"/>
              </a:ext>
            </a:extLst>
          </p:cNvPr>
          <p:cNvSpPr txBox="1"/>
          <p:nvPr/>
        </p:nvSpPr>
        <p:spPr>
          <a:xfrm>
            <a:off x="1521069" y="1690688"/>
            <a:ext cx="343486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	     </a:t>
            </a:r>
            <a:r>
              <a:rPr lang="pt-BR" sz="2800" dirty="0" err="1"/>
              <a:t>Null</a:t>
            </a:r>
            <a:endParaRPr lang="pt-BR" sz="2800" dirty="0"/>
          </a:p>
          <a:p>
            <a:endParaRPr lang="pt-BR" dirty="0"/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pt-BR" dirty="0"/>
              <a:t>É a </a:t>
            </a:r>
            <a:r>
              <a:rPr lang="pt-BR" b="1" dirty="0"/>
              <a:t>ausência</a:t>
            </a:r>
            <a:r>
              <a:rPr lang="pt-BR" dirty="0"/>
              <a:t> de valor, indicando que o valor é desconhecido.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08F799F-3F3F-9C9A-C4A7-A84CC4A27875}"/>
              </a:ext>
            </a:extLst>
          </p:cNvPr>
          <p:cNvSpPr txBox="1"/>
          <p:nvPr/>
        </p:nvSpPr>
        <p:spPr>
          <a:xfrm>
            <a:off x="7159870" y="1552188"/>
            <a:ext cx="32853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	    Zero</a:t>
            </a:r>
          </a:p>
          <a:p>
            <a:endParaRPr lang="pt-BR" dirty="0"/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pt-BR" dirty="0"/>
              <a:t>É um valor numérico </a:t>
            </a:r>
            <a:r>
              <a:rPr lang="pt-BR" b="1" dirty="0"/>
              <a:t>definido</a:t>
            </a:r>
            <a:r>
              <a:rPr lang="pt-BR" dirty="0"/>
              <a:t>, indicando que o valor foi preenchido.</a:t>
            </a:r>
          </a:p>
        </p:txBody>
      </p:sp>
      <p:pic>
        <p:nvPicPr>
          <p:cNvPr id="2" name="Imagem 1" descr="Zero é o rolo vazio; Null é a ausência do próprio suporte., gerada com IA">
            <a:extLst>
              <a:ext uri="{FF2B5EF4-FFF2-40B4-BE49-F238E27FC236}">
                <a16:creationId xmlns:a16="http://schemas.microsoft.com/office/drawing/2014/main" id="{32E4DFF3-0FD1-ABB6-2E50-7109DB402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265" y="3044646"/>
            <a:ext cx="5727611" cy="328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84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64B83-BBE8-AB9C-3837-D5ABFD789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E098A3-3313-D6DC-8532-4DE53AA3D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A095D6F-9375-E867-104F-6C3CECD60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CE2C257-4F6A-6101-1056-A3881D4CA738}"/>
              </a:ext>
            </a:extLst>
          </p:cNvPr>
          <p:cNvSpPr txBox="1"/>
          <p:nvPr/>
        </p:nvSpPr>
        <p:spPr>
          <a:xfrm>
            <a:off x="4399084" y="427741"/>
            <a:ext cx="3393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Chaves Primárias (Primary Key/PK)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64C59C3-08AA-8374-466E-DA0706671028}"/>
              </a:ext>
            </a:extLst>
          </p:cNvPr>
          <p:cNvSpPr txBox="1"/>
          <p:nvPr/>
        </p:nvSpPr>
        <p:spPr>
          <a:xfrm>
            <a:off x="1151792" y="2004646"/>
            <a:ext cx="100671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É um ou mais campos (atributos) que identificam </a:t>
            </a:r>
            <a:r>
              <a:rPr lang="pt-BR" b="1" dirty="0"/>
              <a:t>unicamente</a:t>
            </a:r>
            <a:r>
              <a:rPr lang="pt-BR" dirty="0"/>
              <a:t> cada registro em uma tabela;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b="1" dirty="0"/>
              <a:t>NÃO pode conter valores nulos (NULL) nem valores duplicados;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b="1" dirty="0"/>
              <a:t>Cada tabela pode ter apenas uma chave primária</a:t>
            </a:r>
            <a:r>
              <a:rPr lang="pt-BR" dirty="0"/>
              <a:t>, mas essa chave pode envolver </a:t>
            </a:r>
            <a:r>
              <a:rPr lang="pt-BR" b="1" dirty="0"/>
              <a:t>mais de um campo</a:t>
            </a:r>
            <a:r>
              <a:rPr lang="pt-BR" dirty="0"/>
              <a:t> — nesse caso, é chamada de </a:t>
            </a:r>
            <a:r>
              <a:rPr lang="pt-BR" b="1" dirty="0"/>
              <a:t>chave primária composta;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Em relacionamentos entre tabelas, uma chave primária pode ser combinada com a chave estrangeira de outra tabela para compor uma chave — esse conceito será abordado posteriormente.</a:t>
            </a:r>
            <a:endParaRPr lang="pt-BR" b="1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13EF2F1-197D-1844-6F0C-2BF3E7457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309" y="4216082"/>
            <a:ext cx="1952898" cy="22767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585A59D-254F-29EF-B70C-08D56FE4D780}"/>
              </a:ext>
            </a:extLst>
          </p:cNvPr>
          <p:cNvCxnSpPr/>
          <p:nvPr/>
        </p:nvCxnSpPr>
        <p:spPr>
          <a:xfrm>
            <a:off x="2442758" y="4818185"/>
            <a:ext cx="2401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EF7EAE5-3149-447A-A7E1-79CB2A4CE0A9}"/>
              </a:ext>
            </a:extLst>
          </p:cNvPr>
          <p:cNvSpPr txBox="1"/>
          <p:nvPr/>
        </p:nvSpPr>
        <p:spPr>
          <a:xfrm>
            <a:off x="5169878" y="4624754"/>
            <a:ext cx="1776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Chave Primária</a:t>
            </a:r>
          </a:p>
          <a:p>
            <a:r>
              <a:rPr lang="en-US" dirty="0"/>
              <a:t>da tabela pessoa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0918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CAF60-821D-41B0-1321-DD12AD3E5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7610CA9-A525-DEF8-EFD5-D3278795D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2BC9A07-F41E-C7CA-21D9-EBDF1B10F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02" y="623496"/>
            <a:ext cx="11069595" cy="561100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DC71502-44BB-F246-42AE-0432E5FD99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74" y="2139786"/>
            <a:ext cx="3986288" cy="368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19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CF20C-200D-AF0B-25A7-9085C5551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15724C6-594E-A74B-815B-8BDB7699A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3F50F6E-34F6-F7C3-BB2D-A091470822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921" y="429887"/>
            <a:ext cx="3986288" cy="368611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A338D6E-F010-A04E-A77C-6CE75D3059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73" y="1371079"/>
            <a:ext cx="5786976" cy="274492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751F6F1-B851-6659-D9A9-826D279F2C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015" y="4545889"/>
            <a:ext cx="11007969" cy="146429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0918F9E-0E24-659C-C6B5-1D499D46C051}"/>
              </a:ext>
            </a:extLst>
          </p:cNvPr>
          <p:cNvSpPr txBox="1"/>
          <p:nvPr/>
        </p:nvSpPr>
        <p:spPr>
          <a:xfrm>
            <a:off x="823973" y="324595"/>
            <a:ext cx="2798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Chave Estrangeira </a:t>
            </a:r>
          </a:p>
        </p:txBody>
      </p:sp>
    </p:spTree>
    <p:extLst>
      <p:ext uri="{BB962C8B-B14F-4D97-AF65-F5344CB8AC3E}">
        <p14:creationId xmlns:p14="http://schemas.microsoft.com/office/powerpoint/2010/main" val="2138910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87667-6958-72C3-6967-E22DDCC2F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9C6CBBA-735D-3E88-2B32-08231E504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074" name="Picture 2" descr="11 Contratos de Aluguel simples e Curtos">
            <a:extLst>
              <a:ext uri="{FF2B5EF4-FFF2-40B4-BE49-F238E27FC236}">
                <a16:creationId xmlns:a16="http://schemas.microsoft.com/office/drawing/2014/main" id="{C839328C-A2D4-C4B5-8725-6AA7C8364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80" y="622112"/>
            <a:ext cx="2560857" cy="3622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ágina 2 | Apartamento desenho png Imagens – Download Grátis no Freepik">
            <a:extLst>
              <a:ext uri="{FF2B5EF4-FFF2-40B4-BE49-F238E27FC236}">
                <a16:creationId xmlns:a16="http://schemas.microsoft.com/office/drawing/2014/main" id="{BB73F133-BF85-8502-3086-E42329743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118" y="927588"/>
            <a:ext cx="3028951" cy="3028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Loiras caucasiano fêmea apartamento locatário Preto e branco 2d desenho  animado personagem. europeu adulto mulher recebendo chave isolado vetor  esboço pessoa. renda inquilino senhora monocromático plano local ilustração  35464860 Vetor no Vecteezy">
            <a:extLst>
              <a:ext uri="{FF2B5EF4-FFF2-40B4-BE49-F238E27FC236}">
                <a16:creationId xmlns:a16="http://schemas.microsoft.com/office/drawing/2014/main" id="{CA835FFA-29E8-BD85-3299-738DE6FF1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3238" y="1303513"/>
            <a:ext cx="2955817" cy="2259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4D4A8679-5E51-5FC3-FF52-A3C70F7932D2}"/>
              </a:ext>
            </a:extLst>
          </p:cNvPr>
          <p:cNvCxnSpPr>
            <a:cxnSpLocks/>
            <a:stCxn id="3074" idx="3"/>
          </p:cNvCxnSpPr>
          <p:nvPr/>
        </p:nvCxnSpPr>
        <p:spPr>
          <a:xfrm flipV="1">
            <a:off x="3358737" y="2433325"/>
            <a:ext cx="1345148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4157A5A-4E04-2851-ABD2-1E18F41C3074}"/>
              </a:ext>
            </a:extLst>
          </p:cNvPr>
          <p:cNvSpPr txBox="1"/>
          <p:nvPr/>
        </p:nvSpPr>
        <p:spPr>
          <a:xfrm>
            <a:off x="3358737" y="2486024"/>
            <a:ext cx="1345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Depende de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8B7877D-8BC4-6D15-A707-B28AF5255957}"/>
              </a:ext>
            </a:extLst>
          </p:cNvPr>
          <p:cNvSpPr txBox="1"/>
          <p:nvPr/>
        </p:nvSpPr>
        <p:spPr>
          <a:xfrm>
            <a:off x="928177" y="252780"/>
            <a:ext cx="230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Chave Estrangeira (FK)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0A8ACA2-7835-8C6C-6AEB-3707A1A9F4DC}"/>
              </a:ext>
            </a:extLst>
          </p:cNvPr>
          <p:cNvSpPr txBox="1"/>
          <p:nvPr/>
        </p:nvSpPr>
        <p:spPr>
          <a:xfrm>
            <a:off x="5118406" y="252780"/>
            <a:ext cx="1608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Chave Primária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E822A22-FCD6-BEFC-4F6E-C6D4C6D2A55B}"/>
              </a:ext>
            </a:extLst>
          </p:cNvPr>
          <p:cNvSpPr txBox="1"/>
          <p:nvPr/>
        </p:nvSpPr>
        <p:spPr>
          <a:xfrm>
            <a:off x="9894640" y="252780"/>
            <a:ext cx="1011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Entidade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76ECD7C-0DB9-1AC0-4734-4B94FC5E9774}"/>
              </a:ext>
            </a:extLst>
          </p:cNvPr>
          <p:cNvSpPr txBox="1"/>
          <p:nvPr/>
        </p:nvSpPr>
        <p:spPr>
          <a:xfrm>
            <a:off x="474785" y="4475090"/>
            <a:ext cx="101551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Perguntas:</a:t>
            </a:r>
            <a:br>
              <a:rPr lang="pt-BR" dirty="0"/>
            </a:b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Podemos deletar o apartamento enquanto houver um morador residindo lá dentro? R: Não, precisamos primeiro resolver o contrato (remover a FK) para depois excluir o imóvel (PK).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Se o prédio for demolido, o que acontece com os contratos de aluguel ligados a ele? R: São automaticamente cancelados (Cascata).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Podemos registrar um aluguel para um apartamento se este não existe? R: Não, o banco impede quando nota a inexistência.</a:t>
            </a:r>
          </a:p>
          <a:p>
            <a:pPr marL="285750" indent="-285750">
              <a:buFontTx/>
              <a:buChar char="-"/>
            </a:pPr>
            <a:endParaRPr lang="pt-BR" dirty="0"/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D251C177-B4E6-0964-A205-421C3CBF3408}"/>
              </a:ext>
            </a:extLst>
          </p:cNvPr>
          <p:cNvCxnSpPr>
            <a:cxnSpLocks/>
            <a:stCxn id="3086" idx="1"/>
          </p:cNvCxnSpPr>
          <p:nvPr/>
        </p:nvCxnSpPr>
        <p:spPr>
          <a:xfrm flipH="1">
            <a:off x="7165731" y="2433325"/>
            <a:ext cx="1227507" cy="8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1F6887D-ECAE-F1D1-34BB-104D8E0459BB}"/>
              </a:ext>
            </a:extLst>
          </p:cNvPr>
          <p:cNvSpPr txBox="1"/>
          <p:nvPr/>
        </p:nvSpPr>
        <p:spPr>
          <a:xfrm>
            <a:off x="7410488" y="2046246"/>
            <a:ext cx="729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Aluga</a:t>
            </a:r>
          </a:p>
        </p:txBody>
      </p:sp>
      <p:cxnSp>
        <p:nvCxnSpPr>
          <p:cNvPr id="25" name="Conector: Curvo 24">
            <a:extLst>
              <a:ext uri="{FF2B5EF4-FFF2-40B4-BE49-F238E27FC236}">
                <a16:creationId xmlns:a16="http://schemas.microsoft.com/office/drawing/2014/main" id="{E2DE417D-5304-249F-4F6B-BFDFA0A06188}"/>
              </a:ext>
            </a:extLst>
          </p:cNvPr>
          <p:cNvCxnSpPr>
            <a:cxnSpLocks/>
            <a:stCxn id="3074" idx="2"/>
            <a:endCxn id="3086" idx="2"/>
          </p:cNvCxnSpPr>
          <p:nvPr/>
        </p:nvCxnSpPr>
        <p:spPr>
          <a:xfrm rot="5400000" flipH="1" flipV="1">
            <a:off x="5634025" y="7420"/>
            <a:ext cx="681406" cy="7792838"/>
          </a:xfrm>
          <a:prstGeom prst="curvedConnector3">
            <a:avLst>
              <a:gd name="adj1" fmla="val -3354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0668471-BB7A-0D27-D125-54C71E644EA9}"/>
              </a:ext>
            </a:extLst>
          </p:cNvPr>
          <p:cNvSpPr txBox="1"/>
          <p:nvPr/>
        </p:nvSpPr>
        <p:spPr>
          <a:xfrm>
            <a:off x="5254748" y="4059876"/>
            <a:ext cx="1329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Depende de</a:t>
            </a:r>
          </a:p>
        </p:txBody>
      </p:sp>
    </p:spTree>
    <p:extLst>
      <p:ext uri="{BB962C8B-B14F-4D97-AF65-F5344CB8AC3E}">
        <p14:creationId xmlns:p14="http://schemas.microsoft.com/office/powerpoint/2010/main" val="862954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8BECA-4C3C-99DF-E28B-6B3F9097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7CB8BAB-D6EB-CE4A-1CF1-B58D0C090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D962760-3318-0812-BCDC-A2440EDDB981}"/>
              </a:ext>
            </a:extLst>
          </p:cNvPr>
          <p:cNvSpPr txBox="1"/>
          <p:nvPr/>
        </p:nvSpPr>
        <p:spPr>
          <a:xfrm>
            <a:off x="4410898" y="206292"/>
            <a:ext cx="3370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Relacionamentos</a:t>
            </a:r>
            <a:endParaRPr lang="pt-BR" sz="36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3E55CD4-CA99-B00F-6B80-E3BE9FF4F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61" y="1058914"/>
            <a:ext cx="1179927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Conexões lógicas entre entidades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representam como os dados em diferentes tabelas estão associados uns aos outros.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modelo relacional,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relacionamentos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ajudam a manter a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integridade referencial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evitando dados duplicados e inconsistentes.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Classificação: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pt-BR" altLang="pt-BR" dirty="0">
                <a:latin typeface="Arial" panose="020B0604020202020204" pitchFamily="34" charset="0"/>
              </a:rPr>
              <a:t>1:1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1:N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pt-BR" altLang="pt-BR" dirty="0">
                <a:latin typeface="Arial" panose="020B0604020202020204" pitchFamily="34" charset="0"/>
              </a:rPr>
              <a:t>N:M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678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86754-F893-FFE8-C9AC-BF152A1D2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CDF19D8-D023-97C1-C351-BB13D9D6A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560B9EA-699B-2624-3A61-689A6CE7E79F}"/>
              </a:ext>
            </a:extLst>
          </p:cNvPr>
          <p:cNvSpPr txBox="1"/>
          <p:nvPr/>
        </p:nvSpPr>
        <p:spPr>
          <a:xfrm>
            <a:off x="4384453" y="259181"/>
            <a:ext cx="3423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Relacionamentos</a:t>
            </a:r>
            <a:endParaRPr lang="pt-BR" sz="36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BDEA277-FB7F-1599-9D6E-A8ADDBE481DB}"/>
              </a:ext>
            </a:extLst>
          </p:cNvPr>
          <p:cNvSpPr txBox="1"/>
          <p:nvPr/>
        </p:nvSpPr>
        <p:spPr>
          <a:xfrm>
            <a:off x="1501553" y="1933659"/>
            <a:ext cx="9365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Esse tipo de relacionamento é menos comum, mas útil quando há a necessidade de </a:t>
            </a:r>
            <a:r>
              <a:rPr lang="pt-BR" b="1" dirty="0"/>
              <a:t>separar dados sensíveis</a:t>
            </a:r>
            <a:r>
              <a:rPr lang="pt-BR" dirty="0"/>
              <a:t> ou dividir lógicas distintas. Por exemplo, em um sistema de RH, cada funcionário pode ter um único registro de pagamento.</a:t>
            </a:r>
            <a:endParaRPr lang="pt-BR" sz="2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5B9BC37-7543-7A56-6CF1-FF6B73B33410}"/>
              </a:ext>
            </a:extLst>
          </p:cNvPr>
          <p:cNvSpPr txBox="1"/>
          <p:nvPr/>
        </p:nvSpPr>
        <p:spPr>
          <a:xfrm>
            <a:off x="4967018" y="4088921"/>
            <a:ext cx="36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3974DFA-F905-D069-B6FF-32170BA0CC24}"/>
              </a:ext>
            </a:extLst>
          </p:cNvPr>
          <p:cNvSpPr txBox="1"/>
          <p:nvPr/>
        </p:nvSpPr>
        <p:spPr>
          <a:xfrm>
            <a:off x="6507213" y="4522674"/>
            <a:ext cx="36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C780A52-69E7-7408-2610-3969B90C49CD}"/>
              </a:ext>
            </a:extLst>
          </p:cNvPr>
          <p:cNvSpPr txBox="1"/>
          <p:nvPr/>
        </p:nvSpPr>
        <p:spPr>
          <a:xfrm>
            <a:off x="1501553" y="3433161"/>
            <a:ext cx="93657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É o tipo mais frequente de relacionamento em bancos de dados. Imagine um cliente que faz vários pedidos: temos uma relação </a:t>
            </a:r>
            <a:r>
              <a:rPr lang="pt-BR" b="1" dirty="0"/>
              <a:t>1 cliente → N pedidos</a:t>
            </a:r>
            <a:r>
              <a:rPr lang="pt-BR" dirty="0"/>
              <a:t>. Isso permite organizar o sistema de forma escalável, mantendo os dados centralizados e fáceis de acessar.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6009464-39C9-3303-5C0B-B709ECD7FA42}"/>
              </a:ext>
            </a:extLst>
          </p:cNvPr>
          <p:cNvSpPr txBox="1"/>
          <p:nvPr/>
        </p:nvSpPr>
        <p:spPr>
          <a:xfrm>
            <a:off x="1501554" y="4915315"/>
            <a:ext cx="93657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Esse relacionamento ocorre quando várias instâncias de uma entidade se relacionam com várias instâncias de outra. Como não é possível representar isso diretamente em bancos relacionais, utilizamos </a:t>
            </a:r>
            <a:r>
              <a:rPr lang="pt-BR" b="1" dirty="0"/>
              <a:t>tabelas associativas</a:t>
            </a:r>
            <a:r>
              <a:rPr lang="pt-BR" dirty="0"/>
              <a:t> para intermediar a conexão.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BE60FD6-3EC8-1F45-1207-4C1754EDAB36}"/>
              </a:ext>
            </a:extLst>
          </p:cNvPr>
          <p:cNvSpPr txBox="1"/>
          <p:nvPr/>
        </p:nvSpPr>
        <p:spPr>
          <a:xfrm>
            <a:off x="1501553" y="1471994"/>
            <a:ext cx="3035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u="sng" dirty="0" err="1"/>
              <a:t>Relacionamento</a:t>
            </a:r>
            <a:r>
              <a:rPr lang="en-US" sz="2400" u="sng" dirty="0"/>
              <a:t> 1:1</a:t>
            </a:r>
            <a:endParaRPr lang="pt-BR" sz="2400" u="sng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452D7D9-E423-D10D-4B90-2420080A304B}"/>
              </a:ext>
            </a:extLst>
          </p:cNvPr>
          <p:cNvSpPr txBox="1"/>
          <p:nvPr/>
        </p:nvSpPr>
        <p:spPr>
          <a:xfrm>
            <a:off x="1501553" y="3023172"/>
            <a:ext cx="3035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u="sng" dirty="0" err="1"/>
              <a:t>Relacionamento</a:t>
            </a:r>
            <a:r>
              <a:rPr lang="en-US" sz="2400" u="sng" dirty="0"/>
              <a:t> 1:N</a:t>
            </a:r>
            <a:endParaRPr lang="pt-BR" sz="2400" u="sng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F2E11E0-70E1-0BED-870C-87B5415F33FF}"/>
              </a:ext>
            </a:extLst>
          </p:cNvPr>
          <p:cNvSpPr txBox="1"/>
          <p:nvPr/>
        </p:nvSpPr>
        <p:spPr>
          <a:xfrm>
            <a:off x="1501553" y="4494762"/>
            <a:ext cx="3149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u="sng" dirty="0" err="1"/>
              <a:t>Relacionamento</a:t>
            </a:r>
            <a:r>
              <a:rPr lang="en-US" sz="2400" u="sng" dirty="0"/>
              <a:t> N:M</a:t>
            </a:r>
            <a:endParaRPr lang="pt-BR" sz="2400" u="sng" dirty="0"/>
          </a:p>
        </p:txBody>
      </p:sp>
    </p:spTree>
    <p:extLst>
      <p:ext uri="{BB962C8B-B14F-4D97-AF65-F5344CB8AC3E}">
        <p14:creationId xmlns:p14="http://schemas.microsoft.com/office/powerpoint/2010/main" val="395381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66481-F034-D263-E8C1-35AC7AC87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D408057-026C-7F76-6DDF-5A6692243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0B2CFFE-468D-47DE-52B5-D34A3C4C080A}"/>
              </a:ext>
            </a:extLst>
          </p:cNvPr>
          <p:cNvSpPr txBox="1"/>
          <p:nvPr/>
        </p:nvSpPr>
        <p:spPr>
          <a:xfrm>
            <a:off x="5092222" y="267973"/>
            <a:ext cx="2007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Exercícios</a:t>
            </a:r>
            <a:endParaRPr lang="pt-BR" sz="36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B355F37-19B1-A6C4-9E03-8D4D74D5DBB4}"/>
              </a:ext>
            </a:extLst>
          </p:cNvPr>
          <p:cNvSpPr txBox="1"/>
          <p:nvPr/>
        </p:nvSpPr>
        <p:spPr>
          <a:xfrm>
            <a:off x="1413130" y="1734430"/>
            <a:ext cx="936573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000" dirty="0"/>
              <a:t>Se um cliente mudar de endereço, e os dados de endereço estiverem repetidos em cada linha da tabela de "Pedidos", o que acontece se esquecermos de atualizar uma dessas linhas?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000" dirty="0"/>
              <a:t>Por que não é recomendável usar o nome completo de uma pessoa como Chave Primária (PK), mesmo que, no momento do cadastro, não existam nomes iguais?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000" dirty="0"/>
              <a:t>Em um cadastro de hospital, qual a diferença prática entre um campo </a:t>
            </a:r>
            <a:r>
              <a:rPr lang="pt-BR" dirty="0" err="1"/>
              <a:t>Data_de_Óbito</a:t>
            </a:r>
            <a:r>
              <a:rPr lang="pt-BR" sz="2000" dirty="0"/>
              <a:t> com valor "0" e um com valor "NULL"?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000" dirty="0"/>
              <a:t>Se tentarmos cadastrar uma nota para um aluno que ainda não foi matriculado no sistema, qual conceito de banco de dados deve impedir essa ação?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000" dirty="0"/>
              <a:t>Em um sistema de biblioteca, onde um autor escreve vários livros, em qual das duas tabelas deve ficar a "ponte" (Chave Estrangeira)? Na tabela do Autor ou na tabela do Livro?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000" dirty="0"/>
              <a:t>Por que o banco de dados nos impede de excluir um "Curso" enquanto ainda existirem "Alunos" matriculados nele?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2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6743385-655B-1414-FF26-6E2D7D61640C}"/>
              </a:ext>
            </a:extLst>
          </p:cNvPr>
          <p:cNvSpPr txBox="1"/>
          <p:nvPr/>
        </p:nvSpPr>
        <p:spPr>
          <a:xfrm>
            <a:off x="4967018" y="4088921"/>
            <a:ext cx="36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F95DA6C-DB25-033D-7C53-0FB633DFC86D}"/>
              </a:ext>
            </a:extLst>
          </p:cNvPr>
          <p:cNvSpPr txBox="1"/>
          <p:nvPr/>
        </p:nvSpPr>
        <p:spPr>
          <a:xfrm>
            <a:off x="6507213" y="4522674"/>
            <a:ext cx="36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3558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5A29D-EECF-8F96-DD7B-05ABF0A98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EFF9796-4F3C-E592-4B18-51C2656BF2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7BAF9C2-1D7C-0E25-4C03-64A1592E557F}"/>
              </a:ext>
            </a:extLst>
          </p:cNvPr>
          <p:cNvSpPr txBox="1"/>
          <p:nvPr/>
        </p:nvSpPr>
        <p:spPr>
          <a:xfrm>
            <a:off x="5092222" y="267973"/>
            <a:ext cx="2007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Exercícios</a:t>
            </a:r>
            <a:endParaRPr lang="pt-BR" sz="36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8ADC3FF-30C1-89ED-234C-F88FF3DE53C6}"/>
              </a:ext>
            </a:extLst>
          </p:cNvPr>
          <p:cNvSpPr txBox="1"/>
          <p:nvPr/>
        </p:nvSpPr>
        <p:spPr>
          <a:xfrm>
            <a:off x="1413130" y="1581520"/>
            <a:ext cx="936573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000" dirty="0"/>
              <a:t>Se você precisa guardar apenas "Sim" ou "Não", por que usar um campo de texto livre (VARCHAR) seria uma má escolha de modelagem?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000" dirty="0"/>
              <a:t>No meio de uma transferência bancária, a energia do servidor cai. Por que o saldo não pode ter saído de uma conta sem ter entrado na outra?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000" dirty="0"/>
              <a:t>Por que as Chaves Estrangeiras são vitais para evitar que o banco de dados se torne um amontoado de "dados órfãos" (informações que existem, mas não se ligam a nada)?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000" dirty="0"/>
              <a:t>Pense no contexto de uma empresa, um empregado tem um dependente (filho), qual a relação da empresa com este dependente? O que aconteceria com o dependente se o empregado fosse demitido? Dentro da relação entre empregado e dependente, em qual das entidades ficaria a chave estrangeira? Por que?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2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BEA2EA4-A78A-8B5E-AA1F-4196E562CF49}"/>
              </a:ext>
            </a:extLst>
          </p:cNvPr>
          <p:cNvSpPr txBox="1"/>
          <p:nvPr/>
        </p:nvSpPr>
        <p:spPr>
          <a:xfrm>
            <a:off x="4967018" y="4088921"/>
            <a:ext cx="36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C64B2D7-0591-491D-A57C-CBD92E9433A2}"/>
              </a:ext>
            </a:extLst>
          </p:cNvPr>
          <p:cNvSpPr txBox="1"/>
          <p:nvPr/>
        </p:nvSpPr>
        <p:spPr>
          <a:xfrm>
            <a:off x="6507213" y="4522674"/>
            <a:ext cx="36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1261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3D6E-FC32-50DA-1CBC-9FDC465B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3F163-C736-9349-5711-22D353FE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25611-E7FA-1D72-494A-0AFBC3CF9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3371B3-3339-12F0-DD89-453EBF0A0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30338DA-9061-D8D4-B5A5-66A14A047FD4}"/>
              </a:ext>
            </a:extLst>
          </p:cNvPr>
          <p:cNvSpPr txBox="1"/>
          <p:nvPr/>
        </p:nvSpPr>
        <p:spPr>
          <a:xfrm>
            <a:off x="3924300" y="2413337"/>
            <a:ext cx="434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5">
                    <a:lumMod val="75000"/>
                  </a:schemeClr>
                </a:solidFill>
              </a:rPr>
              <a:t>AULA CONCLUÍDA!</a:t>
            </a:r>
            <a:endParaRPr lang="pt-BR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8466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1096</Words>
  <Application>Microsoft Office PowerPoint</Application>
  <PresentationFormat>Widescreen</PresentationFormat>
  <Paragraphs>123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1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Reis</dc:creator>
  <cp:lastModifiedBy>Felipe Tagawa</cp:lastModifiedBy>
  <cp:revision>93</cp:revision>
  <dcterms:created xsi:type="dcterms:W3CDTF">2025-07-17T15:58:05Z</dcterms:created>
  <dcterms:modified xsi:type="dcterms:W3CDTF">2026-08-07T21:10:16Z</dcterms:modified>
</cp:coreProperties>
</file>