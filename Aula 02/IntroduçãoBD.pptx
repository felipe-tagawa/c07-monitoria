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3" r:id="rId3"/>
    <p:sldId id="257" r:id="rId4"/>
    <p:sldId id="273" r:id="rId5"/>
    <p:sldId id="281" r:id="rId6"/>
    <p:sldId id="258" r:id="rId7"/>
    <p:sldId id="260" r:id="rId8"/>
    <p:sldId id="275" r:id="rId9"/>
    <p:sldId id="274" r:id="rId10"/>
    <p:sldId id="259" r:id="rId11"/>
    <p:sldId id="271" r:id="rId12"/>
    <p:sldId id="277" r:id="rId13"/>
    <p:sldId id="276" r:id="rId14"/>
    <p:sldId id="272" r:id="rId15"/>
    <p:sldId id="264" r:id="rId16"/>
    <p:sldId id="278" r:id="rId17"/>
    <p:sldId id="280" r:id="rId18"/>
    <p:sldId id="261" r:id="rId19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4660"/>
  </p:normalViewPr>
  <p:slideViewPr>
    <p:cSldViewPr snapToGrid="0">
      <p:cViewPr varScale="1">
        <p:scale>
          <a:sx n="87" d="100"/>
          <a:sy n="87" d="100"/>
        </p:scale>
        <p:origin x="48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3A66D05-5E24-33BF-801F-78EF3CC226B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8E92E566-4F7F-3564-09B2-9AA2CAFA893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BECC3AD-18CF-C373-82E1-2F6ADEE61E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93E696-207E-4958-8130-FF51108F7A86}" type="datetimeFigureOut">
              <a:rPr lang="pt-BR" smtClean="0"/>
              <a:t>19/02/2026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563B2040-78C9-8745-F35D-EF11E515E1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81EFC78-D113-1835-803D-D7950AD4D5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1D3BE-9412-4791-80FA-A05BEA5BD36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839199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50D03E4-65C7-6593-B5D9-BD43F5CC00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F4D748A-D7DC-6AF6-0A9D-42EE1A617D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70C1F43-955F-F284-E52B-96BA73CFF3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93E696-207E-4958-8130-FF51108F7A86}" type="datetimeFigureOut">
              <a:rPr lang="pt-BR" smtClean="0"/>
              <a:t>19/02/2026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D581143-3F69-7D97-15B4-69F9041112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4512B4A7-5B6D-CE06-1474-8152CE4C9D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1D3BE-9412-4791-80FA-A05BEA5BD36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892604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56AF45D-7CC4-DAF0-F92E-9503919E5D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6384446F-69DE-17E3-1834-C6E1D83814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841C1E53-8076-5532-F637-209CC4602D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93E696-207E-4958-8130-FF51108F7A86}" type="datetimeFigureOut">
              <a:rPr lang="pt-BR" smtClean="0"/>
              <a:t>19/02/2026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0B7B2FC7-E025-DE2F-9266-076106F64B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814B7233-721C-65ED-5A48-5DD0AB4480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1D3BE-9412-4791-80FA-A05BEA5BD36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1590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D6B61AE-BDA8-4C78-A9DA-828AA12939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DC8D7EF-96E4-CE37-CB3B-01B6E53C77B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7D215D9C-4CAA-2A0B-8630-4CA95CB05B9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9B26DCE2-7E90-4DC6-15F8-EE3D801F34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93E696-207E-4958-8130-FF51108F7A86}" type="datetimeFigureOut">
              <a:rPr lang="pt-BR" smtClean="0"/>
              <a:t>19/02/2026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FE88BBA6-2AF8-48A3-B2EF-7AC9E0D6ED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D20C3E75-6F57-4D54-4FBF-C5C751770F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1D3BE-9412-4791-80FA-A05BEA5BD36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970191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E9C3A99-536B-7AFE-28AA-EED60F2B8E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FB0D7D7C-900A-CE79-35D3-928D1892AE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7331FAA5-3656-CC7D-B2FD-5EA22B0C88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5B0C700E-296D-A95B-7B4A-B7B57EF03FC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56AE0995-EB67-0DA4-6493-D5A71E98874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65045AFE-E853-B107-5B5B-7414A75E88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93E696-207E-4958-8130-FF51108F7A86}" type="datetimeFigureOut">
              <a:rPr lang="pt-BR" smtClean="0"/>
              <a:t>19/02/2026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24681C3B-8E7A-D99F-6E7A-E62C1D91B4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52B2B4F2-19FC-BF30-3660-FEE2608D8D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1D3BE-9412-4791-80FA-A05BEA5BD36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402606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629450A-ECDB-AE4A-676E-4AC03A3F1E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CCE8266F-101B-1E35-4F75-13CF679164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93E696-207E-4958-8130-FF51108F7A86}" type="datetimeFigureOut">
              <a:rPr lang="pt-BR" smtClean="0"/>
              <a:t>19/02/2026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8075E159-E392-08D4-8DD3-96CCDF122E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8355A25A-A42C-DC3A-385A-81BAD7DC13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1D3BE-9412-4791-80FA-A05BEA5BD36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217116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8CF8965C-703D-D0F1-405F-F0EE866CEF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93E696-207E-4958-8130-FF51108F7A86}" type="datetimeFigureOut">
              <a:rPr lang="pt-BR" smtClean="0"/>
              <a:t>19/02/2026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B69E630B-E994-3AF0-38BA-4424BEB860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BB32EE82-EC7C-A46D-A6F9-D0A95D247E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1D3BE-9412-4791-80FA-A05BEA5BD36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078336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14D3032-EFD8-CF46-E874-0BECE20330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9C26BB1-FD8E-0701-52A9-7CFF97B8F0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365EDEB8-D4A2-ACDE-114C-82B33E82B32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E60A5CB5-5450-DE4C-4227-EF24E04037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93E696-207E-4958-8130-FF51108F7A86}" type="datetimeFigureOut">
              <a:rPr lang="pt-BR" smtClean="0"/>
              <a:t>19/02/2026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147DC88D-3C25-7A53-1C03-BC624FC635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1FEB4D63-40FF-0D4B-13D9-A6D181ABB0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1D3BE-9412-4791-80FA-A05BEA5BD36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914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23D738B-7BCC-4FCF-7591-DC7B9A171C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B673AE3A-3152-BA0E-9CD8-8E4320A1997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DD656892-2A17-1153-8069-C6925B97F26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60816881-A0DA-97F4-6317-C02775E759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93E696-207E-4958-8130-FF51108F7A86}" type="datetimeFigureOut">
              <a:rPr lang="pt-BR" smtClean="0"/>
              <a:t>19/02/2026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C4371B19-F6BB-9C24-DD83-D1E7B20289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AE0EEBA-E23B-5848-6443-E03189C5AE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1D3BE-9412-4791-80FA-A05BEA5BD36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611486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AC2C9CA-F1E5-FF2E-921C-AD52A3DCDF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369BD8E9-0A2B-C061-C70C-C3F70A09DCA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3F6CD184-049D-93BC-ADFE-06F757BF80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93E696-207E-4958-8130-FF51108F7A86}" type="datetimeFigureOut">
              <a:rPr lang="pt-BR" smtClean="0"/>
              <a:t>19/02/2026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243D6FFC-C1ED-5A9D-2094-DD3CC9066D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8ED0B10A-F8B5-C6D2-3FEA-4B4EC6AE22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1D3BE-9412-4791-80FA-A05BEA5BD36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364491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1C0FF676-4324-F294-99BE-AB1FD834AC7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51879113-B5D4-24F6-59D8-097AC80BB6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690184AF-CC75-CB46-EDFE-8210F2EBA3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93E696-207E-4958-8130-FF51108F7A86}" type="datetimeFigureOut">
              <a:rPr lang="pt-BR" smtClean="0"/>
              <a:t>19/02/2026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3CB5C0B6-9875-C2A1-8F76-DF096D9F00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ECD3A412-E7E0-F4A8-B68D-98795D0667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1D3BE-9412-4791-80FA-A05BEA5BD36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532144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9FE8E7C6-4948-E3AC-8897-466C8618EE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426682EE-8C1B-7051-425C-B1739304BB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80EAB68A-98F2-4B2E-F0D2-990427860B0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293E696-207E-4958-8130-FF51108F7A86}" type="datetimeFigureOut">
              <a:rPr lang="pt-BR" smtClean="0"/>
              <a:t>19/02/2026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E9F172A0-C762-EC83-DD34-413B6AF2388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101D855C-CA58-81AE-11FC-EA68E523C0D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D1D3BE-9412-4791-80FA-A05BEA5BD36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368990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jpe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jpe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jpe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jpeg"/><Relationship Id="rId4" Type="http://schemas.openxmlformats.org/officeDocument/2006/relationships/image" Target="../media/image16.jpe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A7D9A92-26DC-45D3-C254-7A9BBFED122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95B5D45A-48DB-36EA-4530-E7B033A9734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pt-BR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C513EBAF-93F3-1B28-C6F8-D7D7D1CAC06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"/>
            <a:ext cx="12203723" cy="6858001"/>
          </a:xfrm>
          <a:prstGeom prst="rect">
            <a:avLst/>
          </a:prstGeom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A9001E6E-B9F0-2839-EE2E-690FCA50D6A9}"/>
              </a:ext>
            </a:extLst>
          </p:cNvPr>
          <p:cNvSpPr txBox="1"/>
          <p:nvPr/>
        </p:nvSpPr>
        <p:spPr>
          <a:xfrm>
            <a:off x="105508" y="5257801"/>
            <a:ext cx="4607169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Introdução a Banco de Dados Relacionais</a:t>
            </a:r>
            <a:endParaRPr lang="pt-BR" sz="4000" dirty="0">
              <a:solidFill>
                <a:schemeClr val="accent5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52918265-162C-5A48-27BB-E867F7A03A5E}"/>
              </a:ext>
            </a:extLst>
          </p:cNvPr>
          <p:cNvSpPr txBox="1"/>
          <p:nvPr/>
        </p:nvSpPr>
        <p:spPr>
          <a:xfrm>
            <a:off x="105508" y="114300"/>
            <a:ext cx="393895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Banco de Dados – C07</a:t>
            </a:r>
            <a:endParaRPr lang="pt-BR" sz="3200" dirty="0">
              <a:solidFill>
                <a:schemeClr val="accent5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60CAE585-3A47-F69A-7EB8-BF8F308CE487}"/>
              </a:ext>
            </a:extLst>
          </p:cNvPr>
          <p:cNvSpPr txBox="1"/>
          <p:nvPr/>
        </p:nvSpPr>
        <p:spPr>
          <a:xfrm>
            <a:off x="105508" y="602313"/>
            <a:ext cx="252339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Felipe Tagawa Reis</a:t>
            </a:r>
            <a:endParaRPr lang="pt-BR" sz="2400" dirty="0">
              <a:solidFill>
                <a:schemeClr val="accent5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008599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8A27A6-8EF8-12D8-8FD8-D7F39147A3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BF18DC9-5815-0212-B6E0-D8C10E6A49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A8E3B4E-2F8A-3689-618B-A91B245EFD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81421DD0-6686-3CBC-6B71-56FD159EB6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37296BF4-EF26-F538-26E9-4DC854B48CD9}"/>
              </a:ext>
            </a:extLst>
          </p:cNvPr>
          <p:cNvSpPr txBox="1"/>
          <p:nvPr/>
        </p:nvSpPr>
        <p:spPr>
          <a:xfrm>
            <a:off x="386861" y="202223"/>
            <a:ext cx="9064869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err="1"/>
              <a:t>Instalação</a:t>
            </a:r>
            <a:r>
              <a:rPr lang="en-US" sz="3600" dirty="0"/>
              <a:t> do MySQL Workbench</a:t>
            </a:r>
          </a:p>
          <a:p>
            <a:endParaRPr lang="en-US" sz="3600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dirty="0" err="1"/>
              <a:t>Vídeo</a:t>
            </a:r>
            <a:r>
              <a:rPr lang="en-US" dirty="0"/>
              <a:t> com </a:t>
            </a:r>
            <a:r>
              <a:rPr lang="en-US" dirty="0" err="1"/>
              <a:t>os</a:t>
            </a:r>
            <a:r>
              <a:rPr lang="en-US" dirty="0"/>
              <a:t> </a:t>
            </a:r>
            <a:r>
              <a:rPr lang="en-US" dirty="0" err="1"/>
              <a:t>detalhes</a:t>
            </a:r>
            <a:r>
              <a:rPr lang="en-US" dirty="0"/>
              <a:t> da </a:t>
            </a:r>
            <a:r>
              <a:rPr lang="en-US" dirty="0" err="1"/>
              <a:t>instalação</a:t>
            </a:r>
            <a:r>
              <a:rPr lang="en-US" dirty="0"/>
              <a:t> no canal do Teams.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dirty="0" err="1"/>
              <a:t>Arquivo</a:t>
            </a:r>
            <a:r>
              <a:rPr lang="en-US" dirty="0"/>
              <a:t> com </a:t>
            </a:r>
            <a:r>
              <a:rPr lang="en-US" dirty="0" err="1"/>
              <a:t>todos</a:t>
            </a:r>
            <a:r>
              <a:rPr lang="en-US" dirty="0"/>
              <a:t> </a:t>
            </a:r>
            <a:r>
              <a:rPr lang="en-US" dirty="0" err="1"/>
              <a:t>os</a:t>
            </a:r>
            <a:r>
              <a:rPr lang="en-US" dirty="0"/>
              <a:t> </a:t>
            </a:r>
            <a:r>
              <a:rPr lang="en-US" dirty="0" err="1"/>
              <a:t>detalhes</a:t>
            </a:r>
            <a:r>
              <a:rPr lang="en-US" dirty="0"/>
              <a:t> no TEAMS </a:t>
            </a:r>
            <a:r>
              <a:rPr lang="en-US" dirty="0" err="1"/>
              <a:t>ou</a:t>
            </a:r>
            <a:r>
              <a:rPr lang="en-US" dirty="0"/>
              <a:t> no meu </a:t>
            </a:r>
            <a:r>
              <a:rPr lang="en-US" dirty="0" err="1"/>
              <a:t>repositório</a:t>
            </a:r>
            <a:r>
              <a:rPr lang="en-US" dirty="0"/>
              <a:t> da </a:t>
            </a:r>
            <a:r>
              <a:rPr lang="en-US" dirty="0" err="1"/>
              <a:t>disciplina</a:t>
            </a:r>
            <a:r>
              <a:rPr lang="en-US" dirty="0"/>
              <a:t> no </a:t>
            </a:r>
            <a:r>
              <a:rPr lang="en-US" dirty="0" err="1"/>
              <a:t>Github</a:t>
            </a:r>
            <a:r>
              <a:rPr lang="en-US" dirty="0"/>
              <a:t>.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dirty="0"/>
              <a:t>IMPORTANTE: para </a:t>
            </a:r>
            <a:r>
              <a:rPr lang="en-US" dirty="0" err="1"/>
              <a:t>facilitar</a:t>
            </a:r>
            <a:r>
              <a:rPr lang="en-US" dirty="0"/>
              <a:t> entradas posteriores (</a:t>
            </a:r>
            <a:r>
              <a:rPr lang="en-US" dirty="0" err="1"/>
              <a:t>principalmente</a:t>
            </a:r>
            <a:r>
              <a:rPr lang="en-US" dirty="0"/>
              <a:t> no </a:t>
            </a:r>
            <a:r>
              <a:rPr lang="en-US" dirty="0" err="1"/>
              <a:t>projeto</a:t>
            </a:r>
            <a:r>
              <a:rPr lang="en-US" dirty="0"/>
              <a:t>), </a:t>
            </a:r>
            <a:r>
              <a:rPr lang="en-US" dirty="0" err="1"/>
              <a:t>recomendo</a:t>
            </a:r>
            <a:r>
              <a:rPr lang="en-US" dirty="0"/>
              <a:t> </a:t>
            </a:r>
            <a:r>
              <a:rPr lang="en-US" dirty="0" err="1"/>
              <a:t>colocar</a:t>
            </a:r>
            <a:r>
              <a:rPr lang="en-US" dirty="0"/>
              <a:t> o </a:t>
            </a:r>
            <a:r>
              <a:rPr lang="en-US" b="1" u="sng" dirty="0" err="1"/>
              <a:t>nome</a:t>
            </a:r>
            <a:r>
              <a:rPr lang="en-US" b="1" u="sng" dirty="0"/>
              <a:t> de </a:t>
            </a:r>
            <a:r>
              <a:rPr lang="en-US" b="1" u="sng" dirty="0" err="1"/>
              <a:t>usuário</a:t>
            </a:r>
            <a:r>
              <a:rPr lang="en-US" b="1" u="sng" dirty="0"/>
              <a:t> e </a:t>
            </a:r>
            <a:r>
              <a:rPr lang="en-US" b="1" u="sng" dirty="0" err="1"/>
              <a:t>senha</a:t>
            </a:r>
            <a:r>
              <a:rPr lang="en-US" b="1" u="sng" dirty="0"/>
              <a:t> </a:t>
            </a:r>
            <a:r>
              <a:rPr lang="en-US" b="1" u="sng" dirty="0" err="1"/>
              <a:t>como</a:t>
            </a:r>
            <a:r>
              <a:rPr lang="en-US" b="1" u="sng" dirty="0"/>
              <a:t> “root”</a:t>
            </a:r>
            <a:r>
              <a:rPr lang="en-US" dirty="0"/>
              <a:t>.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dirty="0" err="1"/>
              <a:t>Vídeo</a:t>
            </a:r>
            <a:r>
              <a:rPr lang="en-US" dirty="0"/>
              <a:t> e material de consulta para </a:t>
            </a:r>
            <a:r>
              <a:rPr lang="en-US" dirty="0" err="1"/>
              <a:t>instalação</a:t>
            </a:r>
            <a:r>
              <a:rPr lang="en-US" dirty="0"/>
              <a:t> do </a:t>
            </a:r>
            <a:r>
              <a:rPr lang="en-US" dirty="0" err="1"/>
              <a:t>programa</a:t>
            </a:r>
            <a:r>
              <a:rPr lang="en-US" dirty="0"/>
              <a:t> </a:t>
            </a:r>
            <a:r>
              <a:rPr lang="en-US" dirty="0" err="1"/>
              <a:t>já</a:t>
            </a:r>
            <a:r>
              <a:rPr lang="en-US" dirty="0"/>
              <a:t> </a:t>
            </a:r>
            <a:r>
              <a:rPr lang="en-US" dirty="0" err="1"/>
              <a:t>em</a:t>
            </a:r>
            <a:r>
              <a:rPr lang="en-US" dirty="0"/>
              <a:t> ‘Aula 1’ no Teams.</a:t>
            </a:r>
          </a:p>
          <a:p>
            <a:endParaRPr lang="en-US" dirty="0"/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7348128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B290AE22-E4FF-A407-1354-05C1DB39901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2155F15B-B75A-1E12-471B-0B4EE238AAC0}"/>
              </a:ext>
            </a:extLst>
          </p:cNvPr>
          <p:cNvSpPr txBox="1"/>
          <p:nvPr/>
        </p:nvSpPr>
        <p:spPr>
          <a:xfrm>
            <a:off x="720968" y="1450731"/>
            <a:ext cx="4170485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São sistemas de gerenciamento e armazenamento de dados em tabelas estruturadas com linhas e colunas, onde as informações são distribuídas e organizadas de forma lógica e inter-</a:t>
            </a:r>
            <a:r>
              <a:rPr lang="en-US" sz="2400" dirty="0" err="1"/>
              <a:t>relacionada</a:t>
            </a:r>
            <a:r>
              <a:rPr lang="en-US" sz="2400" dirty="0"/>
              <a:t>.</a:t>
            </a:r>
            <a:endParaRPr lang="pt-BR" sz="2400" dirty="0"/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608DE015-0AE8-0A49-75FD-BB516AD114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47912" y="1248508"/>
            <a:ext cx="6142573" cy="4929594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Picture 2" descr="ANÁLISE COMPARATIVA ENTRE BANCO DE DADOS RELACIONAL E NEWSQL EM UM SISTEMA  DE PEQUENO PORTE">
            <a:extLst>
              <a:ext uri="{FF2B5EF4-FFF2-40B4-BE49-F238E27FC236}">
                <a16:creationId xmlns:a16="http://schemas.microsoft.com/office/drawing/2014/main" id="{DD498767-D8C2-37EE-C15C-53B180CC8A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838" y="4497719"/>
            <a:ext cx="4328747" cy="20699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CaixaDeTexto 9">
            <a:extLst>
              <a:ext uri="{FF2B5EF4-FFF2-40B4-BE49-F238E27FC236}">
                <a16:creationId xmlns:a16="http://schemas.microsoft.com/office/drawing/2014/main" id="{FE072230-7C4F-F72D-3728-915BD50BE4A5}"/>
              </a:ext>
            </a:extLst>
          </p:cNvPr>
          <p:cNvSpPr txBox="1"/>
          <p:nvPr/>
        </p:nvSpPr>
        <p:spPr>
          <a:xfrm>
            <a:off x="3568212" y="360484"/>
            <a:ext cx="505557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 err="1"/>
              <a:t>Bancos</a:t>
            </a:r>
            <a:r>
              <a:rPr lang="en-US" sz="3200" dirty="0"/>
              <a:t> de Dados </a:t>
            </a:r>
            <a:r>
              <a:rPr lang="en-US" sz="3200" dirty="0" err="1"/>
              <a:t>Relacionais</a:t>
            </a:r>
            <a:endParaRPr lang="pt-BR" sz="3200" dirty="0"/>
          </a:p>
        </p:txBody>
      </p:sp>
    </p:spTree>
    <p:extLst>
      <p:ext uri="{BB962C8B-B14F-4D97-AF65-F5344CB8AC3E}">
        <p14:creationId xmlns:p14="http://schemas.microsoft.com/office/powerpoint/2010/main" val="10313005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47B96E-3FEB-82EB-1226-CA1E0E4BF3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171AE479-C112-4CA3-5E71-78C9A350DC3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D6E48C7D-7FA0-AEA3-BFEF-16BEA8D03DB2}"/>
              </a:ext>
            </a:extLst>
          </p:cNvPr>
          <p:cNvSpPr txBox="1"/>
          <p:nvPr/>
        </p:nvSpPr>
        <p:spPr>
          <a:xfrm>
            <a:off x="2831123" y="1362808"/>
            <a:ext cx="11078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 err="1"/>
              <a:t>Prós</a:t>
            </a:r>
            <a:endParaRPr lang="en-US" sz="3200" dirty="0"/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711790C2-FF9A-9204-0D19-06D81072AE06}"/>
              </a:ext>
            </a:extLst>
          </p:cNvPr>
          <p:cNvSpPr txBox="1"/>
          <p:nvPr/>
        </p:nvSpPr>
        <p:spPr>
          <a:xfrm>
            <a:off x="4785213" y="428583"/>
            <a:ext cx="262157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 err="1"/>
              <a:t>Prós</a:t>
            </a:r>
            <a:r>
              <a:rPr lang="en-US" sz="3200" dirty="0"/>
              <a:t> e Contras</a:t>
            </a:r>
            <a:endParaRPr lang="pt-BR" sz="3200" dirty="0"/>
          </a:p>
        </p:txBody>
      </p:sp>
      <p:sp>
        <p:nvSpPr>
          <p:cNvPr id="2" name="CaixaDeTexto 1">
            <a:extLst>
              <a:ext uri="{FF2B5EF4-FFF2-40B4-BE49-F238E27FC236}">
                <a16:creationId xmlns:a16="http://schemas.microsoft.com/office/drawing/2014/main" id="{0AA8A664-F2E7-B048-DDBB-08A95E1562AD}"/>
              </a:ext>
            </a:extLst>
          </p:cNvPr>
          <p:cNvSpPr txBox="1"/>
          <p:nvPr/>
        </p:nvSpPr>
        <p:spPr>
          <a:xfrm>
            <a:off x="7833946" y="1362808"/>
            <a:ext cx="15269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3200" dirty="0"/>
              <a:t>Contras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CC3D5653-29ED-0A18-782A-3F77F3BCCC8C}"/>
              </a:ext>
            </a:extLst>
          </p:cNvPr>
          <p:cNvSpPr txBox="1"/>
          <p:nvPr/>
        </p:nvSpPr>
        <p:spPr>
          <a:xfrm>
            <a:off x="6298223" y="2376166"/>
            <a:ext cx="5791200" cy="32316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Courier New" panose="02070309020205020404" pitchFamily="49" charset="0"/>
              <a:buChar char="o"/>
            </a:pPr>
            <a:r>
              <a:rPr lang="pt-BR" sz="2800" dirty="0"/>
              <a:t>Escala Vertical (Baixa Escalabilidade);</a:t>
            </a:r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pt-BR" sz="2800" dirty="0"/>
              <a:t>Esquema Rígido (Pouca Flexibilidade);</a:t>
            </a:r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pt-BR" sz="2800" dirty="0"/>
              <a:t>Menor Desempenho em cenários Big Data – Exemplo do Post do Instagram.</a:t>
            </a:r>
          </a:p>
          <a:p>
            <a:pPr marL="285750" indent="-285750">
              <a:buFont typeface="Courier New" panose="02070309020205020404" pitchFamily="49" charset="0"/>
              <a:buChar char="o"/>
            </a:pPr>
            <a:endParaRPr lang="pt-BR" dirty="0"/>
          </a:p>
          <a:p>
            <a:pPr marL="285750" indent="-285750">
              <a:buFont typeface="Courier New" panose="02070309020205020404" pitchFamily="49" charset="0"/>
              <a:buChar char="o"/>
            </a:pPr>
            <a:endParaRPr lang="pt-BR" dirty="0"/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66DCDE54-8572-CFFE-0B75-05525B32A744}"/>
              </a:ext>
            </a:extLst>
          </p:cNvPr>
          <p:cNvSpPr txBox="1"/>
          <p:nvPr/>
        </p:nvSpPr>
        <p:spPr>
          <a:xfrm>
            <a:off x="1085850" y="2376166"/>
            <a:ext cx="4598376" cy="25237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pt-BR" dirty="0"/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pt-BR" sz="2800" dirty="0"/>
              <a:t>Garantia </a:t>
            </a:r>
            <a:r>
              <a:rPr lang="pt-BR" sz="2800" b="1" dirty="0"/>
              <a:t>ACID</a:t>
            </a:r>
            <a:r>
              <a:rPr lang="pt-BR" sz="2800" dirty="0"/>
              <a:t> – Segurança e Consistência;</a:t>
            </a:r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pt-BR" sz="2800" dirty="0"/>
              <a:t>Sistema Robusto de consultas;</a:t>
            </a:r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pt-BR" sz="2800" dirty="0"/>
              <a:t>Padronização – Estabilidade.</a:t>
            </a:r>
          </a:p>
        </p:txBody>
      </p:sp>
    </p:spTree>
    <p:extLst>
      <p:ext uri="{BB962C8B-B14F-4D97-AF65-F5344CB8AC3E}">
        <p14:creationId xmlns:p14="http://schemas.microsoft.com/office/powerpoint/2010/main" val="8045025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B357AF-9FD7-164C-A7ED-B134EA8908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8120D945-E733-F59D-8F9D-701D3B4591B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0" name="CaixaDeTexto 9">
            <a:extLst>
              <a:ext uri="{FF2B5EF4-FFF2-40B4-BE49-F238E27FC236}">
                <a16:creationId xmlns:a16="http://schemas.microsoft.com/office/drawing/2014/main" id="{3C216CDC-5AA1-9AD4-EAAC-AB4A8FA004F5}"/>
              </a:ext>
            </a:extLst>
          </p:cNvPr>
          <p:cNvSpPr txBox="1"/>
          <p:nvPr/>
        </p:nvSpPr>
        <p:spPr>
          <a:xfrm>
            <a:off x="4641147" y="460311"/>
            <a:ext cx="290970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 err="1"/>
              <a:t>Transações</a:t>
            </a:r>
            <a:r>
              <a:rPr lang="en-US" sz="3200" dirty="0"/>
              <a:t> ACID</a:t>
            </a:r>
            <a:endParaRPr lang="pt-BR" sz="3200" dirty="0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BECF3DCD-204F-28AE-7594-3C13661EF92C}"/>
              </a:ext>
            </a:extLst>
          </p:cNvPr>
          <p:cNvSpPr txBox="1"/>
          <p:nvPr/>
        </p:nvSpPr>
        <p:spPr>
          <a:xfrm>
            <a:off x="1519604" y="1505396"/>
            <a:ext cx="9152792" cy="38472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pt-BR" sz="3200" dirty="0"/>
              <a:t>A (Atomicidade)</a:t>
            </a:r>
          </a:p>
          <a:p>
            <a:r>
              <a:rPr lang="pt-BR" dirty="0"/>
              <a:t>	</a:t>
            </a:r>
            <a:r>
              <a:rPr lang="pt-BR" sz="2000" dirty="0"/>
              <a:t>- Atomicidade trata das transações serem indivisíveis;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pt-BR" sz="3200" dirty="0"/>
              <a:t>C (Consistência)</a:t>
            </a:r>
          </a:p>
          <a:p>
            <a:r>
              <a:rPr lang="pt-BR" dirty="0"/>
              <a:t>	</a:t>
            </a:r>
            <a:r>
              <a:rPr lang="pt-BR" sz="2000" dirty="0"/>
              <a:t>- Integridade geral dos dados;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pt-BR" sz="3200" dirty="0"/>
              <a:t>I (Isolamento)</a:t>
            </a:r>
          </a:p>
          <a:p>
            <a:r>
              <a:rPr lang="pt-BR" dirty="0"/>
              <a:t>	</a:t>
            </a:r>
            <a:r>
              <a:rPr lang="pt-BR" sz="2000" dirty="0"/>
              <a:t>- Impossibilidade de interferência entre transações;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pt-BR" sz="3200" dirty="0"/>
              <a:t>D (Durabilidade)</a:t>
            </a:r>
          </a:p>
          <a:p>
            <a:r>
              <a:rPr lang="pt-BR" dirty="0"/>
              <a:t>	</a:t>
            </a:r>
            <a:r>
              <a:rPr lang="pt-BR" sz="2000" dirty="0"/>
              <a:t>- Disponibilidade dos Dados, mesmo em casos adversos.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pt-BR" dirty="0"/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9129859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E24A81F-FB2A-8C0A-B028-8D100530BE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30A59D2-3DFC-7F99-AA0D-6A9D525F4C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34E96833-C58D-A904-75A9-1A3FBBAEBED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"/>
            <a:ext cx="12192000" cy="6858000"/>
          </a:xfrm>
          <a:prstGeom prst="rect">
            <a:avLst/>
          </a:prstGeom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9B183E33-21E7-CBCA-C10C-9C7F7F4252F7}"/>
              </a:ext>
            </a:extLst>
          </p:cNvPr>
          <p:cNvSpPr txBox="1"/>
          <p:nvPr/>
        </p:nvSpPr>
        <p:spPr>
          <a:xfrm>
            <a:off x="5361784" y="507245"/>
            <a:ext cx="167933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Tabelas</a:t>
            </a:r>
            <a:endParaRPr lang="pt-BR" sz="3600" dirty="0"/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F7A7230C-3228-D2F1-D70B-D45A7FAEE9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8771" y="2350851"/>
            <a:ext cx="1952898" cy="227679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819C0B14-793A-F183-C623-67F4538F60E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01450" y="2523392"/>
            <a:ext cx="5323292" cy="204096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cxnSp>
        <p:nvCxnSpPr>
          <p:cNvPr id="11" name="Conector de Seta Reta 10">
            <a:extLst>
              <a:ext uri="{FF2B5EF4-FFF2-40B4-BE49-F238E27FC236}">
                <a16:creationId xmlns:a16="http://schemas.microsoft.com/office/drawing/2014/main" id="{B5A1F8F2-3D47-AFBA-07AB-CC6C2B6C6107}"/>
              </a:ext>
            </a:extLst>
          </p:cNvPr>
          <p:cNvCxnSpPr>
            <a:cxnSpLocks/>
          </p:cNvCxnSpPr>
          <p:nvPr/>
        </p:nvCxnSpPr>
        <p:spPr>
          <a:xfrm>
            <a:off x="3226777" y="3443547"/>
            <a:ext cx="246184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51F69BD2-7A79-07E2-2082-7D0BE7DD3F87}"/>
              </a:ext>
            </a:extLst>
          </p:cNvPr>
          <p:cNvSpPr txBox="1"/>
          <p:nvPr/>
        </p:nvSpPr>
        <p:spPr>
          <a:xfrm>
            <a:off x="1231115" y="4627644"/>
            <a:ext cx="136820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Modelo do Workbench</a:t>
            </a:r>
            <a:endParaRPr lang="pt-BR" dirty="0"/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56579E6D-0B72-D7FC-6459-168E6428A857}"/>
              </a:ext>
            </a:extLst>
          </p:cNvPr>
          <p:cNvSpPr txBox="1"/>
          <p:nvPr/>
        </p:nvSpPr>
        <p:spPr>
          <a:xfrm>
            <a:off x="8084599" y="4892787"/>
            <a:ext cx="1556994" cy="3811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Tabela Simples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4037499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F19C2AA-FBF7-903E-653B-05FE47F3B3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11F1969-1A42-4671-CC35-05FD6D1F97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DC8E56B4-1CFF-90BC-F549-2E951581875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07C9C99E-86FD-270E-78CA-F920A1860433}"/>
              </a:ext>
            </a:extLst>
          </p:cNvPr>
          <p:cNvSpPr txBox="1"/>
          <p:nvPr/>
        </p:nvSpPr>
        <p:spPr>
          <a:xfrm>
            <a:off x="4226902" y="625296"/>
            <a:ext cx="373819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 err="1"/>
              <a:t>Tipos</a:t>
            </a:r>
            <a:r>
              <a:rPr lang="en-US" sz="3600" dirty="0"/>
              <a:t> de Dados </a:t>
            </a:r>
            <a:r>
              <a:rPr lang="en-US" sz="3600" dirty="0" err="1"/>
              <a:t>mais</a:t>
            </a:r>
            <a:r>
              <a:rPr lang="en-US" sz="3600" dirty="0"/>
              <a:t> </a:t>
            </a:r>
            <a:r>
              <a:rPr lang="en-US" sz="3600" dirty="0" err="1"/>
              <a:t>Utilizados</a:t>
            </a:r>
            <a:endParaRPr lang="pt-BR" sz="3600" dirty="0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CF5DB712-4B36-E46B-B72F-EC5B1251A957}"/>
              </a:ext>
            </a:extLst>
          </p:cNvPr>
          <p:cNvSpPr txBox="1"/>
          <p:nvPr/>
        </p:nvSpPr>
        <p:spPr>
          <a:xfrm>
            <a:off x="668213" y="2149019"/>
            <a:ext cx="1890347" cy="1754326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Numéricos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INTEGER(INT);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DECIMAL(</a:t>
            </a:r>
            <a:r>
              <a:rPr lang="en-US" dirty="0" err="1"/>
              <a:t>i,j</a:t>
            </a:r>
            <a:r>
              <a:rPr lang="en-US" dirty="0"/>
              <a:t>);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FLOAT(j);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DOUBLE.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8DE7E38E-3494-6408-7350-6ECF0D1C611F}"/>
              </a:ext>
            </a:extLst>
          </p:cNvPr>
          <p:cNvSpPr txBox="1"/>
          <p:nvPr/>
        </p:nvSpPr>
        <p:spPr>
          <a:xfrm>
            <a:off x="668213" y="4432211"/>
            <a:ext cx="1890347" cy="1477328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String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CHAR(n);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VARCHAR(n);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TEXT.</a:t>
            </a:r>
            <a:endParaRPr lang="pt-BR" dirty="0"/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55D6A370-6461-1F31-4384-B06A74A36017}"/>
              </a:ext>
            </a:extLst>
          </p:cNvPr>
          <p:cNvSpPr txBox="1"/>
          <p:nvPr/>
        </p:nvSpPr>
        <p:spPr>
          <a:xfrm>
            <a:off x="6655044" y="2149019"/>
            <a:ext cx="1310054" cy="1200329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Data e Hora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DATE;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TIME;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ECA0C54F-A8DD-7C4C-6D28-8AC3ADD6AE9D}"/>
              </a:ext>
            </a:extLst>
          </p:cNvPr>
          <p:cNvSpPr txBox="1"/>
          <p:nvPr/>
        </p:nvSpPr>
        <p:spPr>
          <a:xfrm>
            <a:off x="2817931" y="2703017"/>
            <a:ext cx="192551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dirty="0"/>
              <a:t>i: </a:t>
            </a:r>
            <a:r>
              <a:rPr lang="en-US" dirty="0" err="1"/>
              <a:t>dígitos</a:t>
            </a:r>
            <a:r>
              <a:rPr lang="en-US" dirty="0"/>
              <a:t> </a:t>
            </a:r>
            <a:r>
              <a:rPr lang="en-US" dirty="0" err="1"/>
              <a:t>totais</a:t>
            </a:r>
            <a:r>
              <a:rPr lang="en-US" dirty="0"/>
              <a:t>;</a:t>
            </a:r>
          </a:p>
          <a:p>
            <a:r>
              <a:rPr lang="en-US" dirty="0"/>
              <a:t>j: </a:t>
            </a:r>
            <a:r>
              <a:rPr lang="en-US" dirty="0" err="1"/>
              <a:t>dígitos</a:t>
            </a:r>
            <a:r>
              <a:rPr lang="en-US" dirty="0"/>
              <a:t> </a:t>
            </a:r>
            <a:r>
              <a:rPr lang="en-US" dirty="0" err="1"/>
              <a:t>decimais</a:t>
            </a:r>
            <a:r>
              <a:rPr lang="en-US" dirty="0"/>
              <a:t>.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8160FF93-9C48-8D4D-E000-96C7BC087CFE}"/>
              </a:ext>
            </a:extLst>
          </p:cNvPr>
          <p:cNvSpPr txBox="1"/>
          <p:nvPr/>
        </p:nvSpPr>
        <p:spPr>
          <a:xfrm>
            <a:off x="3059722" y="4709210"/>
            <a:ext cx="811530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CHAR é FIXO em </a:t>
            </a:r>
            <a:r>
              <a:rPr lang="en-US" b="1" u="sng" dirty="0"/>
              <a:t>n </a:t>
            </a:r>
            <a:r>
              <a:rPr lang="en-US" dirty="0" err="1"/>
              <a:t>caracteres</a:t>
            </a:r>
            <a:r>
              <a:rPr lang="en-US" dirty="0"/>
              <a:t>!</a:t>
            </a:r>
          </a:p>
          <a:p>
            <a:r>
              <a:rPr lang="en-US" dirty="0"/>
              <a:t>VARCHAR </a:t>
            </a:r>
            <a:r>
              <a:rPr lang="en-US" dirty="0" err="1"/>
              <a:t>aceita</a:t>
            </a:r>
            <a:r>
              <a:rPr lang="en-US" dirty="0"/>
              <a:t> </a:t>
            </a:r>
            <a:r>
              <a:rPr lang="en-US" b="1" u="sng" dirty="0" err="1"/>
              <a:t>até</a:t>
            </a:r>
            <a:r>
              <a:rPr lang="en-US" b="1" u="sng" dirty="0"/>
              <a:t> n </a:t>
            </a:r>
            <a:r>
              <a:rPr lang="en-US" dirty="0" err="1"/>
              <a:t>caracteres</a:t>
            </a:r>
            <a:r>
              <a:rPr lang="en-US" dirty="0"/>
              <a:t>!</a:t>
            </a:r>
          </a:p>
          <a:p>
            <a:pPr algn="just"/>
            <a:r>
              <a:rPr lang="en-US" dirty="0"/>
              <a:t>TEXT </a:t>
            </a:r>
            <a:r>
              <a:rPr lang="en-US" dirty="0" err="1"/>
              <a:t>não</a:t>
            </a:r>
            <a:r>
              <a:rPr lang="en-US" dirty="0"/>
              <a:t> </a:t>
            </a:r>
            <a:r>
              <a:rPr lang="en-US" dirty="0" err="1"/>
              <a:t>tem</a:t>
            </a:r>
            <a:r>
              <a:rPr lang="en-US" dirty="0"/>
              <a:t> </a:t>
            </a:r>
            <a:r>
              <a:rPr lang="en-US" dirty="0" err="1"/>
              <a:t>quantidade</a:t>
            </a:r>
            <a:r>
              <a:rPr lang="en-US" dirty="0"/>
              <a:t> </a:t>
            </a:r>
            <a:r>
              <a:rPr lang="en-US" dirty="0" err="1"/>
              <a:t>fixa</a:t>
            </a:r>
            <a:r>
              <a:rPr lang="en-US" dirty="0"/>
              <a:t>, é </a:t>
            </a:r>
            <a:r>
              <a:rPr lang="en-US" dirty="0" err="1"/>
              <a:t>bastante</a:t>
            </a:r>
            <a:r>
              <a:rPr lang="en-US" dirty="0"/>
              <a:t> </a:t>
            </a:r>
            <a:r>
              <a:rPr lang="en-US" dirty="0" err="1"/>
              <a:t>usado</a:t>
            </a:r>
            <a:r>
              <a:rPr lang="en-US" dirty="0"/>
              <a:t> para </a:t>
            </a:r>
            <a:r>
              <a:rPr lang="en-US" dirty="0" err="1"/>
              <a:t>textos</a:t>
            </a:r>
            <a:r>
              <a:rPr lang="en-US" dirty="0"/>
              <a:t> e </a:t>
            </a:r>
            <a:r>
              <a:rPr lang="en-US" dirty="0" err="1"/>
              <a:t>descrições</a:t>
            </a:r>
            <a:r>
              <a:rPr lang="en-US" dirty="0"/>
              <a:t> </a:t>
            </a:r>
            <a:r>
              <a:rPr lang="en-US" b="1" u="sng" dirty="0" err="1"/>
              <a:t>extensos</a:t>
            </a:r>
            <a:r>
              <a:rPr lang="en-US" dirty="0"/>
              <a:t>.</a:t>
            </a:r>
            <a:endParaRPr lang="pt-BR" dirty="0"/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BAE54747-6513-C3D7-FD53-04D4E0AB047D}"/>
              </a:ext>
            </a:extLst>
          </p:cNvPr>
          <p:cNvSpPr txBox="1"/>
          <p:nvPr/>
        </p:nvSpPr>
        <p:spPr>
          <a:xfrm>
            <a:off x="8135085" y="2450385"/>
            <a:ext cx="23123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DATE (YYYY-MM-DD);</a:t>
            </a:r>
          </a:p>
          <a:p>
            <a:r>
              <a:rPr lang="en-US" dirty="0"/>
              <a:t>TIME (HH:MM:SS).</a:t>
            </a:r>
            <a:endParaRPr lang="pt-BR" dirty="0"/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8638EE8C-744C-0D4F-815E-F27C65E8D203}"/>
              </a:ext>
            </a:extLst>
          </p:cNvPr>
          <p:cNvSpPr txBox="1"/>
          <p:nvPr/>
        </p:nvSpPr>
        <p:spPr>
          <a:xfrm>
            <a:off x="6655044" y="3903345"/>
            <a:ext cx="1600200" cy="92333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dirty="0" err="1"/>
              <a:t>Lógico</a:t>
            </a:r>
            <a:endParaRPr lang="en-US" dirty="0"/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BOOLEAN.</a:t>
            </a:r>
          </a:p>
        </p:txBody>
      </p:sp>
    </p:spTree>
    <p:extLst>
      <p:ext uri="{BB962C8B-B14F-4D97-AF65-F5344CB8AC3E}">
        <p14:creationId xmlns:p14="http://schemas.microsoft.com/office/powerpoint/2010/main" val="30688257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83D399-0E22-4E3B-364D-D0374FFAB3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A7A24F0-3283-32F7-52BA-CB6E49BC77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5BD90EA-17CD-6205-3B39-487EEEC2E3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11907E70-2A94-1DCF-C0B5-04AD6BA33CA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269F7BF0-B16D-F005-3C99-877B66C74A60}"/>
              </a:ext>
            </a:extLst>
          </p:cNvPr>
          <p:cNvSpPr txBox="1"/>
          <p:nvPr/>
        </p:nvSpPr>
        <p:spPr>
          <a:xfrm>
            <a:off x="4226902" y="498257"/>
            <a:ext cx="373819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3600" dirty="0"/>
              <a:t>CHAR x VARCHAR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BA5192B5-CF7F-F0C1-0A40-333626E1B5C5}"/>
              </a:ext>
            </a:extLst>
          </p:cNvPr>
          <p:cNvSpPr txBox="1"/>
          <p:nvPr/>
        </p:nvSpPr>
        <p:spPr>
          <a:xfrm>
            <a:off x="838200" y="336950"/>
            <a:ext cx="2467708" cy="1477328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String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CHAR(n);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VARCHAR(n);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TEXT.</a:t>
            </a:r>
            <a:endParaRPr lang="pt-BR" dirty="0"/>
          </a:p>
        </p:txBody>
      </p: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76DEAC94-F68B-2F70-754B-561B241836AA}"/>
              </a:ext>
            </a:extLst>
          </p:cNvPr>
          <p:cNvSpPr/>
          <p:nvPr/>
        </p:nvSpPr>
        <p:spPr>
          <a:xfrm>
            <a:off x="1169376" y="909949"/>
            <a:ext cx="1371600" cy="606669"/>
          </a:xfrm>
          <a:prstGeom prst="round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2050" name="Picture 2" descr="Caixa Tampa Sapato Medida: 20x30x12 - 3mm">
            <a:extLst>
              <a:ext uri="{FF2B5EF4-FFF2-40B4-BE49-F238E27FC236}">
                <a16:creationId xmlns:a16="http://schemas.microsoft.com/office/drawing/2014/main" id="{4AF0CFC5-CB1E-C7ED-34C4-8C894B8CE6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69376" y="2699726"/>
            <a:ext cx="4648200" cy="34099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Mochila Saco em TNT CB 18505 | Célo Presentes Personalizados">
            <a:extLst>
              <a:ext uri="{FF2B5EF4-FFF2-40B4-BE49-F238E27FC236}">
                <a16:creationId xmlns:a16="http://schemas.microsoft.com/office/drawing/2014/main" id="{9D1D9185-5185-BCC4-DAD0-A0103616B5B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42677" y="2497016"/>
            <a:ext cx="3679947" cy="36799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CaixaDeTexto 13">
            <a:extLst>
              <a:ext uri="{FF2B5EF4-FFF2-40B4-BE49-F238E27FC236}">
                <a16:creationId xmlns:a16="http://schemas.microsoft.com/office/drawing/2014/main" id="{F5A10B96-3C0E-403F-5742-D557A3C6C448}"/>
              </a:ext>
            </a:extLst>
          </p:cNvPr>
          <p:cNvSpPr txBox="1"/>
          <p:nvPr/>
        </p:nvSpPr>
        <p:spPr>
          <a:xfrm>
            <a:off x="3031880" y="6311900"/>
            <a:ext cx="92319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400" dirty="0"/>
              <a:t>CHAR</a:t>
            </a:r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5DB9C59B-3357-E4BD-B326-51F407B56D68}"/>
              </a:ext>
            </a:extLst>
          </p:cNvPr>
          <p:cNvSpPr txBox="1"/>
          <p:nvPr/>
        </p:nvSpPr>
        <p:spPr>
          <a:xfrm>
            <a:off x="8491995" y="6227298"/>
            <a:ext cx="138130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400" dirty="0"/>
              <a:t>VARCHAR</a:t>
            </a:r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5D711219-99E7-7024-BCF6-8AF28AE1559F}"/>
              </a:ext>
            </a:extLst>
          </p:cNvPr>
          <p:cNvSpPr txBox="1"/>
          <p:nvPr/>
        </p:nvSpPr>
        <p:spPr>
          <a:xfrm>
            <a:off x="8740377" y="4336989"/>
            <a:ext cx="88454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>
                <a:solidFill>
                  <a:schemeClr val="bg1"/>
                </a:solidFill>
              </a:rPr>
              <a:t>Molde</a:t>
            </a:r>
            <a:r>
              <a:rPr lang="pt-BR" dirty="0"/>
              <a:t> </a:t>
            </a:r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E09EC1C3-EA7A-9767-C1C8-C1EBD4CD0D15}"/>
              </a:ext>
            </a:extLst>
          </p:cNvPr>
          <p:cNvSpPr txBox="1"/>
          <p:nvPr/>
        </p:nvSpPr>
        <p:spPr>
          <a:xfrm>
            <a:off x="2305781" y="3631962"/>
            <a:ext cx="23753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>
                <a:solidFill>
                  <a:schemeClr val="bg1"/>
                </a:solidFill>
              </a:rPr>
              <a:t>Caixa de tamanho Fixo</a:t>
            </a:r>
          </a:p>
        </p:txBody>
      </p:sp>
    </p:spTree>
    <p:extLst>
      <p:ext uri="{BB962C8B-B14F-4D97-AF65-F5344CB8AC3E}">
        <p14:creationId xmlns:p14="http://schemas.microsoft.com/office/powerpoint/2010/main" val="17990906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B56F5F-7B90-0286-D0AC-48C7B7559B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>
            <a:extLst>
              <a:ext uri="{FF2B5EF4-FFF2-40B4-BE49-F238E27FC236}">
                <a16:creationId xmlns:a16="http://schemas.microsoft.com/office/drawing/2014/main" id="{52668181-0034-E595-230A-A3E3760967D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8432ACAF-4D47-7516-C29C-FEB386218782}"/>
              </a:ext>
            </a:extLst>
          </p:cNvPr>
          <p:cNvSpPr txBox="1"/>
          <p:nvPr/>
        </p:nvSpPr>
        <p:spPr>
          <a:xfrm>
            <a:off x="4955931" y="404324"/>
            <a:ext cx="220393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Null X Zero</a:t>
            </a:r>
            <a:endParaRPr lang="pt-BR" sz="3600" dirty="0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F30DE2AE-7BE7-BB5B-0BD0-416B40B9805B}"/>
              </a:ext>
            </a:extLst>
          </p:cNvPr>
          <p:cNvSpPr txBox="1"/>
          <p:nvPr/>
        </p:nvSpPr>
        <p:spPr>
          <a:xfrm>
            <a:off x="1521069" y="1690688"/>
            <a:ext cx="3434862" cy="13542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800" dirty="0"/>
              <a:t>	     </a:t>
            </a:r>
            <a:r>
              <a:rPr lang="pt-BR" sz="2800" dirty="0" err="1"/>
              <a:t>Null</a:t>
            </a:r>
            <a:endParaRPr lang="pt-BR" sz="2800" dirty="0"/>
          </a:p>
          <a:p>
            <a:endParaRPr lang="pt-BR" dirty="0"/>
          </a:p>
          <a:p>
            <a:pPr marL="285750" indent="-285750" algn="ctr">
              <a:buFont typeface="Wingdings" panose="05000000000000000000" pitchFamily="2" charset="2"/>
              <a:buChar char="Ø"/>
            </a:pPr>
            <a:r>
              <a:rPr lang="pt-BR" dirty="0"/>
              <a:t>É a </a:t>
            </a:r>
            <a:r>
              <a:rPr lang="pt-BR" b="1" dirty="0"/>
              <a:t>ausência</a:t>
            </a:r>
            <a:r>
              <a:rPr lang="pt-BR" dirty="0"/>
              <a:t> de valor, indicando que o valor é desconhecido.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A08F799F-3F3F-9C9A-C4A7-A84CC4A27875}"/>
              </a:ext>
            </a:extLst>
          </p:cNvPr>
          <p:cNvSpPr txBox="1"/>
          <p:nvPr/>
        </p:nvSpPr>
        <p:spPr>
          <a:xfrm>
            <a:off x="7159870" y="1552188"/>
            <a:ext cx="3285392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800" dirty="0"/>
              <a:t>	    Zero</a:t>
            </a:r>
          </a:p>
          <a:p>
            <a:endParaRPr lang="pt-BR" dirty="0"/>
          </a:p>
          <a:p>
            <a:pPr marL="285750" indent="-285750" algn="ctr">
              <a:buFont typeface="Wingdings" panose="05000000000000000000" pitchFamily="2" charset="2"/>
              <a:buChar char="Ø"/>
            </a:pPr>
            <a:r>
              <a:rPr lang="pt-BR" dirty="0"/>
              <a:t>É um valor numérico </a:t>
            </a:r>
            <a:r>
              <a:rPr lang="pt-BR" b="1" dirty="0"/>
              <a:t>definido</a:t>
            </a:r>
            <a:r>
              <a:rPr lang="pt-BR" dirty="0"/>
              <a:t>, indicando que o valor foi preenchido.</a:t>
            </a:r>
          </a:p>
        </p:txBody>
      </p:sp>
      <p:pic>
        <p:nvPicPr>
          <p:cNvPr id="1028" name="Picture 4" descr="Suporte Papeleira Com Tampa Para Papel Higiénico Aço Inox">
            <a:extLst>
              <a:ext uri="{FF2B5EF4-FFF2-40B4-BE49-F238E27FC236}">
                <a16:creationId xmlns:a16="http://schemas.microsoft.com/office/drawing/2014/main" id="{F7002B80-0DCF-EF40-809F-5E2B97B61D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49944" y="3232823"/>
            <a:ext cx="2972020" cy="29899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Rolo de papel higiênico de papelão vazio isolado em um branco | Foto Premium">
            <a:extLst>
              <a:ext uri="{FF2B5EF4-FFF2-40B4-BE49-F238E27FC236}">
                <a16:creationId xmlns:a16="http://schemas.microsoft.com/office/drawing/2014/main" id="{CB8257F2-C99E-4E77-C501-117672B34C8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70038" y="3232823"/>
            <a:ext cx="2895800" cy="29380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5878435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B064B83-BBE8-AB9C-3837-D5ABFD7899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DE098A3-3313-D6DC-8532-4DE53AA3DE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FA095D6F-9375-E867-104F-6C3CECD605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ECE2C257-4F6A-6101-1056-A3881D4CA738}"/>
              </a:ext>
            </a:extLst>
          </p:cNvPr>
          <p:cNvSpPr txBox="1"/>
          <p:nvPr/>
        </p:nvSpPr>
        <p:spPr>
          <a:xfrm>
            <a:off x="4399084" y="427741"/>
            <a:ext cx="339383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Chaves Primárias (Primary Key/PK)</a:t>
            </a:r>
            <a:endParaRPr lang="pt-BR" sz="3600" dirty="0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B64C59C3-08AA-8374-466E-DA0706671028}"/>
              </a:ext>
            </a:extLst>
          </p:cNvPr>
          <p:cNvSpPr txBox="1"/>
          <p:nvPr/>
        </p:nvSpPr>
        <p:spPr>
          <a:xfrm>
            <a:off x="1151792" y="2004646"/>
            <a:ext cx="10067193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pt-BR" dirty="0"/>
              <a:t>É um ou mais campos (atributos) que identificam </a:t>
            </a:r>
            <a:r>
              <a:rPr lang="pt-BR" b="1" dirty="0"/>
              <a:t>unicamente</a:t>
            </a:r>
            <a:r>
              <a:rPr lang="pt-BR" dirty="0"/>
              <a:t> cada registro em uma tabela;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pt-BR" b="1" dirty="0"/>
              <a:t>NÃO pode conter valores nulos (NULL) nem valores duplicados;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pt-BR" b="1" dirty="0"/>
              <a:t>Cada tabela pode ter apenas uma chave primária</a:t>
            </a:r>
            <a:r>
              <a:rPr lang="pt-BR" dirty="0"/>
              <a:t>, mas essa chave pode envolver </a:t>
            </a:r>
            <a:r>
              <a:rPr lang="pt-BR" b="1" dirty="0"/>
              <a:t>mais de um campo</a:t>
            </a:r>
            <a:r>
              <a:rPr lang="pt-BR" dirty="0"/>
              <a:t> — nesse caso, é chamada de </a:t>
            </a:r>
            <a:r>
              <a:rPr lang="pt-BR" b="1" dirty="0"/>
              <a:t>chave primária composta;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pt-BR" dirty="0"/>
              <a:t>Em relacionamentos entre tabelas, uma chave primária pode ser combinada com a chave estrangeira de outra tabela para compor uma chave — esse conceito será abordado posteriormente.</a:t>
            </a:r>
            <a:endParaRPr lang="pt-BR" b="1" dirty="0"/>
          </a:p>
        </p:txBody>
      </p:sp>
      <p:pic>
        <p:nvPicPr>
          <p:cNvPr id="10" name="Imagem 9">
            <a:extLst>
              <a:ext uri="{FF2B5EF4-FFF2-40B4-BE49-F238E27FC236}">
                <a16:creationId xmlns:a16="http://schemas.microsoft.com/office/drawing/2014/main" id="{113EF2F1-197D-1844-6F0C-2BF3E74579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6309" y="4216082"/>
            <a:ext cx="1952898" cy="227679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cxnSp>
        <p:nvCxnSpPr>
          <p:cNvPr id="12" name="Conector de Seta Reta 11">
            <a:extLst>
              <a:ext uri="{FF2B5EF4-FFF2-40B4-BE49-F238E27FC236}">
                <a16:creationId xmlns:a16="http://schemas.microsoft.com/office/drawing/2014/main" id="{F585A59D-254F-29EF-B70C-08D56FE4D780}"/>
              </a:ext>
            </a:extLst>
          </p:cNvPr>
          <p:cNvCxnSpPr/>
          <p:nvPr/>
        </p:nvCxnSpPr>
        <p:spPr>
          <a:xfrm>
            <a:off x="2442758" y="4818185"/>
            <a:ext cx="240180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1EF7EAE5-3149-447A-A7E1-79CB2A4CE0A9}"/>
              </a:ext>
            </a:extLst>
          </p:cNvPr>
          <p:cNvSpPr txBox="1"/>
          <p:nvPr/>
        </p:nvSpPr>
        <p:spPr>
          <a:xfrm>
            <a:off x="5169878" y="4624754"/>
            <a:ext cx="177604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Chave Primária</a:t>
            </a:r>
          </a:p>
          <a:p>
            <a:r>
              <a:rPr lang="en-US" dirty="0"/>
              <a:t>da tabela pessoa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426091834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5CAF60-821D-41B0-1321-DD12AD3E57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F7610CA9-A525-DEF8-EFD5-D3278795D9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m 2">
            <a:extLst>
              <a:ext uri="{FF2B5EF4-FFF2-40B4-BE49-F238E27FC236}">
                <a16:creationId xmlns:a16="http://schemas.microsoft.com/office/drawing/2014/main" id="{42BC9A07-F41E-C7CA-21D9-EBDF1B10FA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1202" y="623496"/>
            <a:ext cx="11069595" cy="5611008"/>
          </a:xfrm>
          <a:prstGeom prst="rect">
            <a:avLst/>
          </a:prstGeom>
        </p:spPr>
      </p:pic>
      <p:pic>
        <p:nvPicPr>
          <p:cNvPr id="4" name="Imagem 3">
            <a:extLst>
              <a:ext uri="{FF2B5EF4-FFF2-40B4-BE49-F238E27FC236}">
                <a16:creationId xmlns:a16="http://schemas.microsoft.com/office/drawing/2014/main" id="{BDC71502-44BB-F246-42AE-0432E5FD993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3974" y="2139786"/>
            <a:ext cx="3986288" cy="36861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431977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7CF20C-200D-AF0B-25A7-9085C55518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615724C6-594E-A74B-815B-8BDB7699AAD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Imagem 3">
            <a:extLst>
              <a:ext uri="{FF2B5EF4-FFF2-40B4-BE49-F238E27FC236}">
                <a16:creationId xmlns:a16="http://schemas.microsoft.com/office/drawing/2014/main" id="{53F50F6E-34F6-F7C3-BB2D-A0914708228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34921" y="429887"/>
            <a:ext cx="3986288" cy="3686115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DA338D6E-F010-A04E-A77C-6CE75D3059A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3973" y="1371079"/>
            <a:ext cx="5786976" cy="2744923"/>
          </a:xfrm>
          <a:prstGeom prst="rect">
            <a:avLst/>
          </a:prstGeom>
        </p:spPr>
      </p:pic>
      <p:pic>
        <p:nvPicPr>
          <p:cNvPr id="8" name="Imagem 7">
            <a:extLst>
              <a:ext uri="{FF2B5EF4-FFF2-40B4-BE49-F238E27FC236}">
                <a16:creationId xmlns:a16="http://schemas.microsoft.com/office/drawing/2014/main" id="{8751F6F1-B851-6659-D9A9-826D279F2C1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2015" y="4545889"/>
            <a:ext cx="11007969" cy="1464296"/>
          </a:xfrm>
          <a:prstGeom prst="rect">
            <a:avLst/>
          </a:prstGeom>
        </p:spPr>
      </p:pic>
      <p:sp>
        <p:nvSpPr>
          <p:cNvPr id="9" name="CaixaDeTexto 8">
            <a:extLst>
              <a:ext uri="{FF2B5EF4-FFF2-40B4-BE49-F238E27FC236}">
                <a16:creationId xmlns:a16="http://schemas.microsoft.com/office/drawing/2014/main" id="{90918F9E-0E24-659C-C6B5-1D499D46C051}"/>
              </a:ext>
            </a:extLst>
          </p:cNvPr>
          <p:cNvSpPr txBox="1"/>
          <p:nvPr/>
        </p:nvSpPr>
        <p:spPr>
          <a:xfrm>
            <a:off x="823973" y="324595"/>
            <a:ext cx="279845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800" dirty="0"/>
              <a:t>Chave Estrangeira </a:t>
            </a:r>
          </a:p>
        </p:txBody>
      </p:sp>
    </p:spTree>
    <p:extLst>
      <p:ext uri="{BB962C8B-B14F-4D97-AF65-F5344CB8AC3E}">
        <p14:creationId xmlns:p14="http://schemas.microsoft.com/office/powerpoint/2010/main" val="213891090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687667-6958-72C3-6967-E22DDCC2FE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E9C6CBBA-735D-3E88-2B32-08231E50476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074" name="Picture 2" descr="11 Contratos de Aluguel simples e Curtos">
            <a:extLst>
              <a:ext uri="{FF2B5EF4-FFF2-40B4-BE49-F238E27FC236}">
                <a16:creationId xmlns:a16="http://schemas.microsoft.com/office/drawing/2014/main" id="{C839328C-A2D4-C4B5-8725-6AA7C83644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7880" y="622112"/>
            <a:ext cx="2560857" cy="36224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 descr="Página 2 | Apartamento desenho png Imagens – Download Grátis no Freepik">
            <a:extLst>
              <a:ext uri="{FF2B5EF4-FFF2-40B4-BE49-F238E27FC236}">
                <a16:creationId xmlns:a16="http://schemas.microsoft.com/office/drawing/2014/main" id="{BB73F133-BF85-8502-3086-E42329743D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05118" y="927588"/>
            <a:ext cx="3028951" cy="30289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6" name="Picture 14" descr="Loiras caucasiano fêmea apartamento locatário Preto e branco 2d desenho  animado personagem. europeu adulto mulher recebendo chave isolado vetor  esboço pessoa. renda inquilino senhora monocromático plano local ilustração  35464860 Vetor no Vecteezy">
            <a:extLst>
              <a:ext uri="{FF2B5EF4-FFF2-40B4-BE49-F238E27FC236}">
                <a16:creationId xmlns:a16="http://schemas.microsoft.com/office/drawing/2014/main" id="{CA835FFA-29E8-BD85-3299-738DE6FF15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93238" y="1303513"/>
            <a:ext cx="2955817" cy="22596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7" name="Conector de Seta Reta 6">
            <a:extLst>
              <a:ext uri="{FF2B5EF4-FFF2-40B4-BE49-F238E27FC236}">
                <a16:creationId xmlns:a16="http://schemas.microsoft.com/office/drawing/2014/main" id="{4D4A8679-5E51-5FC3-FF52-A3C70F7932D2}"/>
              </a:ext>
            </a:extLst>
          </p:cNvPr>
          <p:cNvCxnSpPr>
            <a:cxnSpLocks/>
            <a:stCxn id="3074" idx="3"/>
          </p:cNvCxnSpPr>
          <p:nvPr/>
        </p:nvCxnSpPr>
        <p:spPr>
          <a:xfrm flipV="1">
            <a:off x="3358737" y="2433325"/>
            <a:ext cx="1345148" cy="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CaixaDeTexto 9">
            <a:extLst>
              <a:ext uri="{FF2B5EF4-FFF2-40B4-BE49-F238E27FC236}">
                <a16:creationId xmlns:a16="http://schemas.microsoft.com/office/drawing/2014/main" id="{84157A5A-4E04-2851-ABD2-1E18F41C3074}"/>
              </a:ext>
            </a:extLst>
          </p:cNvPr>
          <p:cNvSpPr txBox="1"/>
          <p:nvPr/>
        </p:nvSpPr>
        <p:spPr>
          <a:xfrm>
            <a:off x="3358737" y="2486024"/>
            <a:ext cx="13451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Depende de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B8B7877D-8BC4-6D15-A707-B28AF5255957}"/>
              </a:ext>
            </a:extLst>
          </p:cNvPr>
          <p:cNvSpPr txBox="1"/>
          <p:nvPr/>
        </p:nvSpPr>
        <p:spPr>
          <a:xfrm>
            <a:off x="928177" y="252780"/>
            <a:ext cx="23002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Chave Estrangeira (FK)</a:t>
            </a: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00A8ACA2-7835-8C6C-6AEB-3707A1A9F4DC}"/>
              </a:ext>
            </a:extLst>
          </p:cNvPr>
          <p:cNvSpPr txBox="1"/>
          <p:nvPr/>
        </p:nvSpPr>
        <p:spPr>
          <a:xfrm>
            <a:off x="5118406" y="252780"/>
            <a:ext cx="16089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Chave Primária</a:t>
            </a:r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BE822A22-FCD6-BEFC-4F6E-C6D4C6D2A55B}"/>
              </a:ext>
            </a:extLst>
          </p:cNvPr>
          <p:cNvSpPr txBox="1"/>
          <p:nvPr/>
        </p:nvSpPr>
        <p:spPr>
          <a:xfrm>
            <a:off x="9894640" y="252780"/>
            <a:ext cx="10111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Entidade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276ECD7C-0DB9-1AC0-4734-4B94FC5E9774}"/>
              </a:ext>
            </a:extLst>
          </p:cNvPr>
          <p:cNvSpPr txBox="1"/>
          <p:nvPr/>
        </p:nvSpPr>
        <p:spPr>
          <a:xfrm>
            <a:off x="474785" y="4475090"/>
            <a:ext cx="10155115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Perguntas:</a:t>
            </a:r>
            <a:br>
              <a:rPr lang="pt-BR" dirty="0"/>
            </a:br>
            <a:endParaRPr lang="pt-B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Podemos deletar o apartamento enquanto houver um morador residindo lá dentro? R: Não, precisamos primeiro resolver o contrato (remover a FK) para depois excluir o imóvel (PK).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Se o prédio for demolido, o que acontece com os contratos de aluguel ligados a ele? R: São automaticamente cancelados (Cascata).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Podemos registrar um aluguel para um apartamento se este não existe? R: Não, o banco impede quando nota a inexistência.</a:t>
            </a:r>
          </a:p>
          <a:p>
            <a:pPr marL="285750" indent="-285750">
              <a:buFontTx/>
              <a:buChar char="-"/>
            </a:pPr>
            <a:endParaRPr lang="pt-BR" dirty="0"/>
          </a:p>
        </p:txBody>
      </p:sp>
      <p:cxnSp>
        <p:nvCxnSpPr>
          <p:cNvPr id="16" name="Conector de Seta Reta 15">
            <a:extLst>
              <a:ext uri="{FF2B5EF4-FFF2-40B4-BE49-F238E27FC236}">
                <a16:creationId xmlns:a16="http://schemas.microsoft.com/office/drawing/2014/main" id="{D251C177-B4E6-0964-A205-421C3CBF3408}"/>
              </a:ext>
            </a:extLst>
          </p:cNvPr>
          <p:cNvCxnSpPr>
            <a:cxnSpLocks/>
            <a:stCxn id="3086" idx="1"/>
          </p:cNvCxnSpPr>
          <p:nvPr/>
        </p:nvCxnSpPr>
        <p:spPr>
          <a:xfrm flipH="1">
            <a:off x="7165731" y="2433325"/>
            <a:ext cx="1227507" cy="873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01F6887D-ECAE-F1D1-34BB-104D8E0459BB}"/>
              </a:ext>
            </a:extLst>
          </p:cNvPr>
          <p:cNvSpPr txBox="1"/>
          <p:nvPr/>
        </p:nvSpPr>
        <p:spPr>
          <a:xfrm>
            <a:off x="7410488" y="2046246"/>
            <a:ext cx="7297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Aluga</a:t>
            </a:r>
          </a:p>
        </p:txBody>
      </p:sp>
      <p:cxnSp>
        <p:nvCxnSpPr>
          <p:cNvPr id="25" name="Conector: Curvo 24">
            <a:extLst>
              <a:ext uri="{FF2B5EF4-FFF2-40B4-BE49-F238E27FC236}">
                <a16:creationId xmlns:a16="http://schemas.microsoft.com/office/drawing/2014/main" id="{E2DE417D-5304-249F-4F6B-BFDFA0A06188}"/>
              </a:ext>
            </a:extLst>
          </p:cNvPr>
          <p:cNvCxnSpPr>
            <a:cxnSpLocks/>
            <a:stCxn id="3074" idx="2"/>
            <a:endCxn id="3086" idx="2"/>
          </p:cNvCxnSpPr>
          <p:nvPr/>
        </p:nvCxnSpPr>
        <p:spPr>
          <a:xfrm rot="5400000" flipH="1" flipV="1">
            <a:off x="5634025" y="7420"/>
            <a:ext cx="681406" cy="7792838"/>
          </a:xfrm>
          <a:prstGeom prst="curvedConnector3">
            <a:avLst>
              <a:gd name="adj1" fmla="val -33548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7" name="CaixaDeTexto 26">
            <a:extLst>
              <a:ext uri="{FF2B5EF4-FFF2-40B4-BE49-F238E27FC236}">
                <a16:creationId xmlns:a16="http://schemas.microsoft.com/office/drawing/2014/main" id="{10668471-BB7A-0D27-D125-54C71E644EA9}"/>
              </a:ext>
            </a:extLst>
          </p:cNvPr>
          <p:cNvSpPr txBox="1"/>
          <p:nvPr/>
        </p:nvSpPr>
        <p:spPr>
          <a:xfrm>
            <a:off x="5254748" y="4059876"/>
            <a:ext cx="13296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Depende de</a:t>
            </a:r>
          </a:p>
        </p:txBody>
      </p:sp>
    </p:spTree>
    <p:extLst>
      <p:ext uri="{BB962C8B-B14F-4D97-AF65-F5344CB8AC3E}">
        <p14:creationId xmlns:p14="http://schemas.microsoft.com/office/powerpoint/2010/main" val="86295462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A8BECA-4C3C-99DF-E28B-6B3F909780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87CB8BAB-D6EB-CE4A-1CF1-B58D0C090EE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DD962760-3318-0812-BCDC-A2440EDDB981}"/>
              </a:ext>
            </a:extLst>
          </p:cNvPr>
          <p:cNvSpPr txBox="1"/>
          <p:nvPr/>
        </p:nvSpPr>
        <p:spPr>
          <a:xfrm>
            <a:off x="4410898" y="206292"/>
            <a:ext cx="337020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err="1"/>
              <a:t>Relacionamentos</a:t>
            </a:r>
            <a:endParaRPr lang="pt-BR" sz="3600" dirty="0"/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13E55CD4-CA99-B00F-6B80-E3BE9FF4F0A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6361" y="1058914"/>
            <a:ext cx="11799277" cy="34163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t-BR" altLang="pt-B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Conexões lógicas entre entidades</a:t>
            </a:r>
            <a:r>
              <a:rPr kumimoji="0" lang="pt-BR" altLang="pt-B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que representam como os dados em diferentes tabelas estão associados uns aos outros.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t-BR" altLang="pt-B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No modelo relacional, </a:t>
            </a:r>
            <a:r>
              <a:rPr kumimoji="0" lang="pt-BR" altLang="pt-B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relacionamentos</a:t>
            </a:r>
            <a:r>
              <a:rPr kumimoji="0" lang="pt-BR" altLang="pt-B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ajudam a manter a </a:t>
            </a:r>
            <a:r>
              <a:rPr kumimoji="0" lang="pt-BR" altLang="pt-B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integridade referencial</a:t>
            </a:r>
            <a:r>
              <a:rPr kumimoji="0" lang="pt-BR" altLang="pt-B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evitando dados duplicados e inconsistentes.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pt-BR" altLang="pt-BR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t-BR" altLang="pt-B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Classificação: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pt-BR" altLang="pt-BR" dirty="0">
              <a:latin typeface="Arial" panose="020B0604020202020204" pitchFamily="34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lang="pt-BR" altLang="pt-BR" dirty="0">
                <a:latin typeface="Arial" panose="020B0604020202020204" pitchFamily="34" charset="0"/>
              </a:rPr>
              <a:t>1:1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pt-BR" altLang="pt-B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1:N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lang="pt-BR" altLang="pt-BR" dirty="0">
                <a:latin typeface="Arial" panose="020B0604020202020204" pitchFamily="34" charset="0"/>
              </a:rPr>
              <a:t>N:M</a:t>
            </a:r>
            <a:endParaRPr kumimoji="0" lang="pt-BR" altLang="pt-B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pt-BR" altLang="pt-BR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altLang="pt-B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8967838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486754-F893-FFE8-C9AC-BF152A1D27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7CDF19D8-D023-97C1-C351-BB13D9D6ACF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0560B9EA-699B-2624-3A61-689A6CE7E79F}"/>
              </a:ext>
            </a:extLst>
          </p:cNvPr>
          <p:cNvSpPr txBox="1"/>
          <p:nvPr/>
        </p:nvSpPr>
        <p:spPr>
          <a:xfrm>
            <a:off x="4384453" y="259181"/>
            <a:ext cx="342309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err="1"/>
              <a:t>Relacionamentos</a:t>
            </a:r>
            <a:endParaRPr lang="pt-BR" sz="3600" dirty="0"/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EBDEA277-FB7F-1599-9D6E-A8ADDBE481DB}"/>
              </a:ext>
            </a:extLst>
          </p:cNvPr>
          <p:cNvSpPr txBox="1"/>
          <p:nvPr/>
        </p:nvSpPr>
        <p:spPr>
          <a:xfrm>
            <a:off x="1501553" y="1933659"/>
            <a:ext cx="936573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Esse tipo de relacionamento é menos comum, mas útil quando há a necessidade de </a:t>
            </a:r>
            <a:r>
              <a:rPr lang="pt-BR" b="1" dirty="0"/>
              <a:t>separar dados sensíveis</a:t>
            </a:r>
            <a:r>
              <a:rPr lang="pt-BR" dirty="0"/>
              <a:t> ou dividir lógicas distintas. Por exemplo, em um sistema de RH, cada funcionário pode ter um único registro de pagamento.</a:t>
            </a:r>
            <a:endParaRPr lang="pt-BR" sz="2000" dirty="0"/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C5B9BC37-7543-7A56-6CF1-FF6B73B33410}"/>
              </a:ext>
            </a:extLst>
          </p:cNvPr>
          <p:cNvSpPr txBox="1"/>
          <p:nvPr/>
        </p:nvSpPr>
        <p:spPr>
          <a:xfrm>
            <a:off x="4967018" y="4088921"/>
            <a:ext cx="3604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pt-BR" dirty="0"/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93974DFA-F905-D069-B6FF-32170BA0CC24}"/>
              </a:ext>
            </a:extLst>
          </p:cNvPr>
          <p:cNvSpPr txBox="1"/>
          <p:nvPr/>
        </p:nvSpPr>
        <p:spPr>
          <a:xfrm>
            <a:off x="6507213" y="4522674"/>
            <a:ext cx="3604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pt-BR" dirty="0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8C780A52-69E7-7408-2610-3969B90C49CD}"/>
              </a:ext>
            </a:extLst>
          </p:cNvPr>
          <p:cNvSpPr txBox="1"/>
          <p:nvPr/>
        </p:nvSpPr>
        <p:spPr>
          <a:xfrm>
            <a:off x="1501553" y="3433161"/>
            <a:ext cx="936573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/>
              <a:t>É o tipo mais frequente de relacionamento em bancos de dados. Imagine um cliente que faz vários pedidos: temos uma relação </a:t>
            </a:r>
            <a:r>
              <a:rPr lang="pt-BR" b="1" dirty="0"/>
              <a:t>1 cliente → N pedidos</a:t>
            </a:r>
            <a:r>
              <a:rPr lang="pt-BR" dirty="0"/>
              <a:t>. Isso permite organizar o sistema de forma escalável, mantendo os dados centralizados e fáceis de acessar.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E6009464-39C9-3303-5C0B-B709ECD7FA42}"/>
              </a:ext>
            </a:extLst>
          </p:cNvPr>
          <p:cNvSpPr txBox="1"/>
          <p:nvPr/>
        </p:nvSpPr>
        <p:spPr>
          <a:xfrm>
            <a:off x="1501554" y="4915315"/>
            <a:ext cx="9365735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/>
              <a:t>Esse relacionamento ocorre quando várias instâncias de uma entidade se relacionam com várias instâncias de outra. Como não é possível representar isso diretamente em bancos relacionais, utilizamos </a:t>
            </a:r>
            <a:r>
              <a:rPr lang="pt-BR" b="1" dirty="0"/>
              <a:t>tabelas associativas</a:t>
            </a:r>
            <a:r>
              <a:rPr lang="pt-BR" dirty="0"/>
              <a:t> para intermediar a conexão.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3BE60FD6-3EC8-1F45-1207-4C1754EDAB36}"/>
              </a:ext>
            </a:extLst>
          </p:cNvPr>
          <p:cNvSpPr txBox="1"/>
          <p:nvPr/>
        </p:nvSpPr>
        <p:spPr>
          <a:xfrm>
            <a:off x="1501553" y="1471994"/>
            <a:ext cx="303527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 sz="2400" u="sng" dirty="0" err="1"/>
              <a:t>Relacionamento</a:t>
            </a:r>
            <a:r>
              <a:rPr lang="en-US" sz="2400" u="sng" dirty="0"/>
              <a:t> 1:1</a:t>
            </a:r>
            <a:endParaRPr lang="pt-BR" sz="2400" u="sng" dirty="0"/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C452D7D9-E423-D10D-4B90-2420080A304B}"/>
              </a:ext>
            </a:extLst>
          </p:cNvPr>
          <p:cNvSpPr txBox="1"/>
          <p:nvPr/>
        </p:nvSpPr>
        <p:spPr>
          <a:xfrm>
            <a:off x="1501553" y="3023172"/>
            <a:ext cx="303527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 sz="2400" u="sng" dirty="0" err="1"/>
              <a:t>Relacionamento</a:t>
            </a:r>
            <a:r>
              <a:rPr lang="en-US" sz="2400" u="sng" dirty="0"/>
              <a:t> 1:N</a:t>
            </a:r>
            <a:endParaRPr lang="pt-BR" sz="2400" u="sng" dirty="0"/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CF2E11E0-70E1-0BED-870C-87B5415F33FF}"/>
              </a:ext>
            </a:extLst>
          </p:cNvPr>
          <p:cNvSpPr txBox="1"/>
          <p:nvPr/>
        </p:nvSpPr>
        <p:spPr>
          <a:xfrm>
            <a:off x="1501553" y="4494762"/>
            <a:ext cx="314957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 sz="2400" u="sng" dirty="0" err="1"/>
              <a:t>Relacionamento</a:t>
            </a:r>
            <a:r>
              <a:rPr lang="en-US" sz="2400" u="sng" dirty="0"/>
              <a:t> N:M</a:t>
            </a:r>
            <a:endParaRPr lang="pt-BR" sz="2400" u="sng" dirty="0"/>
          </a:p>
        </p:txBody>
      </p:sp>
    </p:spTree>
    <p:extLst>
      <p:ext uri="{BB962C8B-B14F-4D97-AF65-F5344CB8AC3E}">
        <p14:creationId xmlns:p14="http://schemas.microsoft.com/office/powerpoint/2010/main" val="39538126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866481-F034-D263-E8C1-35AC7AC87E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0D408057-026C-7F76-6DDF-5A669224322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B0B2CFFE-468D-47DE-52B5-D34A3C4C080A}"/>
              </a:ext>
            </a:extLst>
          </p:cNvPr>
          <p:cNvSpPr txBox="1"/>
          <p:nvPr/>
        </p:nvSpPr>
        <p:spPr>
          <a:xfrm>
            <a:off x="5092222" y="267973"/>
            <a:ext cx="20075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err="1"/>
              <a:t>Exercícios</a:t>
            </a:r>
            <a:endParaRPr lang="pt-BR" sz="3600" dirty="0"/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DB355F37-19B1-A6C4-9E03-8D4D74D5DBB4}"/>
              </a:ext>
            </a:extLst>
          </p:cNvPr>
          <p:cNvSpPr txBox="1"/>
          <p:nvPr/>
        </p:nvSpPr>
        <p:spPr>
          <a:xfrm>
            <a:off x="1413130" y="1734430"/>
            <a:ext cx="9365737" cy="4708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pt-BR" sz="2000" dirty="0"/>
              <a:t>Se um cliente mudar de endereço, e os dados de endereço estiverem repetidos em cada linha da tabela de "Pedidos", o que acontece se esquecermos de atualizar uma dessas linhas?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pt-BR" sz="2000" dirty="0"/>
              <a:t>Por que não é recomendável usar o nome completo de uma pessoa como Chave Primária (PK), mesmo que, no momento do cadastro, não existam nomes iguais?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pt-BR" sz="2000" dirty="0"/>
              <a:t>Em um cadastro de hospital, qual a diferença prática entre um campo </a:t>
            </a:r>
            <a:r>
              <a:rPr lang="pt-BR" dirty="0" err="1"/>
              <a:t>Data_de_Óbito</a:t>
            </a:r>
            <a:r>
              <a:rPr lang="pt-BR" sz="2000" dirty="0"/>
              <a:t> com valor "0" e um com valor "NULL"?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pt-BR" sz="2000" dirty="0"/>
              <a:t>Se tentarmos cadastrar uma nota para um aluno que ainda não foi matriculado no sistema, qual conceito de banco de dados deve impedir essa ação?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pt-BR" sz="2000" dirty="0"/>
              <a:t>Em um sistema de biblioteca, onde um autor escreve vários livros, em qual das duas tabelas deve ficar a "ponte" (Chave Estrangeira)? Na tabela do Autor ou na tabela do Livro?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pt-BR" sz="2000" dirty="0"/>
              <a:t>Por que o banco de dados nos impede de excluir um "Curso" enquanto ainda existirem "Alunos" matriculados nele?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pt-BR" sz="2000" dirty="0"/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36743385-655B-1414-FF26-6E2D7D61640C}"/>
              </a:ext>
            </a:extLst>
          </p:cNvPr>
          <p:cNvSpPr txBox="1"/>
          <p:nvPr/>
        </p:nvSpPr>
        <p:spPr>
          <a:xfrm>
            <a:off x="4967018" y="4088921"/>
            <a:ext cx="3604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pt-BR" dirty="0"/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7F95DA6C-DB25-033D-7C53-0FB633DFC86D}"/>
              </a:ext>
            </a:extLst>
          </p:cNvPr>
          <p:cNvSpPr txBox="1"/>
          <p:nvPr/>
        </p:nvSpPr>
        <p:spPr>
          <a:xfrm>
            <a:off x="6507213" y="4522674"/>
            <a:ext cx="3604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57355876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E5A29D-EECF-8F96-DD7B-05ABF0A981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BEFF9796-4F3C-E592-4B18-51C2656BF23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17BAF9C2-1D7C-0E25-4C03-64A1592E557F}"/>
              </a:ext>
            </a:extLst>
          </p:cNvPr>
          <p:cNvSpPr txBox="1"/>
          <p:nvPr/>
        </p:nvSpPr>
        <p:spPr>
          <a:xfrm>
            <a:off x="5092222" y="267973"/>
            <a:ext cx="20075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err="1"/>
              <a:t>Exercícios</a:t>
            </a:r>
            <a:endParaRPr lang="pt-BR" sz="3600" dirty="0"/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98ADC3FF-30C1-89ED-234C-F88FF3DE53C6}"/>
              </a:ext>
            </a:extLst>
          </p:cNvPr>
          <p:cNvSpPr txBox="1"/>
          <p:nvPr/>
        </p:nvSpPr>
        <p:spPr>
          <a:xfrm>
            <a:off x="1413130" y="1581520"/>
            <a:ext cx="9365737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pt-BR" sz="2000" dirty="0"/>
              <a:t>Se você precisa guardar apenas "Sim" ou "Não", por que usar um campo de texto livre (VARCHAR) seria uma má escolha de </a:t>
            </a:r>
            <a:r>
              <a:rPr lang="pt-BR" sz="2000" dirty="0" err="1"/>
              <a:t>modelagem?Por</a:t>
            </a:r>
            <a:r>
              <a:rPr lang="pt-BR" sz="2000" dirty="0"/>
              <a:t> que não é recomendável usar o nome completo de uma pessoa como Chave Primária (PK), mesmo que, no momento do cadastro, não existam nomes iguais?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pt-BR" sz="2000" dirty="0"/>
              <a:t>No meio de uma transferência bancária, a energia do servidor cai. Por que o saldo não pode ter saído de uma conta sem ter entrado na outra?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pt-BR" sz="2000" dirty="0"/>
              <a:t>Por que as Chaves Estrangeiras são vitais para evitar que o banco de dados se torne um amontoado de "dados órfãos" (informações que existem, mas não se ligam a nada)?</a:t>
            </a: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CBEA2EA4-A78A-8B5E-AA1F-4196E562CF49}"/>
              </a:ext>
            </a:extLst>
          </p:cNvPr>
          <p:cNvSpPr txBox="1"/>
          <p:nvPr/>
        </p:nvSpPr>
        <p:spPr>
          <a:xfrm>
            <a:off x="4967018" y="4088921"/>
            <a:ext cx="3604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pt-BR" dirty="0"/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9C64B2D7-0591-491D-A57C-CBD92E9433A2}"/>
              </a:ext>
            </a:extLst>
          </p:cNvPr>
          <p:cNvSpPr txBox="1"/>
          <p:nvPr/>
        </p:nvSpPr>
        <p:spPr>
          <a:xfrm>
            <a:off x="6507213" y="4522674"/>
            <a:ext cx="3604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419126117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F73D6E-FC32-50DA-1CBC-9FDC465B15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D33F163-C736-9349-5711-22D353FEFD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3625611-E7FA-1D72-494A-0AFBC3CF9F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743371B3-3339-12F0-DD89-453EBF0A0E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C30338DA-9061-D8D4-B5A5-66A14A047FD4}"/>
              </a:ext>
            </a:extLst>
          </p:cNvPr>
          <p:cNvSpPr txBox="1"/>
          <p:nvPr/>
        </p:nvSpPr>
        <p:spPr>
          <a:xfrm>
            <a:off x="3924300" y="2413337"/>
            <a:ext cx="434340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dirty="0">
                <a:solidFill>
                  <a:schemeClr val="accent5">
                    <a:lumMod val="75000"/>
                  </a:schemeClr>
                </a:solidFill>
              </a:rPr>
              <a:t>AULA CONCLUÍDA!</a:t>
            </a:r>
            <a:endParaRPr lang="pt-BR" sz="6000" dirty="0">
              <a:solidFill>
                <a:schemeClr val="accent5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3284663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1793</TotalTime>
  <Words>1071</Words>
  <Application>Microsoft Office PowerPoint</Application>
  <PresentationFormat>Widescreen</PresentationFormat>
  <Paragraphs>122</Paragraphs>
  <Slides>18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18</vt:i4>
      </vt:variant>
    </vt:vector>
  </HeadingPairs>
  <TitlesOfParts>
    <vt:vector size="24" baseType="lpstr">
      <vt:lpstr>Arial</vt:lpstr>
      <vt:lpstr>Calibri</vt:lpstr>
      <vt:lpstr>Calibri Light</vt:lpstr>
      <vt:lpstr>Courier New</vt:lpstr>
      <vt:lpstr>Wingdings</vt:lpstr>
      <vt:lpstr>Tema do Office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Felipe Reis</dc:creator>
  <cp:lastModifiedBy>Felipe Tagawa</cp:lastModifiedBy>
  <cp:revision>9</cp:revision>
  <dcterms:created xsi:type="dcterms:W3CDTF">2025-07-17T15:58:05Z</dcterms:created>
  <dcterms:modified xsi:type="dcterms:W3CDTF">2026-02-20T00:22:36Z</dcterms:modified>
</cp:coreProperties>
</file>