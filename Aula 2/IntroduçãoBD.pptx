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71" r:id="rId7"/>
    <p:sldId id="272" r:id="rId8"/>
    <p:sldId id="264" r:id="rId9"/>
    <p:sldId id="263" r:id="rId10"/>
    <p:sldId id="261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66D05-5E24-33BF-801F-78EF3CC22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92E566-4F7F-3564-09B2-9AA2CAFA8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ECC3AD-18CF-C373-82E1-2F6ADEE61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63B2040-78C9-8745-F35D-EF11E515E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81EFC78-D113-1835-803D-D7950AD4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9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D03E4-65C7-6593-B5D9-BD43F5CC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4D748A-D7DC-6AF6-0A9D-42EE1A617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C1F43-955F-F284-E52B-96BA73CF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581143-3F69-7D97-15B4-69F90411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12B4A7-5B6D-CE06-1474-8152CE4C9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260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AF45D-7CC4-DAF0-F92E-9503919E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84446F-69DE-17E3-1834-C6E1D8381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1C1E53-8076-5532-F637-209CC460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7B2FC7-E025-DE2F-9266-076106F64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4B7233-721C-65ED-5A48-5DD0AB44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590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B61AE-BDA8-4C78-A9DA-828AA1293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C8D7EF-96E4-CE37-CB3B-01B6E53C77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D215D9C-4CAA-2A0B-8630-4CA95CB05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26DCE2-7E90-4DC6-15F8-EE3D801F3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88BBA6-2AF8-48A3-B2EF-7AC9E0D6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20C3E75-6F57-4D54-4FBF-C5C751770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7019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C3A99-536B-7AFE-28AA-EED60F2B8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0D7D7C-900A-CE79-35D3-928D1892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331FAA5-3656-CC7D-B2FD-5EA22B0C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B0C700E-296D-A95B-7B4A-B7B57EF03F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AE0995-EB67-0DA4-6493-D5A71E988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045AFE-E853-B107-5B5B-7414A75E8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4681C3B-8E7A-D99F-6E7A-E62C1D9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2B4F2-19FC-BF30-3660-FEE2608D8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0260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29450A-ECDB-AE4A-676E-4AC03A3F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E8266F-101B-1E35-4F75-13CF6791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075E159-E392-08D4-8DD3-96CCDF1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355A25A-A42C-DC3A-385A-81BAD7DC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71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F8965C-703D-D0F1-405F-F0EE866CE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69E630B-E994-3AF0-38BA-4424BEB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32EE82-EC7C-A46D-A6F9-D0A95D247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833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D3032-EFD8-CF46-E874-0BECE203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C26BB1-FD8E-0701-52A9-7CFF97B8F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5EDEB8-D4A2-ACDE-114C-82B33E82B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0A5CB5-5450-DE4C-4227-EF24E040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47DC88D-3C25-7A53-1C03-BC624FC6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EB4D63-40FF-0D4B-13D9-A6D181AB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91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3D738B-7BCC-4FCF-7591-DC7B9A17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73AE3A-3152-BA0E-9CD8-8E4320A19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D656892-2A17-1153-8069-C6925B97F2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16881-A0DA-97F4-6317-C02775E75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4371B19-F6BB-9C24-DD83-D1E7B2028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E0EEBA-E23B-5848-6443-E03189C5A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14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2C9CA-F1E5-FF2E-921C-AD52A3DC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9BD8E9-0A2B-C061-C70C-C3F70A09D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6CD184-049D-93BC-ADFE-06F757BF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3D6FFC-C1ED-5A9D-2094-DD3CC906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D0B10A-F8B5-C6D2-3FEA-4B4EC6AE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49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C0FF676-4324-F294-99BE-AB1FD834A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879113-B5D4-24F6-59D8-097AC80BB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0184AF-CC75-CB46-EDFE-8210F2EB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B5C0B6-9875-C2A1-8F76-DF096D9F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D3A412-E7E0-F4A8-B68D-98795D06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21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FE8E7C6-4948-E3AC-8897-466C8618E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6682EE-8C1B-7051-425C-B1739304B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EAB68A-98F2-4B2E-F0D2-990427860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3E696-207E-4958-8130-FF51108F7A86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F172A0-C762-EC83-DD34-413B6AF23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1D855C-CA58-81AE-11FC-EA68E523C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689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D9A92-26DC-45D3-C254-7A9BBFED12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B5D45A-48DB-36EA-4530-E7B033A973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513EBAF-93F3-1B28-C6F8-D7D7D1CAC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203723" cy="685800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9001E6E-B9F0-2839-EE2E-690FCA50D6A9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Introdução a Banco de Dados Relacionais</a:t>
            </a:r>
            <a:endParaRPr lang="pt-BR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2918265-162C-5A48-27BB-E867F7A03A5E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CAE585-3A47-F69A-7EB8-BF8F308CE487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859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290AE22-E4FF-A407-1354-05C1DB39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155F15B-B75A-1E12-471B-0B4EE238AAC0}"/>
              </a:ext>
            </a:extLst>
          </p:cNvPr>
          <p:cNvSpPr txBox="1"/>
          <p:nvPr/>
        </p:nvSpPr>
        <p:spPr>
          <a:xfrm>
            <a:off x="720968" y="1450731"/>
            <a:ext cx="4170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São sistemas de gerenciamento e armazenamento de dados em tabelas estruturadas com linhas e colunas, onde as informações são distribuídas e organizadas de forma lógica e inter-</a:t>
            </a:r>
            <a:r>
              <a:rPr lang="en-US" sz="2400" dirty="0" err="1"/>
              <a:t>relacionada</a:t>
            </a:r>
            <a:r>
              <a:rPr lang="en-US" sz="2400" dirty="0"/>
              <a:t>.</a:t>
            </a:r>
            <a:endParaRPr lang="pt-BR" sz="24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8DE015-0AE8-0A49-75FD-BB516AD1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912" y="1248508"/>
            <a:ext cx="6142573" cy="49295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2" descr="ANÁLISE COMPARATIVA ENTRE BANCO DE DADOS RELACIONAL E NEWSQL EM UM SISTEMA  DE PEQUENO PORTE">
            <a:extLst>
              <a:ext uri="{FF2B5EF4-FFF2-40B4-BE49-F238E27FC236}">
                <a16:creationId xmlns:a16="http://schemas.microsoft.com/office/drawing/2014/main" id="{DD498767-D8C2-37EE-C15C-53B180CC8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38" y="4497719"/>
            <a:ext cx="4328747" cy="206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FE072230-7C4F-F72D-3728-915BD50BE4A5}"/>
              </a:ext>
            </a:extLst>
          </p:cNvPr>
          <p:cNvSpPr txBox="1"/>
          <p:nvPr/>
        </p:nvSpPr>
        <p:spPr>
          <a:xfrm>
            <a:off x="3568212" y="360484"/>
            <a:ext cx="5055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Bancos</a:t>
            </a:r>
            <a:r>
              <a:rPr lang="en-US" sz="3200" dirty="0"/>
              <a:t> de Dados </a:t>
            </a:r>
            <a:r>
              <a:rPr lang="en-US" sz="3200" dirty="0" err="1"/>
              <a:t>Relacionais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031300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24A81F-FB2A-8C0A-B028-8D100530B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0A59D2-3DFC-7F99-AA0D-6A9D525F4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E96833-C58D-A904-75A9-1A3FBBAEB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B183E33-21E7-CBCA-C10C-9C7F7F4252F7}"/>
              </a:ext>
            </a:extLst>
          </p:cNvPr>
          <p:cNvSpPr txBox="1"/>
          <p:nvPr/>
        </p:nvSpPr>
        <p:spPr>
          <a:xfrm>
            <a:off x="5361784" y="507245"/>
            <a:ext cx="1679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Tabelas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A7230C-3228-D2F1-D70B-D45A7FAEE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71" y="2350851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19C0B14-793A-F183-C623-67F4538F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450" y="2523392"/>
            <a:ext cx="5323292" cy="20409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5A1F8F2-3D47-AFBA-07AB-CC6C2B6C6107}"/>
              </a:ext>
            </a:extLst>
          </p:cNvPr>
          <p:cNvCxnSpPr>
            <a:cxnSpLocks/>
          </p:cNvCxnSpPr>
          <p:nvPr/>
        </p:nvCxnSpPr>
        <p:spPr>
          <a:xfrm>
            <a:off x="3226777" y="3443547"/>
            <a:ext cx="24618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1F69BD2-7A79-07E2-2082-7D0BE7DD3F87}"/>
              </a:ext>
            </a:extLst>
          </p:cNvPr>
          <p:cNvSpPr txBox="1"/>
          <p:nvPr/>
        </p:nvSpPr>
        <p:spPr>
          <a:xfrm>
            <a:off x="1231115" y="4627644"/>
            <a:ext cx="1368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Modelo do Workbench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6579E6D-0B72-D7FC-6459-168E6428A857}"/>
              </a:ext>
            </a:extLst>
          </p:cNvPr>
          <p:cNvSpPr txBox="1"/>
          <p:nvPr/>
        </p:nvSpPr>
        <p:spPr>
          <a:xfrm>
            <a:off x="8084599" y="4892787"/>
            <a:ext cx="1556994" cy="38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Tabela Simples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3749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19C2AA-FBF7-903E-653B-05FE47F3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1F1969-1A42-4671-CC35-05FD6D1F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8E56B4-1CFF-90BC-F549-2E9515818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7C9C99E-86FD-270E-78CA-F920A1860433}"/>
              </a:ext>
            </a:extLst>
          </p:cNvPr>
          <p:cNvSpPr txBox="1"/>
          <p:nvPr/>
        </p:nvSpPr>
        <p:spPr>
          <a:xfrm>
            <a:off x="4226902" y="625296"/>
            <a:ext cx="37381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err="1"/>
              <a:t>Tipos</a:t>
            </a:r>
            <a:r>
              <a:rPr lang="en-US" sz="3600" dirty="0"/>
              <a:t> de Dados </a:t>
            </a:r>
            <a:r>
              <a:rPr lang="en-US" sz="3600" dirty="0" err="1"/>
              <a:t>mais</a:t>
            </a:r>
            <a:r>
              <a:rPr lang="en-US" sz="3600" dirty="0"/>
              <a:t> </a:t>
            </a:r>
            <a:r>
              <a:rPr lang="en-US" sz="3600" dirty="0" err="1"/>
              <a:t>Utilizados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5DB712-4B36-E46B-B72F-EC5B1251A957}"/>
              </a:ext>
            </a:extLst>
          </p:cNvPr>
          <p:cNvSpPr txBox="1"/>
          <p:nvPr/>
        </p:nvSpPr>
        <p:spPr>
          <a:xfrm>
            <a:off x="668213" y="2149019"/>
            <a:ext cx="1890347" cy="1754326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Numéricos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INTEGER(INT);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DECIMAL(</a:t>
            </a:r>
            <a:r>
              <a:rPr lang="en-US" dirty="0" err="1"/>
              <a:t>i,j</a:t>
            </a:r>
            <a:r>
              <a:rPr lang="en-US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FLOAT(j);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DOUBLE.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DE7E38E-3494-6408-7350-6ECF0D1C611F}"/>
              </a:ext>
            </a:extLst>
          </p:cNvPr>
          <p:cNvSpPr txBox="1"/>
          <p:nvPr/>
        </p:nvSpPr>
        <p:spPr>
          <a:xfrm>
            <a:off x="668213" y="4432211"/>
            <a:ext cx="1890347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D6A370-6461-1F31-4384-B06A74A36017}"/>
              </a:ext>
            </a:extLst>
          </p:cNvPr>
          <p:cNvSpPr txBox="1"/>
          <p:nvPr/>
        </p:nvSpPr>
        <p:spPr>
          <a:xfrm>
            <a:off x="6655044" y="2149019"/>
            <a:ext cx="1310054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Data e Hora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CA0C54F-A8DD-7C4C-6D28-8AC3ADD6AE9D}"/>
              </a:ext>
            </a:extLst>
          </p:cNvPr>
          <p:cNvSpPr txBox="1"/>
          <p:nvPr/>
        </p:nvSpPr>
        <p:spPr>
          <a:xfrm>
            <a:off x="2817931" y="2703017"/>
            <a:ext cx="1925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totais</a:t>
            </a:r>
            <a:r>
              <a:rPr lang="en-US" dirty="0"/>
              <a:t>;</a:t>
            </a:r>
          </a:p>
          <a:p>
            <a:r>
              <a:rPr lang="en-US" dirty="0"/>
              <a:t>j: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decimais</a:t>
            </a:r>
            <a:r>
              <a:rPr lang="en-US" dirty="0"/>
              <a:t>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160FF93-9C48-8D4D-E000-96C7BC087CFE}"/>
              </a:ext>
            </a:extLst>
          </p:cNvPr>
          <p:cNvSpPr txBox="1"/>
          <p:nvPr/>
        </p:nvSpPr>
        <p:spPr>
          <a:xfrm>
            <a:off x="3059722" y="4709210"/>
            <a:ext cx="81153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 é FIXO em </a:t>
            </a:r>
            <a:r>
              <a:rPr lang="en-US" b="1" u="sng" dirty="0"/>
              <a:t>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r>
              <a:rPr lang="en-US" dirty="0"/>
              <a:t>VARCHAR </a:t>
            </a:r>
            <a:r>
              <a:rPr lang="en-US" dirty="0" err="1"/>
              <a:t>aceita</a:t>
            </a:r>
            <a:r>
              <a:rPr lang="en-US" dirty="0"/>
              <a:t> </a:t>
            </a:r>
            <a:r>
              <a:rPr lang="en-US" b="1" u="sng" dirty="0" err="1"/>
              <a:t>até</a:t>
            </a:r>
            <a:r>
              <a:rPr lang="en-US" b="1" u="sng" dirty="0"/>
              <a:t> 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pPr algn="just"/>
            <a:r>
              <a:rPr lang="en-US" dirty="0"/>
              <a:t>TEXT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fixa</a:t>
            </a:r>
            <a:r>
              <a:rPr lang="en-US" dirty="0"/>
              <a:t>, é </a:t>
            </a:r>
            <a:r>
              <a:rPr lang="en-US" dirty="0" err="1"/>
              <a:t>bastante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para </a:t>
            </a:r>
            <a:r>
              <a:rPr lang="en-US" dirty="0" err="1"/>
              <a:t>textos</a:t>
            </a:r>
            <a:r>
              <a:rPr lang="en-US" dirty="0"/>
              <a:t> e </a:t>
            </a:r>
            <a:r>
              <a:rPr lang="en-US" dirty="0" err="1"/>
              <a:t>descrições</a:t>
            </a:r>
            <a:r>
              <a:rPr lang="en-US" dirty="0"/>
              <a:t> </a:t>
            </a:r>
            <a:r>
              <a:rPr lang="en-US" b="1" u="sng" dirty="0" err="1"/>
              <a:t>extensos</a:t>
            </a:r>
            <a:r>
              <a:rPr lang="en-US" dirty="0"/>
              <a:t>.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AE54747-6513-C3D7-FD53-04D4E0AB047D}"/>
              </a:ext>
            </a:extLst>
          </p:cNvPr>
          <p:cNvSpPr txBox="1"/>
          <p:nvPr/>
        </p:nvSpPr>
        <p:spPr>
          <a:xfrm>
            <a:off x="8135085" y="2450385"/>
            <a:ext cx="2312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(YYYY-MM-DD);</a:t>
            </a:r>
          </a:p>
          <a:p>
            <a:r>
              <a:rPr lang="en-US" dirty="0"/>
              <a:t>TIME (HH:MM:SS).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638EE8C-744C-0D4F-815E-F27C65E8D203}"/>
              </a:ext>
            </a:extLst>
          </p:cNvPr>
          <p:cNvSpPr txBox="1"/>
          <p:nvPr/>
        </p:nvSpPr>
        <p:spPr>
          <a:xfrm>
            <a:off x="6655044" y="3903345"/>
            <a:ext cx="1600200" cy="92333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Lógico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BOOLEAN.</a:t>
            </a:r>
          </a:p>
        </p:txBody>
      </p:sp>
    </p:spTree>
    <p:extLst>
      <p:ext uri="{BB962C8B-B14F-4D97-AF65-F5344CB8AC3E}">
        <p14:creationId xmlns:p14="http://schemas.microsoft.com/office/powerpoint/2010/main" val="3068825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064B83-BBE8-AB9C-3837-D5ABFD789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E098A3-3313-D6DC-8532-4DE53AA3D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095D6F-9375-E867-104F-6C3CECD6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CE2C257-4F6A-6101-1056-A3881D4CA738}"/>
              </a:ext>
            </a:extLst>
          </p:cNvPr>
          <p:cNvSpPr txBox="1"/>
          <p:nvPr/>
        </p:nvSpPr>
        <p:spPr>
          <a:xfrm>
            <a:off x="4399084" y="427741"/>
            <a:ext cx="3393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Chaves Primárias (Primary Key/PK)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4C59C3-08AA-8374-466E-DA0706671028}"/>
              </a:ext>
            </a:extLst>
          </p:cNvPr>
          <p:cNvSpPr txBox="1"/>
          <p:nvPr/>
        </p:nvSpPr>
        <p:spPr>
          <a:xfrm>
            <a:off x="1151792" y="2004646"/>
            <a:ext cx="100671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É um ou mais campos (atributos) que identificam </a:t>
            </a:r>
            <a:r>
              <a:rPr lang="pt-BR" b="1" dirty="0"/>
              <a:t>unicamente</a:t>
            </a:r>
            <a:r>
              <a:rPr lang="pt-BR" dirty="0"/>
              <a:t> cada registro em uma tabela;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NÃO pode conter valores nulos (NULL) nem valores duplicados;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Cada tabela pode ter apenas uma chave primária</a:t>
            </a:r>
            <a:r>
              <a:rPr lang="pt-BR" dirty="0"/>
              <a:t>, mas essa chave pode envolver </a:t>
            </a:r>
            <a:r>
              <a:rPr lang="pt-BR" b="1" dirty="0"/>
              <a:t>mais de um campo</a:t>
            </a:r>
            <a:r>
              <a:rPr lang="pt-BR" dirty="0"/>
              <a:t> — nesse caso, é chamada de </a:t>
            </a:r>
            <a:r>
              <a:rPr lang="pt-BR" b="1" dirty="0"/>
              <a:t>chave primária composta;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Em relacionamentos entre tabelas, uma chave primária pode ser combinada com a chave estrangeira de outra tabela para compor uma chave — esse conceito será abordado posteriormente.</a:t>
            </a:r>
            <a:endParaRPr lang="pt-BR" b="1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13EF2F1-197D-1844-6F0C-2BF3E7457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309" y="4216082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585A59D-254F-29EF-B70C-08D56FE4D780}"/>
              </a:ext>
            </a:extLst>
          </p:cNvPr>
          <p:cNvCxnSpPr/>
          <p:nvPr/>
        </p:nvCxnSpPr>
        <p:spPr>
          <a:xfrm>
            <a:off x="2442758" y="4818185"/>
            <a:ext cx="2401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EF7EAE5-3149-447A-A7E1-79CB2A4CE0A9}"/>
              </a:ext>
            </a:extLst>
          </p:cNvPr>
          <p:cNvSpPr txBox="1"/>
          <p:nvPr/>
        </p:nvSpPr>
        <p:spPr>
          <a:xfrm>
            <a:off x="5169878" y="4624754"/>
            <a:ext cx="1776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Chave Primária</a:t>
            </a:r>
          </a:p>
          <a:p>
            <a:r>
              <a:rPr lang="en-US" dirty="0"/>
              <a:t>da tabela pessoa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0918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8" y="206292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1058914"/>
            <a:ext cx="117992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N:M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384453" y="259181"/>
            <a:ext cx="3423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501553" y="1933659"/>
            <a:ext cx="9365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Esse tipo de relacionamento é menos comum, mas útil quando há a necessidade de </a:t>
            </a:r>
            <a:r>
              <a:rPr lang="pt-BR" b="1" dirty="0"/>
              <a:t>separar dados sensíveis</a:t>
            </a:r>
            <a:r>
              <a:rPr lang="pt-BR" dirty="0"/>
              <a:t> ou dividir lógicas distintas. Por exemplo, em um sistema de RH, cada funcionário pode ter um único registro de pagamento.</a:t>
            </a: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780A52-69E7-7408-2610-3969B90C49CD}"/>
              </a:ext>
            </a:extLst>
          </p:cNvPr>
          <p:cNvSpPr txBox="1"/>
          <p:nvPr/>
        </p:nvSpPr>
        <p:spPr>
          <a:xfrm>
            <a:off x="1501553" y="3433161"/>
            <a:ext cx="9365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É o tipo mais frequente de relacionamento em bancos de dados. Imagine um cliente que faz vários pedidos: temos uma relação </a:t>
            </a:r>
            <a:r>
              <a:rPr lang="pt-BR" b="1" dirty="0"/>
              <a:t>1 cliente → N pedidos</a:t>
            </a:r>
            <a:r>
              <a:rPr lang="pt-BR" dirty="0"/>
              <a:t>. Isso permite organizar o sistema de forma escalável, mantendo os dados centralizados e fáceis de acessar.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6009464-39C9-3303-5C0B-B709ECD7FA42}"/>
              </a:ext>
            </a:extLst>
          </p:cNvPr>
          <p:cNvSpPr txBox="1"/>
          <p:nvPr/>
        </p:nvSpPr>
        <p:spPr>
          <a:xfrm>
            <a:off x="1501554" y="4915315"/>
            <a:ext cx="93657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Esse relacionamento ocorre quando várias instâncias de uma entidade se relacionam com várias instâncias de outra. Como não é possível representar isso diretamente em bancos relacionais, utilizamos </a:t>
            </a:r>
            <a:r>
              <a:rPr lang="pt-BR" b="1" dirty="0"/>
              <a:t>tabelas associativas</a:t>
            </a:r>
            <a:r>
              <a:rPr lang="pt-BR" dirty="0"/>
              <a:t> para intermediar a conexão.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E60FD6-3EC8-1F45-1207-4C1754EDAB36}"/>
              </a:ext>
            </a:extLst>
          </p:cNvPr>
          <p:cNvSpPr txBox="1"/>
          <p:nvPr/>
        </p:nvSpPr>
        <p:spPr>
          <a:xfrm>
            <a:off x="1501553" y="1471994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1:1</a:t>
            </a:r>
            <a:endParaRPr lang="pt-BR" sz="2400" u="sng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52D7D9-E423-D10D-4B90-2420080A304B}"/>
              </a:ext>
            </a:extLst>
          </p:cNvPr>
          <p:cNvSpPr txBox="1"/>
          <p:nvPr/>
        </p:nvSpPr>
        <p:spPr>
          <a:xfrm>
            <a:off x="1501553" y="3023172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1:N</a:t>
            </a:r>
            <a:endParaRPr lang="pt-BR" sz="2400" u="sng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2E11E0-70E1-0BED-870C-87B5415F33FF}"/>
              </a:ext>
            </a:extLst>
          </p:cNvPr>
          <p:cNvSpPr txBox="1"/>
          <p:nvPr/>
        </p:nvSpPr>
        <p:spPr>
          <a:xfrm>
            <a:off x="1501553" y="4494762"/>
            <a:ext cx="31495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N:M</a:t>
            </a:r>
            <a:endParaRPr lang="pt-BR" sz="2400" u="sng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4812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485</Words>
  <Application>Microsoft Office PowerPoint</Application>
  <PresentationFormat>Widescreen</PresentationFormat>
  <Paragraphs>63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 REIS</cp:lastModifiedBy>
  <cp:revision>4</cp:revision>
  <dcterms:created xsi:type="dcterms:W3CDTF">2025-07-17T15:58:05Z</dcterms:created>
  <dcterms:modified xsi:type="dcterms:W3CDTF">2026-01-23T17:03:48Z</dcterms:modified>
</cp:coreProperties>
</file>