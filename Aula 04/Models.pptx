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81" r:id="rId3"/>
    <p:sldId id="259" r:id="rId4"/>
    <p:sldId id="280" r:id="rId5"/>
    <p:sldId id="279" r:id="rId6"/>
    <p:sldId id="278" r:id="rId7"/>
    <p:sldId id="260" r:id="rId8"/>
    <p:sldId id="261" r:id="rId9"/>
    <p:sldId id="262" r:id="rId10"/>
    <p:sldId id="285" r:id="rId11"/>
    <p:sldId id="284" r:id="rId12"/>
    <p:sldId id="263" r:id="rId13"/>
    <p:sldId id="264" r:id="rId14"/>
    <p:sldId id="265" r:id="rId15"/>
    <p:sldId id="266" r:id="rId16"/>
    <p:sldId id="267" r:id="rId17"/>
    <p:sldId id="268" r:id="rId18"/>
    <p:sldId id="270" r:id="rId19"/>
    <p:sldId id="283" r:id="rId20"/>
    <p:sldId id="282" r:id="rId21"/>
    <p:sldId id="272" r:id="rId22"/>
    <p:sldId id="274" r:id="rId23"/>
    <p:sldId id="277" r:id="rId24"/>
    <p:sldId id="276" r:id="rId25"/>
    <p:sldId id="275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C7C97F-1EBD-5F48-016C-2C742C0FCA72}" v="222" dt="2026-08-28T20:44:57.565"/>
    <p1510:client id="{BCCA8383-AF87-E74D-9C3E-BC6BB73D85B4}" v="1485" dt="2026-08-28T17:46:42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0A938-EE45-4CF6-9305-556CFB7B5057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2E039-2C2B-455F-97AD-3DF3B59C34C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1779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D4559-EF0D-4147-29EB-1B88B4EEB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F6928F-563B-3346-7BEA-F44EB6634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CCDB3A-4043-868C-603D-5DE8C8F21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23DC86-024F-028E-F693-9960E691B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C334A0-EA78-CA02-C48A-437E8F85A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9547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36C01-9F54-4E3C-5BB3-A4C0B84D9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C3C222-F858-419C-9AA7-63CC713C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1CAF58-B232-1F7C-C82D-C13DB055C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F0571F-2405-94C2-ED63-95AFBCC74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E8F511-BC92-2D4C-F142-E3EA05162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1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2FF2F-A824-11E3-F304-AB4B7D4B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BCD694-3E28-DDA4-32CD-72578BBF1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6E2785-4CFC-065E-A7DD-FEE8E5A0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44D052-552C-C591-6C66-BB44248F5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513DC0-833B-0335-D1BE-0C941EBA0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8261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E12B2-9690-6CD8-DCD4-DD6B74024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DD0899-A333-E95F-C0D1-EB49DF736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617C2B-7F7E-6C1A-8DDA-B25899EEA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A27CC1-0410-5B2A-4531-F917D59F1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97A494-2B52-8229-02B3-CFFAEFC7D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86B1F7-519E-08F9-13CA-885417EC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414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FE490-0D0A-0BA5-9094-EED13823C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41CAB1-E75B-CEDB-D1EC-BD8C0A48B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310C2E-DC17-3D4C-F2B5-0A4CC32BA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6E29925-116D-51DD-1C7C-1968B4CB1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4299DD-591E-319C-1C2A-C653DE1603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B288EFA-D046-1ED7-7536-E814FA62D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A9ADA1A-2306-8D30-A258-41D7CDE6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E586AB0-E568-7864-2BEB-17069491A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3072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6F9F9-933D-69A5-48A6-150379896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7B5EDC-C117-8760-99C4-D7A29986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910807-56C2-5266-E44A-5D757349E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CCB1396-FC9F-1DFD-7235-AD399BB55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5947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6B169-3481-E73D-C47B-59517702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8C62CD-31AF-288C-7749-F0AE83CD4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D435CA-9FDB-4ACD-32E1-6CED780E0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8307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23D46-4C27-B5A1-B5CB-374E40129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683081-DEEA-D9F9-0E02-E77370EB3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654D63-29FE-FC25-49EE-EB635E1B1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E6DBDC-F5F1-1910-8237-1636805B0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964EDF-6A8F-B658-7CC2-4F85EB479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71FD52-4B0D-7760-65CF-BEE377A84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325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E31E7-D1C2-BF5E-67DB-BD17B6D6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C7EDAE-0A5F-54E0-346D-D8BC3F134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A961B5-B9F9-8516-88E4-C298E204CB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3DE919-B293-B396-DD7D-AF44A4F3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B1860A-7A5B-A33B-7FF8-118CC4C2C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871AB6-4C4D-198C-CC69-2AB8A84B3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189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DBC76-DDBD-6035-394A-FAA73420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6DC10A-BCE0-E9A0-9C3A-ABD035A8B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4227FF-62DA-F10F-362F-818AEF73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48AAE-3613-2543-A053-3051533B2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EB41B5-064D-3610-A2C1-D24FFC30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7179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E625DF-79ED-045C-F376-BAA14FB1A7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44D91E-DD50-176E-A506-E908C9B48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229F2E-FBEA-4ED0-E4FF-4240D7B3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DD6432-6405-B09C-D09F-ADB0B7D2E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5594C8-513B-830B-70C4-D24C3DAAD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3667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CB80329-C1AC-1032-72A2-BB30CF444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58CE09-62E1-CDE5-01D8-25540FCE7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3118B9-89B3-FEA3-C9A6-F6DFE94C28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3D7A4-D674-4F04-B457-5A75143D3A2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F0DB18-F792-69D8-8F05-EBCA33356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963E3A-99F6-969A-9DFF-56EC51AE8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27C56-667E-4805-B116-F1D01DDED3B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226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8B734F7-5F82-8F5C-402C-ADDB94FEA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EDE1E3A-87D7-B255-A4D2-2E2627DB4ADD}"/>
              </a:ext>
            </a:extLst>
          </p:cNvPr>
          <p:cNvSpPr txBox="1"/>
          <p:nvPr/>
        </p:nvSpPr>
        <p:spPr>
          <a:xfrm>
            <a:off x="105508" y="114300"/>
            <a:ext cx="3938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Banco de Dados – C07</a:t>
            </a:r>
            <a:endParaRPr lang="pt-BR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F10EBA7-DBF4-E344-8E14-86475A287ADB}"/>
              </a:ext>
            </a:extLst>
          </p:cNvPr>
          <p:cNvSpPr txBox="1"/>
          <p:nvPr/>
        </p:nvSpPr>
        <p:spPr>
          <a:xfrm>
            <a:off x="105508" y="602313"/>
            <a:ext cx="2523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Felipe Tagawa Reis</a:t>
            </a:r>
            <a:endParaRPr lang="pt-BR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0E3785-A842-74B6-E6E9-B6A01F682040}"/>
              </a:ext>
            </a:extLst>
          </p:cNvPr>
          <p:cNvSpPr txBox="1"/>
          <p:nvPr/>
        </p:nvSpPr>
        <p:spPr>
          <a:xfrm>
            <a:off x="105508" y="5257801"/>
            <a:ext cx="46071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101632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D8365-7EB5-DA7D-99AE-FCABEDCEE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F6D1D5A-F914-1681-D5C7-98339A944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DA0DBD3-6B3F-315C-0F97-A5F0770F3ACC}"/>
              </a:ext>
            </a:extLst>
          </p:cNvPr>
          <p:cNvSpPr txBox="1"/>
          <p:nvPr/>
        </p:nvSpPr>
        <p:spPr>
          <a:xfrm>
            <a:off x="4303375" y="152902"/>
            <a:ext cx="357499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dirty="0" err="1">
                <a:ea typeface="Calibri"/>
                <a:cs typeface="Calibri"/>
              </a:rPr>
              <a:t>Tipos</a:t>
            </a:r>
            <a:r>
              <a:rPr lang="en-US" sz="3600" dirty="0">
                <a:ea typeface="Calibri"/>
                <a:cs typeface="Calibri"/>
              </a:rPr>
              <a:t> de </a:t>
            </a:r>
            <a:r>
              <a:rPr lang="en-US" sz="3600" dirty="0" err="1">
                <a:ea typeface="Calibri"/>
                <a:cs typeface="Calibri"/>
              </a:rPr>
              <a:t>Atributos</a:t>
            </a:r>
          </a:p>
        </p:txBody>
      </p:sp>
      <p:pic>
        <p:nvPicPr>
          <p:cNvPr id="3" name="Imagem 2" descr="Modelo Conceitual e Lógico para SEFAZ-SP">
            <a:extLst>
              <a:ext uri="{FF2B5EF4-FFF2-40B4-BE49-F238E27FC236}">
                <a16:creationId xmlns:a16="http://schemas.microsoft.com/office/drawing/2014/main" id="{44442244-E04D-622F-7345-BC2A045AC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819" y="1077238"/>
            <a:ext cx="8191239" cy="470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4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F8D7A-1642-EB06-BDDB-8B60A5E4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70FE71D-7DA1-A4C0-5066-914290DC9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CCE830C-6392-38AE-A9B0-95660C8D02BB}"/>
              </a:ext>
            </a:extLst>
          </p:cNvPr>
          <p:cNvSpPr txBox="1"/>
          <p:nvPr/>
        </p:nvSpPr>
        <p:spPr>
          <a:xfrm>
            <a:off x="2645764" y="172864"/>
            <a:ext cx="68806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dirty="0" err="1">
                <a:ea typeface="Calibri"/>
                <a:cs typeface="Calibri"/>
              </a:rPr>
              <a:t>Diagrama</a:t>
            </a:r>
            <a:r>
              <a:rPr lang="en-US" sz="3600" dirty="0">
                <a:ea typeface="Calibri"/>
                <a:cs typeface="Calibri"/>
              </a:rPr>
              <a:t> </a:t>
            </a:r>
            <a:r>
              <a:rPr lang="en-US" sz="3600" dirty="0" err="1">
                <a:ea typeface="Calibri"/>
                <a:cs typeface="Calibri"/>
              </a:rPr>
              <a:t>Entidade</a:t>
            </a:r>
            <a:r>
              <a:rPr lang="en-US" sz="3600" dirty="0">
                <a:ea typeface="Calibri"/>
                <a:cs typeface="Calibri"/>
              </a:rPr>
              <a:t>-Relacionamento</a:t>
            </a:r>
          </a:p>
        </p:txBody>
      </p:sp>
      <p:pic>
        <p:nvPicPr>
          <p:cNvPr id="6" name="Imagem 5" descr="Dúvida com DER - Entidade associativa, autorelacionamento ...">
            <a:extLst>
              <a:ext uri="{FF2B5EF4-FFF2-40B4-BE49-F238E27FC236}">
                <a16:creationId xmlns:a16="http://schemas.microsoft.com/office/drawing/2014/main" id="{93DC941A-5A1E-4C5F-ECC9-EA776B85A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" y="1204913"/>
            <a:ext cx="8905875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95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319C-056D-58A2-1F8F-91075DE65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AD7C91D-A7A5-7BD5-95DE-E40FFC895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DE99363-5BEA-A5F5-73C9-E193C21044FB}"/>
              </a:ext>
            </a:extLst>
          </p:cNvPr>
          <p:cNvSpPr txBox="1"/>
          <p:nvPr/>
        </p:nvSpPr>
        <p:spPr>
          <a:xfrm>
            <a:off x="2393156" y="163340"/>
            <a:ext cx="740587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dirty="0" err="1">
                <a:ea typeface="Calibri"/>
                <a:cs typeface="Calibri"/>
              </a:rPr>
              <a:t>Transformação</a:t>
            </a:r>
            <a:r>
              <a:rPr lang="en-US" sz="3600" dirty="0">
                <a:ea typeface="Calibri"/>
                <a:cs typeface="Calibri"/>
              </a:rPr>
              <a:t> para Modelo </a:t>
            </a:r>
            <a:r>
              <a:rPr lang="en-US" sz="3600" dirty="0" err="1">
                <a:ea typeface="Calibri"/>
                <a:cs typeface="Calibri"/>
              </a:rPr>
              <a:t>Relacional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6BE3B5C-1216-D0EE-5863-8D0D4C07C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68" y="1680203"/>
            <a:ext cx="10608502" cy="349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0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688C6-DFF8-9E10-541F-43C7BD4B5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0BB13D6-58A8-C26A-20DD-2D0C925B9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39FB62D-541A-2DA7-A669-1A451F038FCD}"/>
              </a:ext>
            </a:extLst>
          </p:cNvPr>
          <p:cNvSpPr txBox="1"/>
          <p:nvPr/>
        </p:nvSpPr>
        <p:spPr>
          <a:xfrm>
            <a:off x="3917156" y="152901"/>
            <a:ext cx="435787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dirty="0" err="1">
                <a:ea typeface="Calibri"/>
                <a:cs typeface="Calibri"/>
              </a:rPr>
              <a:t>Entidade</a:t>
            </a:r>
            <a:r>
              <a:rPr lang="en-US" sz="3600" dirty="0">
                <a:ea typeface="Calibri"/>
                <a:cs typeface="Calibri"/>
              </a:rPr>
              <a:t> </a:t>
            </a:r>
            <a:r>
              <a:rPr lang="en-US" sz="3600" dirty="0" err="1">
                <a:ea typeface="Calibri"/>
                <a:cs typeface="Calibri"/>
              </a:rPr>
              <a:t>Fraca</a:t>
            </a:r>
            <a:r>
              <a:rPr lang="en-US" sz="3600" dirty="0">
                <a:ea typeface="Calibri"/>
                <a:cs typeface="Calibri"/>
              </a:rPr>
              <a:t> x Forte</a:t>
            </a:r>
          </a:p>
        </p:txBody>
      </p:sp>
      <p:pic>
        <p:nvPicPr>
          <p:cNvPr id="3" name="Imagem 2" descr="Dúvida] Relacionamento entre entidades e Cardinalidade | Modelagem de banco  de dados: entidades, relacionamentos e atributos | Solucionado">
            <a:extLst>
              <a:ext uri="{FF2B5EF4-FFF2-40B4-BE49-F238E27FC236}">
                <a16:creationId xmlns:a16="http://schemas.microsoft.com/office/drawing/2014/main" id="{D196C5D7-DEDC-44FA-08A0-2242F9FFD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85838"/>
            <a:ext cx="976312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731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94BF9-E23A-812B-B00B-9BD3FA28E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FB0F891-ED05-1CB3-4A04-5FBB705C0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CB77E3D-9056-A12F-9C95-A67F0A271354}"/>
              </a:ext>
            </a:extLst>
          </p:cNvPr>
          <p:cNvSpPr txBox="1"/>
          <p:nvPr/>
        </p:nvSpPr>
        <p:spPr>
          <a:xfrm>
            <a:off x="4279106" y="162426"/>
            <a:ext cx="3176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Criando</a:t>
            </a:r>
            <a:r>
              <a:rPr lang="en-US" sz="3600" dirty="0"/>
              <a:t> Models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7E7357-322C-2568-5BC3-D94A82250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2" y="1119583"/>
            <a:ext cx="11431595" cy="4829849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CB95F56D-D06F-19B7-CA4A-910EA86ABBBF}"/>
              </a:ext>
            </a:extLst>
          </p:cNvPr>
          <p:cNvSpPr/>
          <p:nvPr/>
        </p:nvSpPr>
        <p:spPr>
          <a:xfrm rot="10800000">
            <a:off x="3938425" y="3411913"/>
            <a:ext cx="484632" cy="978408"/>
          </a:xfrm>
          <a:prstGeom prst="down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85066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91FF-8D9F-8F31-0DF4-6FFAA0DB4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5D0FB5C-151B-24B2-EBEC-73887B8C3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01EBD84-9055-F213-8378-27D0A0308941}"/>
              </a:ext>
            </a:extLst>
          </p:cNvPr>
          <p:cNvSpPr txBox="1"/>
          <p:nvPr/>
        </p:nvSpPr>
        <p:spPr>
          <a:xfrm>
            <a:off x="4279106" y="162426"/>
            <a:ext cx="3176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Criando</a:t>
            </a:r>
            <a:r>
              <a:rPr lang="en-US" sz="3600" dirty="0"/>
              <a:t> Models</a:t>
            </a:r>
            <a:endParaRPr lang="pt-BR" sz="36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5468AA0-5626-93A7-D117-11B2A85FC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892" y="3158270"/>
            <a:ext cx="7360310" cy="265344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4468860-37F1-AFE7-8A4F-131916F2AEC4}"/>
              </a:ext>
            </a:extLst>
          </p:cNvPr>
          <p:cNvSpPr txBox="1"/>
          <p:nvPr/>
        </p:nvSpPr>
        <p:spPr>
          <a:xfrm>
            <a:off x="2987473" y="1317525"/>
            <a:ext cx="6217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Basta </a:t>
            </a:r>
            <a:r>
              <a:rPr lang="en-US" sz="2800" dirty="0" err="1"/>
              <a:t>clicar</a:t>
            </a:r>
            <a:r>
              <a:rPr lang="en-US" sz="2800" dirty="0"/>
              <a:t> duas </a:t>
            </a:r>
            <a:r>
              <a:rPr lang="en-US" sz="2800" dirty="0" err="1"/>
              <a:t>vezes</a:t>
            </a:r>
            <a:r>
              <a:rPr lang="en-US" sz="2800" dirty="0"/>
              <a:t> </a:t>
            </a:r>
            <a:r>
              <a:rPr lang="en-US" sz="2800" dirty="0" err="1"/>
              <a:t>em</a:t>
            </a:r>
            <a:r>
              <a:rPr lang="en-US" sz="2800" dirty="0"/>
              <a:t> “Add Diagram”</a:t>
            </a:r>
            <a:endParaRPr lang="pt-BR" sz="2800" dirty="0"/>
          </a:p>
        </p:txBody>
      </p:sp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22DF98B3-652F-3B99-EB7B-B75D6D2F19BB}"/>
              </a:ext>
            </a:extLst>
          </p:cNvPr>
          <p:cNvSpPr/>
          <p:nvPr/>
        </p:nvSpPr>
        <p:spPr>
          <a:xfrm rot="5400000">
            <a:off x="7702765" y="4674112"/>
            <a:ext cx="484632" cy="978408"/>
          </a:xfrm>
          <a:prstGeom prst="down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89559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23532-CEA2-0128-15E4-9827C4AB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D4BE225-DAD7-57AF-3D57-946283976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ECE3A78-DACB-84EA-9079-0437F0310D3C}"/>
              </a:ext>
            </a:extLst>
          </p:cNvPr>
          <p:cNvSpPr txBox="1"/>
          <p:nvPr/>
        </p:nvSpPr>
        <p:spPr>
          <a:xfrm>
            <a:off x="4279106" y="162426"/>
            <a:ext cx="3176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Criando</a:t>
            </a:r>
            <a:r>
              <a:rPr lang="en-US" sz="3600" dirty="0"/>
              <a:t> Models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313C9DF-AABC-E648-6EFD-B98D207AF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61" y="1156970"/>
            <a:ext cx="10593278" cy="477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63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E879A-11AD-0503-9B6C-A9C3078FA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48280F9-0022-CCAA-06B8-5C84FED02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DADA21E-821B-06E1-C714-A62F16F1F7AA}"/>
              </a:ext>
            </a:extLst>
          </p:cNvPr>
          <p:cNvSpPr txBox="1"/>
          <p:nvPr/>
        </p:nvSpPr>
        <p:spPr>
          <a:xfrm>
            <a:off x="4279106" y="162426"/>
            <a:ext cx="3176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Criando</a:t>
            </a:r>
            <a:r>
              <a:rPr lang="en-US" sz="3600" dirty="0"/>
              <a:t> Models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14D1385-7E01-0CC1-9435-06F3622CB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836" y="1051690"/>
            <a:ext cx="8440328" cy="556337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1A02265-E790-2906-984D-3E2852EEEBAA}"/>
              </a:ext>
            </a:extLst>
          </p:cNvPr>
          <p:cNvSpPr/>
          <p:nvPr/>
        </p:nvSpPr>
        <p:spPr>
          <a:xfrm>
            <a:off x="7315200" y="3640015"/>
            <a:ext cx="2505808" cy="33410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A608698-36F9-973C-13CB-3101F8E355F6}"/>
              </a:ext>
            </a:extLst>
          </p:cNvPr>
          <p:cNvSpPr/>
          <p:nvPr/>
        </p:nvSpPr>
        <p:spPr>
          <a:xfrm>
            <a:off x="7315200" y="4717232"/>
            <a:ext cx="2303585" cy="33410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84640AD-3213-20AA-BAE6-E6EEEE99982A}"/>
              </a:ext>
            </a:extLst>
          </p:cNvPr>
          <p:cNvSpPr/>
          <p:nvPr/>
        </p:nvSpPr>
        <p:spPr>
          <a:xfrm>
            <a:off x="7315200" y="5768922"/>
            <a:ext cx="2505808" cy="33410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9814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D3E01-3269-9DBA-0312-B65C1A7B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DAB1F41-49E6-E8F6-52C8-414F7C04B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DB67408-E6DF-55AE-E4B7-DC862F91F5C3}"/>
              </a:ext>
            </a:extLst>
          </p:cNvPr>
          <p:cNvSpPr txBox="1"/>
          <p:nvPr/>
        </p:nvSpPr>
        <p:spPr>
          <a:xfrm>
            <a:off x="3892887" y="162426"/>
            <a:ext cx="440849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/>
              <a:t>Usando Layers (Visual</a:t>
            </a:r>
            <a:r>
              <a:rPr lang="en-US" sz="3600">
                <a:ea typeface="Calibri"/>
                <a:cs typeface="Calibri"/>
              </a:rPr>
              <a:t>)</a:t>
            </a:r>
            <a:endParaRPr lang="pt-BR"/>
          </a:p>
        </p:txBody>
      </p:sp>
      <p:pic>
        <p:nvPicPr>
          <p:cNvPr id="9" name="Imagem 8" descr="MySQL Workbench, uma ferramenta visual para design de banco de dados">
            <a:extLst>
              <a:ext uri="{FF2B5EF4-FFF2-40B4-BE49-F238E27FC236}">
                <a16:creationId xmlns:a16="http://schemas.microsoft.com/office/drawing/2014/main" id="{C1DF5BDA-B579-8259-BEDF-0C3656153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312" y="1045141"/>
            <a:ext cx="9728939" cy="488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674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1FC3-1178-04F5-4DC8-EDBF861C6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E087A80-FC12-484A-786E-986C63879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D1B5B8C-EFEB-235C-8EDA-8463CD867A5D}"/>
              </a:ext>
            </a:extLst>
          </p:cNvPr>
          <p:cNvSpPr txBox="1"/>
          <p:nvPr/>
        </p:nvSpPr>
        <p:spPr>
          <a:xfrm>
            <a:off x="4331298" y="110234"/>
            <a:ext cx="353167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dirty="0" err="1">
                <a:ea typeface="Calibri"/>
                <a:cs typeface="Calibri"/>
              </a:rPr>
              <a:t>Opções</a:t>
            </a:r>
            <a:r>
              <a:rPr lang="en-US" sz="3600" dirty="0">
                <a:ea typeface="Calibri"/>
                <a:cs typeface="Calibri"/>
              </a:rPr>
              <a:t> de </a:t>
            </a:r>
            <a:r>
              <a:rPr lang="en-US" sz="3600" dirty="0" err="1">
                <a:ea typeface="Calibri"/>
                <a:cs typeface="Calibri"/>
              </a:rPr>
              <a:t>Coluna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8739856-A18E-664E-248F-D791F849B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39" y="953863"/>
            <a:ext cx="10918520" cy="531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53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8BECA-4C3C-99DF-E28B-6B3F9097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7CB8BAB-D6EB-CE4A-1CF1-B58D0C090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D962760-3318-0812-BCDC-A2440EDDB981}"/>
              </a:ext>
            </a:extLst>
          </p:cNvPr>
          <p:cNvSpPr txBox="1"/>
          <p:nvPr/>
        </p:nvSpPr>
        <p:spPr>
          <a:xfrm>
            <a:off x="4410899" y="162426"/>
            <a:ext cx="3370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Relacionamentos</a:t>
            </a:r>
            <a:endParaRPr lang="pt-BR" sz="36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3E55CD4-CA99-B00F-6B80-E3BE9FF4F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61" y="971183"/>
            <a:ext cx="11799277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Conexões lógicas entre entidades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representam como os dados em diferentes tabelas estão associados uns aos outros.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modelo relacional, 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relacionamentos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ajudam a manter a 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integridade referencial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evitando dados duplicados e inconsistentes.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Classificação: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8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pt-BR" altLang="pt-BR" sz="2800" dirty="0">
                <a:latin typeface="Arial" panose="020B0604020202020204" pitchFamily="34" charset="0"/>
              </a:rPr>
              <a:t>1:1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1:N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pt-BR" altLang="pt-BR" sz="2800" dirty="0">
                <a:latin typeface="Arial" panose="020B0604020202020204" pitchFamily="34" charset="0"/>
              </a:rPr>
              <a:t>N:M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678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86754-F893-FFE8-C9AC-BF152A1D2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CDF19D8-D023-97C1-C351-BB13D9D6A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560B9EA-699B-2624-3A61-689A6CE7E79F}"/>
              </a:ext>
            </a:extLst>
          </p:cNvPr>
          <p:cNvSpPr txBox="1"/>
          <p:nvPr/>
        </p:nvSpPr>
        <p:spPr>
          <a:xfrm>
            <a:off x="4147084" y="162426"/>
            <a:ext cx="389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Relacionamento</a:t>
            </a:r>
            <a:r>
              <a:rPr lang="en-US" sz="3600" dirty="0"/>
              <a:t> 1:1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30BB47A-DB42-803B-9342-730AE283E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832" y="3152313"/>
            <a:ext cx="2648413" cy="26118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A12B844-BD4F-5102-BE94-6BE9F4A9A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471" y="3152312"/>
            <a:ext cx="3005697" cy="26118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76CBD09-8456-0327-39BE-AB32B093EFBF}"/>
              </a:ext>
            </a:extLst>
          </p:cNvPr>
          <p:cNvCxnSpPr>
            <a:cxnSpLocks/>
          </p:cNvCxnSpPr>
          <p:nvPr/>
        </p:nvCxnSpPr>
        <p:spPr>
          <a:xfrm>
            <a:off x="4941276" y="4458253"/>
            <a:ext cx="191672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BDEA277-FB7F-1599-9D6E-A8ADDBE481DB}"/>
              </a:ext>
            </a:extLst>
          </p:cNvPr>
          <p:cNvSpPr txBox="1"/>
          <p:nvPr/>
        </p:nvSpPr>
        <p:spPr>
          <a:xfrm>
            <a:off x="1070231" y="1338097"/>
            <a:ext cx="100515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Em </a:t>
            </a:r>
            <a:r>
              <a:rPr lang="en-US" sz="2400" dirty="0" err="1"/>
              <a:t>questão</a:t>
            </a:r>
            <a:r>
              <a:rPr lang="en-US" sz="2400" dirty="0"/>
              <a:t> de </a:t>
            </a:r>
            <a:r>
              <a:rPr lang="en-US" sz="2400" dirty="0" err="1"/>
              <a:t>documentos</a:t>
            </a:r>
            <a:r>
              <a:rPr lang="en-US" sz="2400" dirty="0"/>
              <a:t>, qual a </a:t>
            </a:r>
            <a:r>
              <a:rPr lang="en-US" sz="2400" dirty="0" err="1"/>
              <a:t>relação</a:t>
            </a:r>
            <a:r>
              <a:rPr lang="en-US" sz="2400" dirty="0"/>
              <a:t> de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pessoa</a:t>
            </a:r>
            <a:r>
              <a:rPr lang="en-US" sz="2400" dirty="0"/>
              <a:t> com um </a:t>
            </a:r>
            <a:r>
              <a:rPr lang="en-US" sz="2400" dirty="0" err="1"/>
              <a:t>passaporte</a:t>
            </a:r>
            <a:r>
              <a:rPr lang="en-US" sz="2400" dirty="0"/>
              <a:t>?</a:t>
            </a:r>
          </a:p>
          <a:p>
            <a:pPr algn="ctr"/>
            <a:r>
              <a:rPr lang="en-US" sz="2400" dirty="0"/>
              <a:t>Uma </a:t>
            </a:r>
            <a:r>
              <a:rPr lang="en-US" sz="2400" dirty="0" err="1"/>
              <a:t>pessoa</a:t>
            </a:r>
            <a:r>
              <a:rPr lang="en-US" sz="2400" dirty="0"/>
              <a:t> </a:t>
            </a:r>
            <a:r>
              <a:rPr lang="en-US" sz="2400" dirty="0" err="1"/>
              <a:t>tem</a:t>
            </a:r>
            <a:r>
              <a:rPr lang="en-US" sz="2400" dirty="0"/>
              <a:t> </a:t>
            </a:r>
            <a:r>
              <a:rPr lang="en-US" sz="2400" u="sng" dirty="0"/>
              <a:t>1</a:t>
            </a:r>
            <a:r>
              <a:rPr lang="en-US" sz="2400" dirty="0"/>
              <a:t> </a:t>
            </a:r>
            <a:r>
              <a:rPr lang="en-US" sz="2400" dirty="0" err="1"/>
              <a:t>passaporte</a:t>
            </a:r>
            <a:r>
              <a:rPr lang="en-US" sz="2400" dirty="0"/>
              <a:t> </a:t>
            </a:r>
            <a:r>
              <a:rPr lang="en-US" sz="2400" dirty="0" err="1"/>
              <a:t>exclusivo</a:t>
            </a:r>
            <a:r>
              <a:rPr lang="en-US" sz="2400" dirty="0"/>
              <a:t> e </a:t>
            </a:r>
            <a:r>
              <a:rPr lang="en-US" sz="2400" u="sng" dirty="0"/>
              <a:t>1</a:t>
            </a:r>
            <a:r>
              <a:rPr lang="en-US" sz="2400" dirty="0"/>
              <a:t> </a:t>
            </a:r>
            <a:r>
              <a:rPr lang="en-US" sz="2400" dirty="0" err="1"/>
              <a:t>passaporte</a:t>
            </a:r>
            <a:r>
              <a:rPr lang="en-US" sz="2400" dirty="0"/>
              <a:t> </a:t>
            </a:r>
            <a:r>
              <a:rPr lang="en-US" sz="2400" dirty="0" err="1"/>
              <a:t>pertence</a:t>
            </a:r>
            <a:r>
              <a:rPr lang="en-US" sz="2400" dirty="0"/>
              <a:t> a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única</a:t>
            </a:r>
            <a:r>
              <a:rPr lang="en-US" sz="2400" dirty="0"/>
              <a:t> </a:t>
            </a:r>
            <a:r>
              <a:rPr lang="en-US" sz="2400" dirty="0" err="1"/>
              <a:t>pessoa</a:t>
            </a:r>
            <a:r>
              <a:rPr lang="en-US" sz="2400" dirty="0"/>
              <a:t>.</a:t>
            </a:r>
            <a:endParaRPr lang="pt-BR" sz="24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5B9BC37-7543-7A56-6CF1-FF6B73B33410}"/>
              </a:ext>
            </a:extLst>
          </p:cNvPr>
          <p:cNvSpPr txBox="1"/>
          <p:nvPr/>
        </p:nvSpPr>
        <p:spPr>
          <a:xfrm>
            <a:off x="4967018" y="4088921"/>
            <a:ext cx="36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3974DFA-F905-D069-B6FF-32170BA0CC24}"/>
              </a:ext>
            </a:extLst>
          </p:cNvPr>
          <p:cNvSpPr txBox="1"/>
          <p:nvPr/>
        </p:nvSpPr>
        <p:spPr>
          <a:xfrm>
            <a:off x="6507213" y="4522674"/>
            <a:ext cx="36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381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19D8049-31F4-C494-4303-0E173B9E1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C313DC2-8341-9455-2CA7-DFEAAFEDC934}"/>
              </a:ext>
            </a:extLst>
          </p:cNvPr>
          <p:cNvSpPr txBox="1"/>
          <p:nvPr/>
        </p:nvSpPr>
        <p:spPr>
          <a:xfrm>
            <a:off x="4147084" y="162426"/>
            <a:ext cx="389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Relacionamento</a:t>
            </a:r>
            <a:r>
              <a:rPr lang="en-US" sz="3600" dirty="0"/>
              <a:t> 1:1</a:t>
            </a:r>
            <a:endParaRPr lang="pt-BR" sz="36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4344960-CA2E-1A7B-45FB-0945B3521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115" y="1357827"/>
            <a:ext cx="7201769" cy="2682141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9AD9B27-84FB-FA60-D771-36078FAD0D64}"/>
              </a:ext>
            </a:extLst>
          </p:cNvPr>
          <p:cNvSpPr txBox="1"/>
          <p:nvPr/>
        </p:nvSpPr>
        <p:spPr>
          <a:xfrm>
            <a:off x="838199" y="4901454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Ao </a:t>
            </a:r>
            <a:r>
              <a:rPr lang="en-US" sz="2400" dirty="0" err="1"/>
              <a:t>associar</a:t>
            </a:r>
            <a:r>
              <a:rPr lang="en-US" sz="2400" dirty="0"/>
              <a:t> duas </a:t>
            </a:r>
            <a:r>
              <a:rPr lang="en-US" sz="2400" dirty="0" err="1"/>
              <a:t>entidades</a:t>
            </a:r>
            <a:r>
              <a:rPr lang="en-US" sz="2400" dirty="0"/>
              <a:t>(</a:t>
            </a:r>
            <a:r>
              <a:rPr lang="en-US" sz="2400" dirty="0" err="1"/>
              <a:t>tabelas</a:t>
            </a:r>
            <a:r>
              <a:rPr lang="en-US" sz="2400" dirty="0"/>
              <a:t>), é </a:t>
            </a:r>
            <a:r>
              <a:rPr lang="en-US" sz="2400" dirty="0" err="1"/>
              <a:t>gerada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delas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u="sng" dirty="0" err="1"/>
              <a:t>chave</a:t>
            </a:r>
            <a:r>
              <a:rPr lang="en-US" sz="2400" u="sng" dirty="0"/>
              <a:t> </a:t>
            </a:r>
            <a:r>
              <a:rPr lang="en-US" sz="2400" u="sng" dirty="0" err="1"/>
              <a:t>estrangeira</a:t>
            </a:r>
            <a:r>
              <a:rPr lang="en-US" sz="2400" u="sng" dirty="0"/>
              <a:t>(FK) </a:t>
            </a:r>
            <a:r>
              <a:rPr lang="en-US" sz="2400" dirty="0"/>
              <a:t>que é </a:t>
            </a:r>
            <a:r>
              <a:rPr lang="en-US" sz="2400" dirty="0" err="1"/>
              <a:t>usada</a:t>
            </a:r>
            <a:r>
              <a:rPr lang="en-US" sz="2400" dirty="0"/>
              <a:t> </a:t>
            </a:r>
            <a:r>
              <a:rPr lang="en-US" sz="2400" dirty="0" err="1"/>
              <a:t>pra</a:t>
            </a:r>
            <a:r>
              <a:rPr lang="en-US" sz="2400" dirty="0"/>
              <a:t> </a:t>
            </a:r>
            <a:r>
              <a:rPr lang="en-US" sz="2400" dirty="0" err="1"/>
              <a:t>conectá</a:t>
            </a:r>
            <a:r>
              <a:rPr lang="en-US" sz="2400" dirty="0"/>
              <a:t>-las. Essa </a:t>
            </a:r>
            <a:r>
              <a:rPr lang="en-US" sz="2400" i="1" dirty="0"/>
              <a:t>Foreign Key</a:t>
            </a:r>
            <a:r>
              <a:rPr lang="en-US" sz="2400" dirty="0"/>
              <a:t> </a:t>
            </a:r>
            <a:r>
              <a:rPr lang="en-US" sz="2400" dirty="0" err="1"/>
              <a:t>pode</a:t>
            </a:r>
            <a:r>
              <a:rPr lang="en-US" sz="2400" dirty="0"/>
              <a:t> ser </a:t>
            </a:r>
            <a:r>
              <a:rPr lang="en-US" sz="2400" dirty="0" err="1"/>
              <a:t>colocada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qualquer</a:t>
            </a:r>
            <a:r>
              <a:rPr lang="en-US" sz="2400" dirty="0"/>
              <a:t> um dos </a:t>
            </a:r>
            <a:r>
              <a:rPr lang="en-US" sz="2400" dirty="0" err="1"/>
              <a:t>lados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relação</a:t>
            </a:r>
            <a:r>
              <a:rPr lang="en-US" sz="2400" dirty="0"/>
              <a:t> 1:1, mas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casos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que </a:t>
            </a:r>
            <a:r>
              <a:rPr lang="en-US" sz="2400" dirty="0" err="1"/>
              <a:t>há</a:t>
            </a:r>
            <a:r>
              <a:rPr lang="en-US" sz="2400" dirty="0"/>
              <a:t> </a:t>
            </a:r>
            <a:r>
              <a:rPr lang="en-US" sz="2400" dirty="0" err="1"/>
              <a:t>entidades</a:t>
            </a:r>
            <a:r>
              <a:rPr lang="en-US" sz="2400" dirty="0"/>
              <a:t> fracas, a </a:t>
            </a:r>
            <a:r>
              <a:rPr lang="en-US" sz="2400" dirty="0" err="1"/>
              <a:t>chave</a:t>
            </a:r>
            <a:r>
              <a:rPr lang="en-US" sz="2400" dirty="0"/>
              <a:t> </a:t>
            </a:r>
            <a:r>
              <a:rPr lang="en-US" sz="2400" dirty="0" err="1"/>
              <a:t>deve</a:t>
            </a:r>
            <a:r>
              <a:rPr lang="en-US" sz="2400" dirty="0"/>
              <a:t> ser </a:t>
            </a:r>
            <a:r>
              <a:rPr lang="en-US" sz="2400" dirty="0" err="1"/>
              <a:t>alocada</a:t>
            </a:r>
            <a:r>
              <a:rPr lang="en-US" sz="2400" dirty="0"/>
              <a:t> no </a:t>
            </a:r>
            <a:r>
              <a:rPr lang="en-US" sz="2400" dirty="0" err="1"/>
              <a:t>lado</a:t>
            </a:r>
            <a:r>
              <a:rPr lang="en-US" sz="2400" dirty="0"/>
              <a:t> da </a:t>
            </a:r>
            <a:r>
              <a:rPr lang="en-US" sz="2400" dirty="0" err="1"/>
              <a:t>mesma</a:t>
            </a:r>
            <a:r>
              <a:rPr lang="en-US" sz="2400" dirty="0"/>
              <a:t>.</a:t>
            </a:r>
            <a:endParaRPr lang="pt-BR" sz="2400" u="sng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D1E727EA-8176-7F5C-E644-708BB716256D}"/>
              </a:ext>
            </a:extLst>
          </p:cNvPr>
          <p:cNvCxnSpPr/>
          <p:nvPr/>
        </p:nvCxnSpPr>
        <p:spPr>
          <a:xfrm>
            <a:off x="9116591" y="3130061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0F005BC-3A69-EB22-8B5A-F716B86189DC}"/>
              </a:ext>
            </a:extLst>
          </p:cNvPr>
          <p:cNvSpPr txBox="1"/>
          <p:nvPr/>
        </p:nvSpPr>
        <p:spPr>
          <a:xfrm>
            <a:off x="10207869" y="2980592"/>
            <a:ext cx="1125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Chave </a:t>
            </a:r>
            <a:r>
              <a:rPr lang="en-US" sz="1600" dirty="0" err="1"/>
              <a:t>Estrangeira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223964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8425F-DA5D-C2D7-2C97-DCE26EE59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6F882ED-C128-B266-CAFA-3D37849FF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03930E5-80C5-CF41-7EA4-1D94CBB1FE6A}"/>
              </a:ext>
            </a:extLst>
          </p:cNvPr>
          <p:cNvSpPr txBox="1"/>
          <p:nvPr/>
        </p:nvSpPr>
        <p:spPr>
          <a:xfrm>
            <a:off x="4023969" y="162426"/>
            <a:ext cx="4144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Relacionamento</a:t>
            </a:r>
            <a:r>
              <a:rPr lang="en-US" sz="3600" dirty="0"/>
              <a:t> 1:N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419D980-8AE0-AF96-D46D-444756087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692" y="2603161"/>
            <a:ext cx="2960907" cy="28797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EE6423D-3ACE-D87B-42B9-88BA9566C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214" y="2603160"/>
            <a:ext cx="3004094" cy="28797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6350EEF-F6CB-E7CC-0D6B-7101B359CABF}"/>
              </a:ext>
            </a:extLst>
          </p:cNvPr>
          <p:cNvCxnSpPr>
            <a:cxnSpLocks/>
          </p:cNvCxnSpPr>
          <p:nvPr/>
        </p:nvCxnSpPr>
        <p:spPr>
          <a:xfrm flipV="1">
            <a:off x="5143500" y="4043053"/>
            <a:ext cx="177604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6242AC3-E139-1991-AA7B-9CED04A44FD1}"/>
              </a:ext>
            </a:extLst>
          </p:cNvPr>
          <p:cNvSpPr txBox="1"/>
          <p:nvPr/>
        </p:nvSpPr>
        <p:spPr>
          <a:xfrm>
            <a:off x="5143500" y="3613638"/>
            <a:ext cx="43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36D5E66-5AA1-CA6E-25E3-1E3F5C7A850D}"/>
              </a:ext>
            </a:extLst>
          </p:cNvPr>
          <p:cNvSpPr txBox="1"/>
          <p:nvPr/>
        </p:nvSpPr>
        <p:spPr>
          <a:xfrm>
            <a:off x="6495318" y="4211488"/>
            <a:ext cx="336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</a:t>
            </a:r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3275981-5F02-CEFA-F683-E77E127E375B}"/>
              </a:ext>
            </a:extLst>
          </p:cNvPr>
          <p:cNvSpPr txBox="1"/>
          <p:nvPr/>
        </p:nvSpPr>
        <p:spPr>
          <a:xfrm>
            <a:off x="1817809" y="1116349"/>
            <a:ext cx="8556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Em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relação</a:t>
            </a:r>
            <a:r>
              <a:rPr lang="en-US" sz="2400" dirty="0"/>
              <a:t> entre </a:t>
            </a:r>
            <a:r>
              <a:rPr lang="en-US" sz="2400" dirty="0" err="1"/>
              <a:t>Estúdio</a:t>
            </a:r>
            <a:r>
              <a:rPr lang="en-US" sz="2400" dirty="0"/>
              <a:t> e </a:t>
            </a:r>
            <a:r>
              <a:rPr lang="en-US" sz="2400" dirty="0" err="1"/>
              <a:t>Jogos</a:t>
            </a:r>
            <a:r>
              <a:rPr lang="en-US" sz="2400" dirty="0"/>
              <a:t>, </a:t>
            </a:r>
            <a:r>
              <a:rPr lang="en-US" sz="2400" u="sng" dirty="0"/>
              <a:t>1</a:t>
            </a:r>
            <a:r>
              <a:rPr lang="en-US" sz="2400" dirty="0"/>
              <a:t> </a:t>
            </a:r>
            <a:r>
              <a:rPr lang="en-US" sz="2400" dirty="0" err="1"/>
              <a:t>Estúdio</a:t>
            </a:r>
            <a:r>
              <a:rPr lang="en-US" sz="2400" dirty="0"/>
              <a:t> </a:t>
            </a:r>
            <a:r>
              <a:rPr lang="en-US" sz="2400" dirty="0" err="1"/>
              <a:t>pode</a:t>
            </a:r>
            <a:r>
              <a:rPr lang="en-US" sz="2400" dirty="0"/>
              <a:t> </a:t>
            </a:r>
            <a:r>
              <a:rPr lang="en-US" sz="2400" dirty="0" err="1"/>
              <a:t>desenvolver</a:t>
            </a:r>
            <a:r>
              <a:rPr lang="en-US" sz="2400" dirty="0"/>
              <a:t> </a:t>
            </a:r>
            <a:r>
              <a:rPr lang="en-US" sz="2400" u="sng" dirty="0"/>
              <a:t>N</a:t>
            </a:r>
            <a:r>
              <a:rPr lang="en-US" sz="2400" dirty="0"/>
              <a:t> </a:t>
            </a:r>
            <a:r>
              <a:rPr lang="en-US" sz="2400" dirty="0" err="1"/>
              <a:t>jogos</a:t>
            </a:r>
            <a:r>
              <a:rPr lang="en-US" sz="2400" dirty="0"/>
              <a:t>. Mas </a:t>
            </a:r>
            <a:r>
              <a:rPr lang="en-US" sz="2400" dirty="0" err="1"/>
              <a:t>cada</a:t>
            </a:r>
            <a:r>
              <a:rPr lang="en-US" sz="2400" dirty="0"/>
              <a:t> </a:t>
            </a:r>
            <a:r>
              <a:rPr lang="en-US" sz="2400" dirty="0" err="1"/>
              <a:t>jogo</a:t>
            </a:r>
            <a:r>
              <a:rPr lang="en-US" sz="2400" dirty="0"/>
              <a:t> </a:t>
            </a:r>
            <a:r>
              <a:rPr lang="en-US" sz="2400" dirty="0" err="1"/>
              <a:t>está</a:t>
            </a:r>
            <a:r>
              <a:rPr lang="en-US" sz="2400" dirty="0"/>
              <a:t> </a:t>
            </a:r>
            <a:r>
              <a:rPr lang="en-US" sz="2400" dirty="0" err="1"/>
              <a:t>associado</a:t>
            </a:r>
            <a:r>
              <a:rPr lang="en-US" sz="2400" dirty="0"/>
              <a:t> a um </a:t>
            </a:r>
            <a:r>
              <a:rPr lang="en-US" sz="2400" dirty="0" err="1"/>
              <a:t>estúdio</a:t>
            </a:r>
            <a:r>
              <a:rPr lang="en-US" sz="2400" dirty="0"/>
              <a:t> </a:t>
            </a:r>
            <a:r>
              <a:rPr lang="en-US" sz="2400" dirty="0" err="1"/>
              <a:t>específico</a:t>
            </a:r>
            <a:r>
              <a:rPr lang="en-US" sz="2400" dirty="0"/>
              <a:t>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290833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DBCD-BA93-FD30-22AA-B7966DAE6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0B8C390-21A7-DF1C-06F6-B97E2184C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5C1DD03-6333-EECE-9DD0-F0DE7F406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594" y="1169233"/>
            <a:ext cx="6332811" cy="291039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DABD9F5-DE62-B0EC-27CE-D85845F4DF20}"/>
              </a:ext>
            </a:extLst>
          </p:cNvPr>
          <p:cNvSpPr txBox="1"/>
          <p:nvPr/>
        </p:nvSpPr>
        <p:spPr>
          <a:xfrm>
            <a:off x="4023969" y="162426"/>
            <a:ext cx="4144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Relacionamento</a:t>
            </a:r>
            <a:r>
              <a:rPr lang="en-US" sz="3600" dirty="0"/>
              <a:t> 1:N</a:t>
            </a:r>
            <a:endParaRPr lang="pt-BR" sz="36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B527E7-61CC-080D-7932-5942FCECB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886" y="4901264"/>
            <a:ext cx="10212225" cy="115268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58824F4-15AB-AF28-2664-3A8FA72DA630}"/>
              </a:ext>
            </a:extLst>
          </p:cNvPr>
          <p:cNvSpPr txBox="1"/>
          <p:nvPr/>
        </p:nvSpPr>
        <p:spPr>
          <a:xfrm>
            <a:off x="10207869" y="2980592"/>
            <a:ext cx="1125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Chave </a:t>
            </a:r>
            <a:r>
              <a:rPr lang="en-US" sz="1600" dirty="0" err="1"/>
              <a:t>Estrangeira</a:t>
            </a:r>
            <a:endParaRPr lang="pt-BR" sz="1600" dirty="0"/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4975579-A4D0-5A9A-F8DB-C0158185F1C3}"/>
              </a:ext>
            </a:extLst>
          </p:cNvPr>
          <p:cNvCxnSpPr/>
          <p:nvPr/>
        </p:nvCxnSpPr>
        <p:spPr>
          <a:xfrm>
            <a:off x="8889023" y="3174023"/>
            <a:ext cx="12133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515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BFF53-7079-CADB-858A-0510C916D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0DA9CD0-DFF3-18EC-BBF1-0387DADDB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0EECD6C-669A-5F51-8241-E62B962FE40B}"/>
              </a:ext>
            </a:extLst>
          </p:cNvPr>
          <p:cNvSpPr txBox="1"/>
          <p:nvPr/>
        </p:nvSpPr>
        <p:spPr>
          <a:xfrm>
            <a:off x="4014444" y="257676"/>
            <a:ext cx="4144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Relacionamento</a:t>
            </a:r>
            <a:r>
              <a:rPr lang="en-US" sz="3600" dirty="0"/>
              <a:t> N:M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2536320-8E3A-B537-B8C7-09D80983A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043" y="2871423"/>
            <a:ext cx="2656340" cy="25315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33E4FA9-794E-15E2-9B68-F8D027A89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656" y="2871423"/>
            <a:ext cx="2821301" cy="25315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974AE61D-3133-4882-F691-7779F0D15013}"/>
              </a:ext>
            </a:extLst>
          </p:cNvPr>
          <p:cNvCxnSpPr>
            <a:cxnSpLocks/>
          </p:cNvCxnSpPr>
          <p:nvPr/>
        </p:nvCxnSpPr>
        <p:spPr>
          <a:xfrm>
            <a:off x="5260730" y="4185138"/>
            <a:ext cx="15386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7DE0E5C-1679-6707-FF97-B0FDEDF8DA03}"/>
              </a:ext>
            </a:extLst>
          </p:cNvPr>
          <p:cNvSpPr txBox="1"/>
          <p:nvPr/>
        </p:nvSpPr>
        <p:spPr>
          <a:xfrm>
            <a:off x="5260730" y="3710354"/>
            <a:ext cx="304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E31AB25-ACBD-F6B5-9431-5C63F559125F}"/>
              </a:ext>
            </a:extLst>
          </p:cNvPr>
          <p:cNvSpPr txBox="1"/>
          <p:nvPr/>
        </p:nvSpPr>
        <p:spPr>
          <a:xfrm>
            <a:off x="6386893" y="4290591"/>
            <a:ext cx="304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000ACED-C7D4-7E72-3C57-00C7CDDF2D76}"/>
              </a:ext>
            </a:extLst>
          </p:cNvPr>
          <p:cNvSpPr txBox="1"/>
          <p:nvPr/>
        </p:nvSpPr>
        <p:spPr>
          <a:xfrm>
            <a:off x="1989992" y="1332258"/>
            <a:ext cx="82120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Em um </a:t>
            </a:r>
            <a:r>
              <a:rPr lang="en-US" sz="2400" dirty="0" err="1"/>
              <a:t>jogo</a:t>
            </a:r>
            <a:r>
              <a:rPr lang="en-US" sz="2400" dirty="0"/>
              <a:t>, qual a </a:t>
            </a:r>
            <a:r>
              <a:rPr lang="en-US" sz="2400" dirty="0" err="1"/>
              <a:t>relação</a:t>
            </a:r>
            <a:r>
              <a:rPr lang="en-US" sz="2400" dirty="0"/>
              <a:t> entre um </a:t>
            </a:r>
            <a:r>
              <a:rPr lang="en-US" sz="2400" dirty="0" err="1"/>
              <a:t>Personagem</a:t>
            </a:r>
            <a:r>
              <a:rPr lang="en-US" sz="2400" dirty="0"/>
              <a:t> e um Item?</a:t>
            </a:r>
          </a:p>
          <a:p>
            <a:pPr algn="ctr"/>
            <a:r>
              <a:rPr lang="en-US" sz="2400" dirty="0"/>
              <a:t>Um </a:t>
            </a:r>
            <a:r>
              <a:rPr lang="en-US" sz="2400" dirty="0" err="1"/>
              <a:t>Personagem</a:t>
            </a:r>
            <a:r>
              <a:rPr lang="en-US" sz="2400" dirty="0"/>
              <a:t> </a:t>
            </a:r>
            <a:r>
              <a:rPr lang="en-US" sz="2400" dirty="0" err="1"/>
              <a:t>pode</a:t>
            </a:r>
            <a:r>
              <a:rPr lang="en-US" sz="2400" dirty="0"/>
              <a:t> </a:t>
            </a:r>
            <a:r>
              <a:rPr lang="en-US" sz="2400" dirty="0" err="1"/>
              <a:t>ter</a:t>
            </a:r>
            <a:r>
              <a:rPr lang="en-US" sz="2400" dirty="0"/>
              <a:t> </a:t>
            </a:r>
            <a:r>
              <a:rPr lang="en-US" sz="2400" dirty="0" err="1"/>
              <a:t>vários</a:t>
            </a:r>
            <a:r>
              <a:rPr lang="en-US" sz="2400" dirty="0"/>
              <a:t> </a:t>
            </a:r>
            <a:r>
              <a:rPr lang="en-US" sz="2400" dirty="0" err="1"/>
              <a:t>Itens</a:t>
            </a:r>
            <a:r>
              <a:rPr lang="en-US" sz="2400" dirty="0"/>
              <a:t>(M), mas </a:t>
            </a:r>
            <a:r>
              <a:rPr lang="en-US" sz="2400" dirty="0" err="1"/>
              <a:t>os</a:t>
            </a:r>
            <a:r>
              <a:rPr lang="en-US" sz="2400" dirty="0"/>
              <a:t> </a:t>
            </a:r>
            <a:r>
              <a:rPr lang="en-US" sz="2400" dirty="0" err="1"/>
              <a:t>Itens</a:t>
            </a:r>
            <a:r>
              <a:rPr lang="en-US" sz="2400" dirty="0"/>
              <a:t> </a:t>
            </a:r>
            <a:r>
              <a:rPr lang="en-US" sz="2400" dirty="0" err="1"/>
              <a:t>podem</a:t>
            </a:r>
            <a:r>
              <a:rPr lang="en-US" sz="2400" dirty="0"/>
              <a:t> ser </a:t>
            </a:r>
            <a:r>
              <a:rPr lang="en-US" sz="2400" dirty="0" err="1"/>
              <a:t>equipados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Personagens</a:t>
            </a:r>
            <a:r>
              <a:rPr lang="en-US" sz="2400" dirty="0"/>
              <a:t> </a:t>
            </a:r>
            <a:r>
              <a:rPr lang="en-US" sz="2400" dirty="0" err="1"/>
              <a:t>distintos</a:t>
            </a:r>
            <a:r>
              <a:rPr lang="en-US" sz="2400" dirty="0"/>
              <a:t>(N)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72570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87707-3412-8B74-D012-FF87043C4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7770ED4-B989-7643-EDD1-6A8EF894C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2AC841F-9CBB-17EC-C849-A52865FA6D64}"/>
              </a:ext>
            </a:extLst>
          </p:cNvPr>
          <p:cNvSpPr txBox="1"/>
          <p:nvPr/>
        </p:nvSpPr>
        <p:spPr>
          <a:xfrm>
            <a:off x="4023969" y="277248"/>
            <a:ext cx="4144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Relacionamento</a:t>
            </a:r>
            <a:r>
              <a:rPr lang="en-US" sz="3600" dirty="0"/>
              <a:t> N:M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45445C3-6B65-36B0-EF44-A5A09EF44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816" y="1515872"/>
            <a:ext cx="10078368" cy="246704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570BD9F-C742-343B-AE23-2FCBD653A39C}"/>
              </a:ext>
            </a:extLst>
          </p:cNvPr>
          <p:cNvSpPr txBox="1"/>
          <p:nvPr/>
        </p:nvSpPr>
        <p:spPr>
          <a:xfrm>
            <a:off x="492368" y="4785924"/>
            <a:ext cx="112072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Nesse </a:t>
            </a:r>
            <a:r>
              <a:rPr lang="en-US" sz="2400" dirty="0" err="1"/>
              <a:t>caso</a:t>
            </a:r>
            <a:r>
              <a:rPr lang="en-US" sz="2400" dirty="0"/>
              <a:t>, é </a:t>
            </a:r>
            <a:r>
              <a:rPr lang="en-US" sz="2400" dirty="0" err="1"/>
              <a:t>preciso</a:t>
            </a:r>
            <a:r>
              <a:rPr lang="en-US" sz="2400" dirty="0"/>
              <a:t> </a:t>
            </a:r>
            <a:r>
              <a:rPr lang="en-US" sz="2400" dirty="0" err="1"/>
              <a:t>criar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tabela</a:t>
            </a:r>
            <a:r>
              <a:rPr lang="en-US" sz="2400" dirty="0"/>
              <a:t> </a:t>
            </a:r>
            <a:r>
              <a:rPr lang="en-US" sz="2400" dirty="0" err="1"/>
              <a:t>intermediária</a:t>
            </a:r>
            <a:r>
              <a:rPr lang="en-US" sz="2400" dirty="0"/>
              <a:t>(o model </a:t>
            </a:r>
            <a:r>
              <a:rPr lang="en-US" sz="2400" dirty="0" err="1"/>
              <a:t>cria</a:t>
            </a:r>
            <a:r>
              <a:rPr lang="en-US" sz="2400" dirty="0"/>
              <a:t> </a:t>
            </a:r>
            <a:r>
              <a:rPr lang="en-US" sz="2400" dirty="0" err="1"/>
              <a:t>automaticamente</a:t>
            </a:r>
            <a:r>
              <a:rPr lang="en-US" sz="2400" dirty="0"/>
              <a:t>, mas no Script é </a:t>
            </a:r>
            <a:r>
              <a:rPr lang="en-US" sz="2400" dirty="0" err="1"/>
              <a:t>necessária</a:t>
            </a:r>
            <a:r>
              <a:rPr lang="en-US" sz="2400" dirty="0"/>
              <a:t> </a:t>
            </a:r>
            <a:r>
              <a:rPr lang="en-US" sz="2400" dirty="0" err="1"/>
              <a:t>sua</a:t>
            </a:r>
            <a:r>
              <a:rPr lang="en-US" sz="2400" dirty="0"/>
              <a:t> </a:t>
            </a:r>
            <a:r>
              <a:rPr lang="en-US" sz="2400" dirty="0" err="1"/>
              <a:t>implementação</a:t>
            </a:r>
            <a:r>
              <a:rPr lang="en-US" sz="2400" dirty="0"/>
              <a:t>). As </a:t>
            </a:r>
            <a:r>
              <a:rPr lang="en-US" sz="2400" dirty="0" err="1"/>
              <a:t>chaves</a:t>
            </a:r>
            <a:r>
              <a:rPr lang="en-US" sz="2400" dirty="0"/>
              <a:t> </a:t>
            </a:r>
            <a:r>
              <a:rPr lang="en-US" sz="2400" dirty="0" err="1"/>
              <a:t>primárias</a:t>
            </a:r>
            <a:r>
              <a:rPr lang="en-US" sz="2400" dirty="0"/>
              <a:t> de </a:t>
            </a:r>
            <a:r>
              <a:rPr lang="en-US" sz="2400" dirty="0" err="1"/>
              <a:t>cada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das </a:t>
            </a:r>
            <a:r>
              <a:rPr lang="en-US" sz="2400" dirty="0" err="1"/>
              <a:t>entidades</a:t>
            </a:r>
            <a:r>
              <a:rPr lang="en-US" sz="2400" dirty="0"/>
              <a:t> </a:t>
            </a:r>
            <a:r>
              <a:rPr lang="en-US" sz="2400" dirty="0" err="1"/>
              <a:t>vira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das </a:t>
            </a:r>
            <a:r>
              <a:rPr lang="en-US" sz="2400" dirty="0" err="1"/>
              <a:t>chaves</a:t>
            </a:r>
            <a:r>
              <a:rPr lang="en-US" sz="2400" dirty="0"/>
              <a:t> </a:t>
            </a:r>
            <a:r>
              <a:rPr lang="en-US" sz="2400" dirty="0" err="1"/>
              <a:t>entrangeiras</a:t>
            </a:r>
            <a:r>
              <a:rPr lang="en-US" sz="2400" dirty="0"/>
              <a:t> dessa </a:t>
            </a:r>
            <a:r>
              <a:rPr lang="en-US" sz="2400" dirty="0" err="1"/>
              <a:t>tabela</a:t>
            </a:r>
            <a:r>
              <a:rPr lang="en-US" sz="2400" dirty="0"/>
              <a:t> </a:t>
            </a:r>
            <a:r>
              <a:rPr lang="en-US" sz="2400" dirty="0" err="1"/>
              <a:t>intermediária</a:t>
            </a:r>
            <a:r>
              <a:rPr lang="en-US" sz="2400" dirty="0"/>
              <a:t>. É </a:t>
            </a:r>
            <a:r>
              <a:rPr lang="en-US" sz="2400" dirty="0" err="1"/>
              <a:t>possível</a:t>
            </a:r>
            <a:r>
              <a:rPr lang="en-US" sz="2400" dirty="0"/>
              <a:t> </a:t>
            </a:r>
            <a:r>
              <a:rPr lang="en-US" sz="2400" dirty="0" err="1"/>
              <a:t>inserir</a:t>
            </a:r>
            <a:r>
              <a:rPr lang="en-US" sz="2400" dirty="0"/>
              <a:t> </a:t>
            </a:r>
            <a:r>
              <a:rPr lang="en-US" sz="2400" dirty="0" err="1"/>
              <a:t>atributos</a:t>
            </a:r>
            <a:r>
              <a:rPr lang="en-US" sz="2400" dirty="0"/>
              <a:t> </a:t>
            </a:r>
            <a:r>
              <a:rPr lang="en-US" sz="2400" dirty="0" err="1"/>
              <a:t>nesta</a:t>
            </a:r>
            <a:r>
              <a:rPr lang="en-US" sz="2400" dirty="0"/>
              <a:t> </a:t>
            </a:r>
            <a:r>
              <a:rPr lang="en-US" sz="2400" dirty="0" err="1"/>
              <a:t>tabela</a:t>
            </a:r>
            <a:r>
              <a:rPr lang="en-US" sz="2400" dirty="0"/>
              <a:t> nova, </a:t>
            </a:r>
            <a:r>
              <a:rPr lang="en-US" sz="2400" dirty="0" err="1"/>
              <a:t>como</a:t>
            </a:r>
            <a:r>
              <a:rPr lang="en-US" sz="2400" dirty="0"/>
              <a:t> </a:t>
            </a:r>
            <a:r>
              <a:rPr lang="en-US" sz="2400" dirty="0" err="1"/>
              <a:t>foi</a:t>
            </a:r>
            <a:r>
              <a:rPr lang="en-US" sz="2400" dirty="0"/>
              <a:t> </a:t>
            </a:r>
            <a:r>
              <a:rPr lang="en-US" sz="2400" dirty="0" err="1"/>
              <a:t>feito</a:t>
            </a:r>
            <a:r>
              <a:rPr lang="en-US" sz="2400" dirty="0"/>
              <a:t> com “</a:t>
            </a:r>
            <a:r>
              <a:rPr lang="en-US" sz="2400" dirty="0" err="1"/>
              <a:t>capArmazenamento</a:t>
            </a:r>
            <a:r>
              <a:rPr lang="en-US" sz="2400" dirty="0"/>
              <a:t>”.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58150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04B2-351A-266A-8AA4-C9F029AB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187CD8B-0F60-AF29-994A-5CBBF1FB1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CBBA7F8-E33B-D54D-497B-37E27CD1B259}"/>
              </a:ext>
            </a:extLst>
          </p:cNvPr>
          <p:cNvSpPr txBox="1"/>
          <p:nvPr/>
        </p:nvSpPr>
        <p:spPr>
          <a:xfrm>
            <a:off x="3815202" y="287686"/>
            <a:ext cx="45615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dirty="0" err="1">
                <a:ea typeface="Calibri"/>
                <a:cs typeface="Calibri"/>
              </a:rPr>
              <a:t>Herança</a:t>
            </a:r>
            <a:r>
              <a:rPr lang="en-US" sz="3600" dirty="0">
                <a:ea typeface="Calibri"/>
                <a:cs typeface="Calibri"/>
              </a:rPr>
              <a:t>/</a:t>
            </a:r>
            <a:r>
              <a:rPr lang="en-US" sz="3600" dirty="0" err="1">
                <a:ea typeface="Calibri"/>
                <a:cs typeface="Calibri"/>
              </a:rPr>
              <a:t>Generalização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AF925B-DE85-7B6A-A467-538166ADA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66" y="1251363"/>
            <a:ext cx="6324469" cy="514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607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8BB2D-051D-7530-B21A-7A803C58F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C105B05-4F64-1C58-C6FC-6EB7A7ABB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F0C18A4-88D5-7BA2-AD59-B5842C889802}"/>
              </a:ext>
            </a:extLst>
          </p:cNvPr>
          <p:cNvSpPr txBox="1"/>
          <p:nvPr/>
        </p:nvSpPr>
        <p:spPr>
          <a:xfrm>
            <a:off x="1299558" y="339878"/>
            <a:ext cx="958244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dirty="0"/>
              <a:t>Relacionamento </a:t>
            </a:r>
            <a:r>
              <a:rPr lang="en-US" sz="3600" dirty="0" err="1"/>
              <a:t>Recursivo</a:t>
            </a:r>
            <a:r>
              <a:rPr lang="en-US" sz="3600" dirty="0"/>
              <a:t> (Auto-Relacionamento)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7D006F-C87A-2A50-4B7E-07113AC19D81}"/>
              </a:ext>
            </a:extLst>
          </p:cNvPr>
          <p:cNvSpPr txBox="1"/>
          <p:nvPr/>
        </p:nvSpPr>
        <p:spPr>
          <a:xfrm>
            <a:off x="492368" y="4785924"/>
            <a:ext cx="11228140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ea typeface="+mn-lt"/>
                <a:cs typeface="+mn-lt"/>
              </a:rPr>
              <a:t>Em </a:t>
            </a:r>
            <a:r>
              <a:rPr lang="en-US" sz="2400" dirty="0" err="1">
                <a:ea typeface="+mn-lt"/>
                <a:cs typeface="+mn-lt"/>
              </a:rPr>
              <a:t>relacionamentos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recursivos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conexões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b="1" dirty="0">
                <a:ea typeface="+mn-lt"/>
                <a:cs typeface="+mn-lt"/>
              </a:rPr>
              <a:t>1x1</a:t>
            </a:r>
            <a:r>
              <a:rPr lang="en-US" sz="2400" dirty="0">
                <a:ea typeface="+mn-lt"/>
                <a:cs typeface="+mn-lt"/>
              </a:rPr>
              <a:t> e </a:t>
            </a:r>
            <a:r>
              <a:rPr lang="en-US" sz="2400" b="1" dirty="0">
                <a:ea typeface="+mn-lt"/>
                <a:cs typeface="+mn-lt"/>
              </a:rPr>
              <a:t>1xN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usam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uma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chave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estrangeira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própria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tabela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apontando</a:t>
            </a:r>
            <a:r>
              <a:rPr lang="en-US" sz="2400" dirty="0">
                <a:ea typeface="+mn-lt"/>
                <a:cs typeface="+mn-lt"/>
              </a:rPr>
              <a:t> para </a:t>
            </a:r>
            <a:r>
              <a:rPr lang="en-US" sz="2400" dirty="0" err="1">
                <a:ea typeface="+mn-lt"/>
                <a:cs typeface="+mn-lt"/>
              </a:rPr>
              <a:t>sua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chave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primária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enquanto</a:t>
            </a:r>
            <a:r>
              <a:rPr lang="en-US" sz="2400" dirty="0">
                <a:ea typeface="+mn-lt"/>
                <a:cs typeface="+mn-lt"/>
              </a:rPr>
              <a:t> no </a:t>
            </a:r>
            <a:r>
              <a:rPr lang="en-US" sz="2400" b="1" dirty="0" err="1">
                <a:ea typeface="+mn-lt"/>
                <a:cs typeface="+mn-lt"/>
              </a:rPr>
              <a:t>NxN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exige</a:t>
            </a:r>
            <a:r>
              <a:rPr lang="en-US" sz="2400" dirty="0">
                <a:ea typeface="+mn-lt"/>
                <a:cs typeface="+mn-lt"/>
              </a:rPr>
              <a:t>-se </a:t>
            </a:r>
            <a:r>
              <a:rPr lang="en-US" sz="2400" dirty="0" err="1">
                <a:ea typeface="+mn-lt"/>
                <a:cs typeface="+mn-lt"/>
              </a:rPr>
              <a:t>uma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tabela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intermediária</a:t>
            </a:r>
            <a:r>
              <a:rPr lang="en-US" sz="2400" dirty="0">
                <a:ea typeface="+mn-lt"/>
                <a:cs typeface="+mn-lt"/>
              </a:rPr>
              <a:t> com duas </a:t>
            </a:r>
            <a:r>
              <a:rPr lang="en-US" sz="2400" dirty="0" err="1">
                <a:ea typeface="+mn-lt"/>
                <a:cs typeface="+mn-lt"/>
              </a:rPr>
              <a:t>chaves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estrangeiras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apontando</a:t>
            </a:r>
            <a:r>
              <a:rPr lang="en-US" sz="2400" dirty="0">
                <a:ea typeface="+mn-lt"/>
                <a:cs typeface="+mn-lt"/>
              </a:rPr>
              <a:t> para a </a:t>
            </a:r>
            <a:r>
              <a:rPr lang="en-US" sz="2400" dirty="0" err="1">
                <a:ea typeface="+mn-lt"/>
                <a:cs typeface="+mn-lt"/>
              </a:rPr>
              <a:t>mesma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entidade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podendo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incluir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atributos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próprios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10E8058-698E-CCC0-3ABF-9308790B1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572" y="1440037"/>
            <a:ext cx="4728445" cy="3121983"/>
          </a:xfrm>
          <a:prstGeom prst="rect">
            <a:avLst/>
          </a:prstGeom>
        </p:spPr>
      </p:pic>
      <p:pic>
        <p:nvPicPr>
          <p:cNvPr id="7" name="Imagem 6" descr="Modelo Conceitual de Dados - Aprenda a utilizar os principais mecanismos de  abstração.">
            <a:extLst>
              <a:ext uri="{FF2B5EF4-FFF2-40B4-BE49-F238E27FC236}">
                <a16:creationId xmlns:a16="http://schemas.microsoft.com/office/drawing/2014/main" id="{8F7722FB-4DEC-DDB5-6801-4D05ACE5E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90" y="1666027"/>
            <a:ext cx="5057123" cy="267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39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C0F05-0A0D-2A30-D252-18EF80FB3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7A3CAEF-2EF5-8DED-C70F-4585B6515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B31854F-8975-2679-DE5C-562254DDA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97" y="85011"/>
            <a:ext cx="10964805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EAB37-5447-0C6D-4501-1950BA892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10EBDFF-A981-15BC-B40B-540301417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CC07FA8-D63C-1513-55A6-12D8CB130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824" y="114680"/>
            <a:ext cx="11342076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Exercício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sz="1600" dirty="0">
                <a:ea typeface="+mn-lt"/>
                <a:cs typeface="+mn-lt"/>
              </a:rPr>
              <a:t>Uma instituição de ensino quer modelar seu sistema acadêmico. O modelo deve representar pessoas, cursos, disciplinas e matrículas, e o diagrama deve estar </a:t>
            </a:r>
            <a:r>
              <a:rPr lang="pt-BR" sz="1600" b="1" dirty="0">
                <a:ea typeface="+mn-lt"/>
                <a:cs typeface="+mn-lt"/>
              </a:rPr>
              <a:t>organizado em </a:t>
            </a:r>
            <a:r>
              <a:rPr lang="pt-BR" sz="1600" b="1" dirty="0" err="1">
                <a:ea typeface="+mn-lt"/>
                <a:cs typeface="+mn-lt"/>
              </a:rPr>
              <a:t>layers</a:t>
            </a:r>
            <a:r>
              <a:rPr lang="pt-BR" sz="1600" dirty="0">
                <a:ea typeface="+mn-lt"/>
                <a:cs typeface="+mn-lt"/>
              </a:rPr>
              <a:t>, agrupando as tabelas por contexto.</a:t>
            </a:r>
            <a:endParaRPr lang="pt-BR" dirty="0"/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pt-BR" sz="1600"/>
              <a:t>Pessoa :</a:t>
            </a:r>
            <a:endParaRPr lang="pt-BR" sz="1600">
              <a:ea typeface="Calibri"/>
              <a:cs typeface="Calibri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pt-BR" sz="1600" dirty="0">
              <a:ea typeface="Calibri" panose="020F0502020204030204"/>
              <a:cs typeface="Calibri" panose="020F0502020204030204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Cada </a:t>
            </a:r>
            <a:r>
              <a:rPr lang="pt-BR" sz="1600"/>
              <a:t>Pessoa</a:t>
            </a:r>
            <a:r>
              <a:rPr lang="pt-BR" sz="1600" dirty="0"/>
              <a:t> deve ter uma identificação única (ID);</a:t>
            </a:r>
            <a:endParaRPr lang="pt-BR" sz="1600" dirty="0">
              <a:ea typeface="Calibri"/>
              <a:cs typeface="Calibri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Nome;</a:t>
            </a:r>
            <a:endParaRPr lang="pt-BR" sz="1600" dirty="0">
              <a:ea typeface="Calibri" panose="020F0502020204030204"/>
              <a:cs typeface="Calibri" panose="020F0502020204030204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pt-BR" sz="1600"/>
              <a:t>     CPF;</a:t>
            </a:r>
            <a:endParaRPr lang="pt-BR" sz="1600">
              <a:ea typeface="Calibri"/>
              <a:cs typeface="Calibri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Email.</a:t>
            </a:r>
            <a:endParaRPr lang="pt-BR" sz="1600" dirty="0">
              <a:ea typeface="Calibri" panose="020F0502020204030204"/>
              <a:cs typeface="Calibri" panose="020F0502020204030204"/>
            </a:endParaRPr>
          </a:p>
          <a:p>
            <a:pPr marL="285750" lvl="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sz="1600">
                <a:ea typeface="Calibri" panose="020F0502020204030204"/>
                <a:cs typeface="Calibri" panose="020F0502020204030204"/>
              </a:rPr>
              <a:t>1.1   Aluno :</a:t>
            </a:r>
            <a:endParaRPr lang="pt-BR" sz="16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pt-BR" sz="16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pt-BR" sz="1600">
                <a:ea typeface="Calibri" panose="020F0502020204030204"/>
                <a:cs typeface="Calibri" panose="020F0502020204030204"/>
              </a:rPr>
              <a:t>Data de Nascimento</a:t>
            </a:r>
            <a:r>
              <a:rPr lang="pt-BR" sz="1600" dirty="0">
                <a:ea typeface="Calibri" panose="020F0502020204030204"/>
                <a:cs typeface="Calibri" panose="020F0502020204030204"/>
              </a:rPr>
              <a:t>;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pt-BR" sz="1600">
                <a:ea typeface="Calibri" panose="020F0502020204030204"/>
                <a:cs typeface="Calibri" panose="020F0502020204030204"/>
              </a:rPr>
              <a:t>Matrícula.</a:t>
            </a:r>
            <a:endParaRPr lang="pt-BR" sz="16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pt-BR" sz="16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sz="1600">
                <a:ea typeface="Calibri" panose="020F0502020204030204"/>
                <a:cs typeface="Calibri" panose="020F0502020204030204"/>
              </a:rPr>
              <a:t>1.2 Professor:</a:t>
            </a:r>
            <a:endParaRPr lang="pt-BR" sz="16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pt-BR" sz="16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pt-BR" sz="1600">
                <a:ea typeface="Calibri" panose="020F0502020204030204"/>
                <a:cs typeface="Calibri" panose="020F0502020204030204"/>
              </a:rPr>
              <a:t>Titulação;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pt-BR" sz="1600">
                <a:ea typeface="Calibri" panose="020F0502020204030204"/>
                <a:cs typeface="Calibri" panose="020F0502020204030204"/>
              </a:rPr>
              <a:t>Data de Contratação</a:t>
            </a:r>
            <a:r>
              <a:rPr lang="pt-BR" sz="1600" dirty="0">
                <a:ea typeface="Calibri" panose="020F0502020204030204"/>
                <a:cs typeface="Calibri" panose="020F05020202040302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5100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2CE3A-F8B7-E786-247A-436813E90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42806E5-AF47-0474-5074-CF108216C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294FA2D-A038-7E73-345C-DC73529EA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823" y="106393"/>
            <a:ext cx="1134207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Exercício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Uma instituição de ensino quer modelar seu sistema acadêmico. O modelo deve representar pessoas, cursos, disciplinas e matrículas, e o diagrama deve estar </a:t>
            </a:r>
            <a:r>
              <a:rPr lang="pt-BR" sz="1600" b="1" dirty="0"/>
              <a:t>organizado em </a:t>
            </a:r>
            <a:r>
              <a:rPr lang="pt-BR" sz="1600" b="1" dirty="0" err="1"/>
              <a:t>layers</a:t>
            </a:r>
            <a:r>
              <a:rPr lang="pt-BR" sz="1600" dirty="0"/>
              <a:t>, agrupando as tabelas por contexto.</a:t>
            </a:r>
            <a:endParaRPr lang="pt-BR" sz="1600" dirty="0">
              <a:ea typeface="Calibri"/>
              <a:cs typeface="Calibri"/>
            </a:endParaRPr>
          </a:p>
          <a:p>
            <a:pPr lvl="0">
              <a:spcBef>
                <a:spcPct val="0"/>
              </a:spcBef>
              <a:spcAft>
                <a:spcPct val="0"/>
              </a:spcAft>
            </a:pPr>
            <a:endParaRPr lang="pt-BR" sz="1600" dirty="0">
              <a:ea typeface="Calibri"/>
              <a:cs typeface="Calibr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/>
              <a:t>2. Curso:</a:t>
            </a:r>
            <a:endParaRPr lang="pt-BR" sz="1600">
              <a:ea typeface="Calibri"/>
              <a:cs typeface="Calibr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Identificador;</a:t>
            </a:r>
            <a:endParaRPr lang="pt-BR" sz="1600">
              <a:ea typeface="Calibri"/>
              <a:cs typeface="Calibri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Nome;</a:t>
            </a:r>
            <a:endParaRPr lang="pt-BR" sz="1600">
              <a:ea typeface="Calibri" panose="020F0502020204030204"/>
              <a:cs typeface="Calibri" panose="020F0502020204030204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Duração (anos);</a:t>
            </a:r>
            <a:endParaRPr lang="pt-BR" sz="1600">
              <a:ea typeface="Calibri" panose="020F0502020204030204"/>
              <a:cs typeface="Calibri" panose="020F0502020204030204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Modalidade.</a:t>
            </a:r>
            <a:endParaRPr lang="pt-BR" sz="1600">
              <a:ea typeface="Calibri" panose="020F0502020204030204"/>
              <a:cs typeface="Calibri" panose="020F0502020204030204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>
              <a:ea typeface="Calibri" panose="020F0502020204030204"/>
              <a:cs typeface="Calibri" panose="020F0502020204030204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3. </a:t>
            </a:r>
            <a:r>
              <a:rPr lang="pt-BR" sz="1600"/>
              <a:t>Disciplina</a:t>
            </a:r>
            <a:r>
              <a:rPr lang="pt-BR" sz="1600" dirty="0"/>
              <a:t>:</a:t>
            </a:r>
            <a:endParaRPr lang="pt-BR" sz="1600" dirty="0">
              <a:ea typeface="Calibri"/>
              <a:cs typeface="Calibr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Identificador;</a:t>
            </a:r>
            <a:endParaRPr lang="pt-BR" sz="1600">
              <a:ea typeface="Calibri"/>
              <a:cs typeface="Calibri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Nome;</a:t>
            </a:r>
            <a:endParaRPr lang="pt-BR" sz="1600">
              <a:ea typeface="Calibri" panose="020F0502020204030204"/>
              <a:cs typeface="Calibri" panose="020F0502020204030204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Carga Horária(h);</a:t>
            </a:r>
            <a:endParaRPr lang="pt-BR" sz="1600">
              <a:ea typeface="Calibri" panose="020F0502020204030204"/>
              <a:cs typeface="Calibri" panose="020F0502020204030204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>
                <a:ea typeface="Calibri" panose="020F0502020204030204"/>
                <a:cs typeface="Calibri" panose="020F0502020204030204"/>
              </a:rPr>
              <a:t>Id do Curso;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>
                <a:ea typeface="Calibri" panose="020F0502020204030204"/>
                <a:cs typeface="Calibri" panose="020F0502020204030204"/>
              </a:rPr>
              <a:t>Id do Professor</a:t>
            </a:r>
            <a:r>
              <a:rPr lang="pt-BR" sz="1600" dirty="0">
                <a:ea typeface="Calibri"/>
                <a:cs typeface="Calibri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>
                <a:ea typeface="Calibri"/>
                <a:cs typeface="Calibri"/>
              </a:rPr>
              <a:t>Ponto Importante: Disciplinas podem ser </a:t>
            </a:r>
            <a:r>
              <a:rPr lang="pt-BR" sz="1600" dirty="0" err="1">
                <a:ea typeface="Calibri"/>
                <a:cs typeface="Calibri"/>
              </a:rPr>
              <a:t>co-requisitos</a:t>
            </a:r>
            <a:r>
              <a:rPr lang="pt-BR" sz="1600" dirty="0">
                <a:ea typeface="Calibri"/>
                <a:cs typeface="Calibri"/>
              </a:rPr>
              <a:t> de outras (N:M), indicando dependência intrínseca e mútua.</a:t>
            </a:r>
          </a:p>
        </p:txBody>
      </p:sp>
    </p:spTree>
    <p:extLst>
      <p:ext uri="{BB962C8B-B14F-4D97-AF65-F5344CB8AC3E}">
        <p14:creationId xmlns:p14="http://schemas.microsoft.com/office/powerpoint/2010/main" val="1091971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65D06-9466-1E93-95B2-6ED64631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56E436-977C-D3D6-7779-7A651B269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EE4C973-0C7D-2226-1C01-0ABA7B2CD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695" y="148701"/>
            <a:ext cx="11342076" cy="84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Exercício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Uma instituição de ensino quer modelar seu sistema acadêmico. O modelo deve representar pessoas, cursos, disciplinas e matrículas, e o diagrama deve estar </a:t>
            </a:r>
            <a:r>
              <a:rPr lang="pt-BR" sz="1600" b="1" dirty="0"/>
              <a:t>organizado em </a:t>
            </a:r>
            <a:r>
              <a:rPr lang="pt-BR" sz="1600" b="1" dirty="0" err="1"/>
              <a:t>layers</a:t>
            </a:r>
            <a:r>
              <a:rPr lang="pt-BR" sz="1600" dirty="0"/>
              <a:t>, agrupando as tabelas por contexto.</a:t>
            </a:r>
            <a:endParaRPr lang="pt-BR" sz="1600" dirty="0">
              <a:ea typeface="Calibri"/>
              <a:cs typeface="Calibri"/>
            </a:endParaRPr>
          </a:p>
          <a:p>
            <a:pPr lvl="0">
              <a:spcBef>
                <a:spcPct val="0"/>
              </a:spcBef>
              <a:spcAft>
                <a:spcPct val="0"/>
              </a:spcAft>
            </a:pPr>
            <a:endParaRPr lang="pt-BR" sz="1600" dirty="0">
              <a:ea typeface="Calibri"/>
              <a:cs typeface="Calibr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4. </a:t>
            </a:r>
            <a:r>
              <a:rPr lang="pt-BR" sz="1600"/>
              <a:t>Matrícula</a:t>
            </a:r>
            <a:r>
              <a:rPr lang="pt-BR" sz="1600" dirty="0"/>
              <a:t>:</a:t>
            </a:r>
            <a:endParaRPr lang="pt-BR" sz="1600" dirty="0">
              <a:ea typeface="Calibri"/>
              <a:cs typeface="Calibr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>
              <a:ea typeface="Calibri"/>
              <a:cs typeface="Calibri"/>
            </a:endParaRPr>
          </a:p>
          <a:p>
            <a:pPr marL="285750" lvl="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pt-BR" sz="1600">
                <a:ea typeface="Calibri"/>
                <a:cs typeface="Calibri"/>
              </a:rPr>
              <a:t>Id;</a:t>
            </a:r>
            <a:endParaRPr lang="pt-BR" sz="1600" dirty="0">
              <a:ea typeface="Calibri"/>
              <a:cs typeface="Calibri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pt-BR" sz="1600">
                <a:ea typeface="Calibri"/>
                <a:cs typeface="Calibri"/>
              </a:rPr>
              <a:t>Id do Aluno</a:t>
            </a:r>
            <a:r>
              <a:rPr lang="pt-BR" sz="1600" dirty="0">
                <a:ea typeface="Calibri"/>
                <a:cs typeface="Calibri"/>
              </a:rPr>
              <a:t>;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pt-BR" sz="1600">
                <a:ea typeface="Calibri"/>
                <a:cs typeface="Calibri"/>
              </a:rPr>
              <a:t>Id da Disciplina</a:t>
            </a:r>
            <a:r>
              <a:rPr lang="pt-BR" sz="1600" dirty="0">
                <a:ea typeface="Calibri"/>
                <a:cs typeface="Calibri"/>
              </a:rPr>
              <a:t>;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pt-BR" sz="1600">
                <a:ea typeface="Calibri"/>
                <a:cs typeface="Calibri"/>
              </a:rPr>
              <a:t>Data da Matrícula;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pt-BR" sz="1600" dirty="0">
                <a:ea typeface="Calibri"/>
                <a:cs typeface="Calibri"/>
              </a:rPr>
              <a:t>Stat</a:t>
            </a:r>
            <a:r>
              <a:rPr lang="pt-BR" sz="1600">
                <a:ea typeface="Calibri"/>
                <a:cs typeface="Calibri"/>
              </a:rPr>
              <a:t>us.</a:t>
            </a:r>
            <a:endParaRPr lang="pt-BR" sz="1600" dirty="0">
              <a:ea typeface="Calibri"/>
              <a:cs typeface="Calibri"/>
            </a:endParaRPr>
          </a:p>
          <a:p>
            <a:pPr marL="285750" lvl="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pt-BR" sz="1600" dirty="0">
              <a:ea typeface="Calibri"/>
              <a:cs typeface="Calibri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sz="1600">
                <a:ea typeface="Calibri"/>
                <a:cs typeface="Calibri"/>
              </a:rPr>
              <a:t>Informações Relevantes:</a:t>
            </a:r>
            <a:endParaRPr lang="pt-BR" sz="1600" dirty="0">
              <a:ea typeface="Calibri"/>
              <a:cs typeface="Calibri"/>
            </a:endParaRPr>
          </a:p>
          <a:p>
            <a:pPr lvl="0">
              <a:spcBef>
                <a:spcPct val="0"/>
              </a:spcBef>
              <a:spcAft>
                <a:spcPct val="0"/>
              </a:spcAft>
            </a:pPr>
            <a:endParaRPr lang="pt-BR" sz="1600" dirty="0">
              <a:ea typeface="Calibri"/>
              <a:cs typeface="Calibri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sz="1600">
                <a:ea typeface="+mn-lt"/>
                <a:cs typeface="+mn-lt"/>
              </a:rPr>
              <a:t>Um Curso pode possuir uma ou várias Disciplinas, enquanto uma Disciplina pertence obrigatoriamente a um único Curso;</a:t>
            </a:r>
            <a:endParaRPr lang="pt-BR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sz="1600">
                <a:ea typeface="+mn-lt"/>
                <a:cs typeface="+mn-lt"/>
              </a:rPr>
              <a:t>Um Professor pode ministrar zero, uma ou várias Disciplinas, enquanto uma Disciplina é ministrada por no máximo um Professor;</a:t>
            </a:r>
            <a:endParaRPr lang="pt-BR">
              <a:ea typeface="+mn-lt"/>
              <a:cs typeface="+mn-lt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sz="1600">
                <a:ea typeface="+mn-lt"/>
                <a:cs typeface="+mn-lt"/>
              </a:rPr>
              <a:t>Um Aluno pode se matricular em várias Disciplinas, e uma Disciplina pode receber a matrícula de vários Alunos;</a:t>
            </a:r>
            <a:endParaRPr lang="pt-BR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sz="1600">
                <a:ea typeface="Calibri"/>
                <a:cs typeface="Calibri"/>
              </a:rPr>
              <a:t>Demais informações não ditas contam como interpretação do </a:t>
            </a:r>
            <a:r>
              <a:rPr lang="pt-BR" sz="1600" err="1">
                <a:ea typeface="Calibri"/>
                <a:cs typeface="Calibri"/>
              </a:rPr>
              <a:t>exercí</a:t>
            </a:r>
            <a:r>
              <a:rPr lang="pt-BR" sz="1600">
                <a:ea typeface="Calibri"/>
                <a:cs typeface="Calibri"/>
              </a:rPr>
              <a:t>cio.</a:t>
            </a:r>
          </a:p>
          <a:p>
            <a:pPr lvl="0">
              <a:spcBef>
                <a:spcPct val="0"/>
              </a:spcBef>
              <a:spcAft>
                <a:spcPct val="0"/>
              </a:spcAft>
            </a:pPr>
            <a:endParaRPr lang="pt-BR" sz="1600" dirty="0">
              <a:ea typeface="Calibri"/>
              <a:cs typeface="Calibri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Calibri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Calibr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>
              <a:latin typeface="Calibri" panose="020F0502020204030204"/>
              <a:ea typeface="Calibri"/>
              <a:cs typeface="Calibri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>
              <a:latin typeface="Calibri" panose="020F0502020204030204"/>
              <a:ea typeface="Calibri"/>
              <a:cs typeface="Calibri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>
              <a:latin typeface="Calibri" panose="020F0502020204030204"/>
              <a:ea typeface="Calibri"/>
              <a:cs typeface="Calibri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>
              <a:latin typeface="Calibri" panose="020F0502020204030204"/>
              <a:ea typeface="Calibri"/>
              <a:cs typeface="Calibri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>
              <a:latin typeface="Calibri" panose="020F0502020204030204"/>
              <a:ea typeface="Calibri"/>
              <a:cs typeface="Calibri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>
              <a:latin typeface="Calibri" panose="020F0502020204030204"/>
              <a:ea typeface="Calibri"/>
              <a:cs typeface="Calibri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276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3D6E-FC32-50DA-1CBC-9FDC465B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3F163-C736-9349-5711-22D353FE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25611-E7FA-1D72-494A-0AFBC3CF9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3371B3-3339-12F0-DD89-453EBF0A0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0338DA-9061-D8D4-B5A5-66A14A047FD4}"/>
              </a:ext>
            </a:extLst>
          </p:cNvPr>
          <p:cNvSpPr txBox="1"/>
          <p:nvPr/>
        </p:nvSpPr>
        <p:spPr>
          <a:xfrm>
            <a:off x="3924300" y="2413337"/>
            <a:ext cx="434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5">
                    <a:lumMod val="75000"/>
                  </a:schemeClr>
                </a:solidFill>
              </a:rPr>
              <a:t>AULA CONCLUÍDA!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846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724</Words>
  <Application>Microsoft Office PowerPoint</Application>
  <PresentationFormat>Widescreen</PresentationFormat>
  <Paragraphs>110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Reis</dc:creator>
  <cp:lastModifiedBy>Felipe Tagawa</cp:lastModifiedBy>
  <cp:revision>243</cp:revision>
  <dcterms:created xsi:type="dcterms:W3CDTF">2025-07-18T12:28:20Z</dcterms:created>
  <dcterms:modified xsi:type="dcterms:W3CDTF">2026-08-28T20:53:31Z</dcterms:modified>
</cp:coreProperties>
</file>