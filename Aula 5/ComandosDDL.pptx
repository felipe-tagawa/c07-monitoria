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3" r:id="rId3"/>
    <p:sldId id="258" r:id="rId4"/>
    <p:sldId id="276" r:id="rId5"/>
    <p:sldId id="260" r:id="rId6"/>
    <p:sldId id="264" r:id="rId7"/>
    <p:sldId id="259" r:id="rId8"/>
    <p:sldId id="261" r:id="rId9"/>
    <p:sldId id="262" r:id="rId10"/>
    <p:sldId id="265" r:id="rId11"/>
    <p:sldId id="275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21:57:51.6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 23713,'2417'0'0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21:57:57.7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 23977,'2907'0'0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20:09:45.4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 23713,'4613'0'0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22:09:12.2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22 24145,'2590'0'0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22:21:33.6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23949,'5227'0'0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22:21:37.6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24458,'3418'48'0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22:22:02.6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24415,'3419'0'0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588FEF-F436-4522-91D9-3FBB4B3CDA67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F532B0-B003-473B-9208-A2E213C2D0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0493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42E039-2C2B-455F-97AD-3DF3B59C34CF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0681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6936EA-EDCE-E395-A3E8-3B2553530B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6DB4B34-F732-5ACA-6C64-CED1D90FC4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0857D1-B367-B814-EB98-03A99F1AC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EC918-6A4C-437B-AF1C-9622FE800873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045AAC5-EA2D-166D-3500-ABB01AE0A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55D0B9-E2E2-DB70-C689-7F79AFF10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3346-3985-44F0-BA6E-9776C307A7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4970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E2275C-1CE0-37A1-A0F3-1B6AFA707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5F4C68-467D-983C-74F1-D5AB78224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C15F145-D4D9-9519-40B5-847ABEF84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EC918-6A4C-437B-AF1C-9622FE800873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320868-5273-EA97-185C-AFABF5A7D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0577338-6DA6-1C93-707E-C0538EE57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3346-3985-44F0-BA6E-9776C307A7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4941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F43FE9-E8BA-CCB6-9A8A-65A43F166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F8C63ED-48FC-5189-9E33-145A2ECC2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7E829B-FB38-1C71-36FE-9F7CC3886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EC918-6A4C-437B-AF1C-9622FE800873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2FA988-7822-0A2A-A085-6E9CB9E30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AAD0A9E-D6CA-A6F9-75F9-8827D85CF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3346-3985-44F0-BA6E-9776C307A7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4623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27C781-785B-137D-989A-7D979D4C9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BAABEAD-EBF0-E3C3-2EED-DC7FAAB06D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5AFE13E-692D-C8D6-6BC2-2E77A8B083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D7AEEC0-4DF7-46B1-E6C8-D6B390029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EC918-6A4C-437B-AF1C-9622FE800873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DD2D2BC-F1F2-E327-6161-1E02C31A9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402263B-1BEB-A007-DB23-9D3756597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3346-3985-44F0-BA6E-9776C307A7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6451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02F793-4DA6-BFF2-7FC7-9E6DC55E6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6BE7B32-DB6E-AEC8-9F1A-B3CC133FB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7F77343-E9FC-15D1-D7E4-AE32381DC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CF0CB81-11F6-08C1-FBC4-3574A79C1E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F878FC7-B946-534C-278B-4AF49E94D4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39F3ACE-AC93-8885-1C19-0E0E5FDF4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EC918-6A4C-437B-AF1C-9622FE800873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7DF5604-31E6-42E1-EBA2-53EC7DCD4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63CF9D0-E687-62D8-A172-619849E48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3346-3985-44F0-BA6E-9776C307A7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3962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4A493C-DDF2-EEF4-03EE-673453A9A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B35FD19-D95E-C04E-FFAC-1D2860CBD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EC918-6A4C-437B-AF1C-9622FE800873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A639466-8599-4EDF-4D25-214154F3A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076BE16-EC65-B64D-5603-6145B5107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3346-3985-44F0-BA6E-9776C307A7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1274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DD1F7C1-363E-CA07-3901-4ACE7ADFD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EC918-6A4C-437B-AF1C-9622FE800873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083D0BD-BCE7-8367-19E6-8D231BE98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617531C-D1B9-1DB7-4A9D-3F1B9BA20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3346-3985-44F0-BA6E-9776C307A7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538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23E8EE-BC9B-43B1-E826-345416316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FA0916-0B97-2E29-CF1E-4C5914F68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D3E8EF7-4BF1-C3F0-E4A1-2FE127D776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35DECFD-BE3C-AD54-F9C9-4882D6438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EC918-6A4C-437B-AF1C-9622FE800873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68B860C-46C7-515E-14B4-D55944E16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BC1B3ED-FCFC-3A46-8D2E-582D0A077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3346-3985-44F0-BA6E-9776C307A7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5141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E8FA00-90BA-966E-6A29-4ED50ED36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16D27F3-3175-5174-61EB-42D8CBC76E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C9A38C8-0F8D-9E70-9A78-FA6C49AFB0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D54D4CC-95EE-108A-3A59-AEC31AB3A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EC918-6A4C-437B-AF1C-9622FE800873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656F36D-1B0A-AF43-E75E-5DE081680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A3A6A6E-B119-B59C-5632-66E0FA6EF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3346-3985-44F0-BA6E-9776C307A7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4028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E687EC-2FEA-BC90-D23C-270FBAAE2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516177C-80D8-4A0B-304D-1ABD56BA29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4CBAFD-3824-CD6F-8DEC-C50F51B98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EC918-6A4C-437B-AF1C-9622FE800873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186DC45-DB64-0507-6ED8-3A7D1B5D8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74F945-38A2-F849-3C34-CF311E2E3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3346-3985-44F0-BA6E-9776C307A7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5287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EFE493D-BDF8-AA72-B71F-6681AA2362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3004253-4DC3-5D09-A175-05901F3C68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BEC77F8-F88B-7BBA-8C73-C36A5CB6C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EC918-6A4C-437B-AF1C-9622FE800873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0325517-ED4A-69ED-A0E2-864A1353A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BC8591-79BB-C3CD-D7EC-502B066B2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3346-3985-44F0-BA6E-9776C307A7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5337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9E6E89-3B11-68A4-2DA2-B8FB90D53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53AA82-BC41-C118-C2DC-9DEEC2A8A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84F65B-1D61-FE33-D1D7-CD35F437CF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DEC918-6A4C-437B-AF1C-9622FE800873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FC38E8-EBE4-6922-D320-4CEECB9564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8AE9D3-CE56-1A26-2C9B-5A3E79B5C0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A23346-3985-44F0-BA6E-9776C307A7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1051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8.png"/><Relationship Id="rId7" Type="http://schemas.openxmlformats.org/officeDocument/2006/relationships/image" Target="../media/image6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9.png"/><Relationship Id="rId10" Type="http://schemas.openxmlformats.org/officeDocument/2006/relationships/customXml" Target="../ink/ink3.xml"/><Relationship Id="rId4" Type="http://schemas.openxmlformats.org/officeDocument/2006/relationships/customXml" Target="../ink/ink1.xml"/><Relationship Id="rId9" Type="http://schemas.openxmlformats.org/officeDocument/2006/relationships/image" Target="../media/image7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0.png"/><Relationship Id="rId4" Type="http://schemas.openxmlformats.org/officeDocument/2006/relationships/customXml" Target="../ink/ink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3" Type="http://schemas.openxmlformats.org/officeDocument/2006/relationships/image" Target="../media/image11.png"/><Relationship Id="rId7" Type="http://schemas.openxmlformats.org/officeDocument/2006/relationships/image" Target="../media/image1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5" Type="http://schemas.openxmlformats.org/officeDocument/2006/relationships/image" Target="../media/image110.png"/><Relationship Id="rId4" Type="http://schemas.openxmlformats.org/officeDocument/2006/relationships/customXml" Target="../ink/ink5.xml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754681D-DBF5-8273-C23C-0299FB464C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BCE7230-F407-9EF5-8E18-0586494E95F1}"/>
              </a:ext>
            </a:extLst>
          </p:cNvPr>
          <p:cNvSpPr txBox="1"/>
          <p:nvPr/>
        </p:nvSpPr>
        <p:spPr>
          <a:xfrm>
            <a:off x="105508" y="114300"/>
            <a:ext cx="39389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Banco de Dados – C07</a:t>
            </a:r>
            <a:endParaRPr lang="pt-BR" sz="3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3CC7D12-D3BF-9337-7D0C-D2B1685C85F8}"/>
              </a:ext>
            </a:extLst>
          </p:cNvPr>
          <p:cNvSpPr txBox="1"/>
          <p:nvPr/>
        </p:nvSpPr>
        <p:spPr>
          <a:xfrm>
            <a:off x="105508" y="602313"/>
            <a:ext cx="25233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Felipe Tagawa Reis</a:t>
            </a:r>
            <a:endParaRPr lang="pt-BR" sz="24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E590A6B-DA49-9159-AD12-07097EA653E5}"/>
              </a:ext>
            </a:extLst>
          </p:cNvPr>
          <p:cNvSpPr txBox="1"/>
          <p:nvPr/>
        </p:nvSpPr>
        <p:spPr>
          <a:xfrm>
            <a:off x="105508" y="6035814"/>
            <a:ext cx="33586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Comandos DDL</a:t>
            </a:r>
          </a:p>
        </p:txBody>
      </p:sp>
    </p:spTree>
    <p:extLst>
      <p:ext uri="{BB962C8B-B14F-4D97-AF65-F5344CB8AC3E}">
        <p14:creationId xmlns:p14="http://schemas.microsoft.com/office/powerpoint/2010/main" val="239161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168834C-13B9-6CB3-5318-985EEE39F3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26" name="Picture 2" descr="Types of SQL Commands. - Learnomate Technologies">
            <a:extLst>
              <a:ext uri="{FF2B5EF4-FFF2-40B4-BE49-F238E27FC236}">
                <a16:creationId xmlns:a16="http://schemas.microsoft.com/office/drawing/2014/main" id="{2BE99228-959E-AC6D-4561-CD3DF5B2D6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1023937"/>
            <a:ext cx="8572500" cy="481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9941A8B2-D380-DC77-7419-374815BF0369}"/>
              </a:ext>
            </a:extLst>
          </p:cNvPr>
          <p:cNvSpPr txBox="1"/>
          <p:nvPr/>
        </p:nvSpPr>
        <p:spPr>
          <a:xfrm>
            <a:off x="4588119" y="188803"/>
            <a:ext cx="30157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Linguagem</a:t>
            </a:r>
            <a:r>
              <a:rPr lang="en-US" sz="3600" dirty="0"/>
              <a:t> SQL</a:t>
            </a:r>
            <a:endParaRPr lang="pt-BR" sz="3600" dirty="0"/>
          </a:p>
        </p:txBody>
      </p:sp>
      <p:sp>
        <p:nvSpPr>
          <p:cNvPr id="7" name="Símbolo de &quot;Não Permitido&quot; 6">
            <a:extLst>
              <a:ext uri="{FF2B5EF4-FFF2-40B4-BE49-F238E27FC236}">
                <a16:creationId xmlns:a16="http://schemas.microsoft.com/office/drawing/2014/main" id="{AF4F76FA-5614-227F-C3F8-222E32F0BDFE}"/>
              </a:ext>
            </a:extLst>
          </p:cNvPr>
          <p:cNvSpPr/>
          <p:nvPr/>
        </p:nvSpPr>
        <p:spPr>
          <a:xfrm>
            <a:off x="7765806" y="1855177"/>
            <a:ext cx="2347546" cy="1784839"/>
          </a:xfrm>
          <a:prstGeom prst="noSmoking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6363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8113F-A1BD-AB7E-5C05-BD73BE930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20B5AB8-0114-3359-FC84-630E6C7F1E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93E29DD7-F91D-7787-FE3B-123FF3FEFD57}"/>
              </a:ext>
            </a:extLst>
          </p:cNvPr>
          <p:cNvSpPr txBox="1"/>
          <p:nvPr/>
        </p:nvSpPr>
        <p:spPr>
          <a:xfrm>
            <a:off x="4798402" y="180011"/>
            <a:ext cx="25951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Aula de </a:t>
            </a:r>
            <a:r>
              <a:rPr lang="en-US" sz="3600" dirty="0" err="1"/>
              <a:t>Hoje</a:t>
            </a:r>
            <a:endParaRPr lang="pt-BR" sz="3600" dirty="0"/>
          </a:p>
        </p:txBody>
      </p:sp>
      <p:pic>
        <p:nvPicPr>
          <p:cNvPr id="3" name="Picture 2" descr="Types of SQL Commands. - Learnomate Technologies">
            <a:extLst>
              <a:ext uri="{FF2B5EF4-FFF2-40B4-BE49-F238E27FC236}">
                <a16:creationId xmlns:a16="http://schemas.microsoft.com/office/drawing/2014/main" id="{AAE9AD72-B988-9CA1-92D2-AFAE815E10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1023937"/>
            <a:ext cx="8572500" cy="481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ECDAE331-760E-0B2B-E687-90DE10150262}"/>
              </a:ext>
            </a:extLst>
          </p:cNvPr>
          <p:cNvSpPr/>
          <p:nvPr/>
        </p:nvSpPr>
        <p:spPr>
          <a:xfrm flipH="1">
            <a:off x="2857498" y="2711666"/>
            <a:ext cx="422031" cy="26376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41C933C8-ABC8-9C19-5FE1-2E679453A02A}"/>
              </a:ext>
            </a:extLst>
          </p:cNvPr>
          <p:cNvSpPr/>
          <p:nvPr/>
        </p:nvSpPr>
        <p:spPr>
          <a:xfrm flipH="1">
            <a:off x="2857498" y="3041145"/>
            <a:ext cx="422031" cy="26376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7A2CE3F9-1D8A-FD32-1BCF-37A3DFD7E346}"/>
              </a:ext>
            </a:extLst>
          </p:cNvPr>
          <p:cNvSpPr/>
          <p:nvPr/>
        </p:nvSpPr>
        <p:spPr>
          <a:xfrm flipH="1">
            <a:off x="3182814" y="3297115"/>
            <a:ext cx="422031" cy="26376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5C7BCAF4-BD4C-0798-192A-479758143CFC}"/>
              </a:ext>
            </a:extLst>
          </p:cNvPr>
          <p:cNvSpPr/>
          <p:nvPr/>
        </p:nvSpPr>
        <p:spPr>
          <a:xfrm flipH="1">
            <a:off x="2971798" y="2404991"/>
            <a:ext cx="422031" cy="26376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7300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78719FF-F7CE-4325-97A0-FF41192BC7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92000" cy="6858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9BBF6BF-6C28-843E-8D7C-54E5E79316A6}"/>
              </a:ext>
            </a:extLst>
          </p:cNvPr>
          <p:cNvSpPr txBox="1"/>
          <p:nvPr/>
        </p:nvSpPr>
        <p:spPr>
          <a:xfrm>
            <a:off x="4279106" y="162426"/>
            <a:ext cx="3633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Comando CREATE</a:t>
            </a:r>
            <a:endParaRPr lang="pt-BR" sz="36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9C9AB27-9D6C-BFEE-3BFE-E3D84FCE42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5266" y="1343658"/>
            <a:ext cx="6481468" cy="208534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BF6E00B-9005-2186-FDAD-2F4834F595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8171" y="3429000"/>
            <a:ext cx="9015655" cy="657612"/>
          </a:xfrm>
          <a:prstGeom prst="rect">
            <a:avLst/>
          </a:prstGeom>
        </p:spPr>
      </p:pic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F2ADEBE6-B192-E25D-FBDE-E8F8065A0A74}"/>
              </a:ext>
            </a:extLst>
          </p:cNvPr>
          <p:cNvCxnSpPr>
            <a:cxnSpLocks/>
          </p:cNvCxnSpPr>
          <p:nvPr/>
        </p:nvCxnSpPr>
        <p:spPr>
          <a:xfrm flipH="1">
            <a:off x="1441938" y="4018085"/>
            <a:ext cx="852854" cy="7545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3727BA92-63A0-F1BC-74DE-05A5AF25B4D7}"/>
              </a:ext>
            </a:extLst>
          </p:cNvPr>
          <p:cNvCxnSpPr>
            <a:cxnSpLocks/>
          </p:cNvCxnSpPr>
          <p:nvPr/>
        </p:nvCxnSpPr>
        <p:spPr>
          <a:xfrm flipH="1">
            <a:off x="3226777" y="4086612"/>
            <a:ext cx="79131" cy="9284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B7DCBB4D-2820-209B-44C8-5BE88C126B99}"/>
              </a:ext>
            </a:extLst>
          </p:cNvPr>
          <p:cNvCxnSpPr>
            <a:cxnSpLocks/>
          </p:cNvCxnSpPr>
          <p:nvPr/>
        </p:nvCxnSpPr>
        <p:spPr>
          <a:xfrm>
            <a:off x="4563208" y="4018085"/>
            <a:ext cx="0" cy="997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A129D181-5AFE-1228-DF99-673156D75A82}"/>
              </a:ext>
            </a:extLst>
          </p:cNvPr>
          <p:cNvCxnSpPr>
            <a:cxnSpLocks/>
          </p:cNvCxnSpPr>
          <p:nvPr/>
        </p:nvCxnSpPr>
        <p:spPr>
          <a:xfrm>
            <a:off x="6638193" y="4086612"/>
            <a:ext cx="0" cy="9284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74CC7A68-586D-A3BF-4331-42C01F368DFB}"/>
              </a:ext>
            </a:extLst>
          </p:cNvPr>
          <p:cNvCxnSpPr>
            <a:cxnSpLocks/>
          </p:cNvCxnSpPr>
          <p:nvPr/>
        </p:nvCxnSpPr>
        <p:spPr>
          <a:xfrm>
            <a:off x="9336734" y="4018085"/>
            <a:ext cx="0" cy="997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4E55AD1B-D3AD-923B-0703-62D260DDE8C4}"/>
              </a:ext>
            </a:extLst>
          </p:cNvPr>
          <p:cNvSpPr txBox="1"/>
          <p:nvPr/>
        </p:nvSpPr>
        <p:spPr>
          <a:xfrm>
            <a:off x="647233" y="4849323"/>
            <a:ext cx="1060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Nome do </a:t>
            </a:r>
            <a:r>
              <a:rPr lang="en-US" dirty="0" err="1"/>
              <a:t>Atributo</a:t>
            </a:r>
            <a:endParaRPr lang="pt-BR" dirty="0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F775F0BE-8064-6993-10C1-38805A4389C3}"/>
              </a:ext>
            </a:extLst>
          </p:cNvPr>
          <p:cNvSpPr txBox="1"/>
          <p:nvPr/>
        </p:nvSpPr>
        <p:spPr>
          <a:xfrm>
            <a:off x="2696421" y="5146111"/>
            <a:ext cx="1060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Tipo do </a:t>
            </a:r>
            <a:r>
              <a:rPr lang="en-US" dirty="0" err="1"/>
              <a:t>Atributo</a:t>
            </a:r>
            <a:endParaRPr lang="pt-BR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F73AE8B8-376E-7DB2-EB08-98211C63B96E}"/>
              </a:ext>
            </a:extLst>
          </p:cNvPr>
          <p:cNvSpPr txBox="1"/>
          <p:nvPr/>
        </p:nvSpPr>
        <p:spPr>
          <a:xfrm>
            <a:off x="3947746" y="5172488"/>
            <a:ext cx="13715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Indica que o </a:t>
            </a:r>
            <a:r>
              <a:rPr lang="en-US" dirty="0" err="1"/>
              <a:t>Atributo</a:t>
            </a:r>
            <a:r>
              <a:rPr lang="en-US" dirty="0"/>
              <a:t> </a:t>
            </a:r>
            <a:r>
              <a:rPr lang="en-US" u="sng" dirty="0" err="1"/>
              <a:t>não</a:t>
            </a:r>
            <a:r>
              <a:rPr lang="en-US" u="sng" dirty="0"/>
              <a:t> </a:t>
            </a:r>
            <a:r>
              <a:rPr lang="en-US" u="sng" dirty="0" err="1"/>
              <a:t>pode</a:t>
            </a:r>
            <a:r>
              <a:rPr lang="en-US" u="sng" dirty="0"/>
              <a:t> ser </a:t>
            </a:r>
            <a:r>
              <a:rPr lang="en-US" u="sng" dirty="0" err="1"/>
              <a:t>nulo</a:t>
            </a:r>
            <a:r>
              <a:rPr lang="en-US" dirty="0"/>
              <a:t> (NOT NULL)</a:t>
            </a:r>
            <a:endParaRPr lang="pt-BR" dirty="0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AD911C3A-F14B-D6C5-5E59-858CCEC673FE}"/>
              </a:ext>
            </a:extLst>
          </p:cNvPr>
          <p:cNvSpPr txBox="1"/>
          <p:nvPr/>
        </p:nvSpPr>
        <p:spPr>
          <a:xfrm>
            <a:off x="5459965" y="5103674"/>
            <a:ext cx="25145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Para </a:t>
            </a:r>
            <a:r>
              <a:rPr lang="en-US" dirty="0" err="1"/>
              <a:t>Atributos</a:t>
            </a:r>
            <a:r>
              <a:rPr lang="en-US" dirty="0"/>
              <a:t> </a:t>
            </a:r>
            <a:r>
              <a:rPr lang="en-US" dirty="0" err="1"/>
              <a:t>numéricos</a:t>
            </a:r>
            <a:r>
              <a:rPr lang="en-US" dirty="0"/>
              <a:t>,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modificador</a:t>
            </a:r>
            <a:r>
              <a:rPr lang="en-US" dirty="0"/>
              <a:t> </a:t>
            </a:r>
            <a:r>
              <a:rPr lang="en-US" dirty="0" err="1"/>
              <a:t>incrementa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1 no </a:t>
            </a:r>
            <a:r>
              <a:rPr lang="en-US" dirty="0" err="1"/>
              <a:t>último</a:t>
            </a:r>
            <a:r>
              <a:rPr lang="en-US" dirty="0"/>
              <a:t> </a:t>
            </a:r>
            <a:r>
              <a:rPr lang="en-US" dirty="0" err="1"/>
              <a:t>inserido</a:t>
            </a:r>
            <a:r>
              <a:rPr lang="en-US" dirty="0"/>
              <a:t>, </a:t>
            </a:r>
            <a:r>
              <a:rPr lang="en-US" dirty="0" err="1"/>
              <a:t>sem</a:t>
            </a:r>
            <a:r>
              <a:rPr lang="en-US" dirty="0"/>
              <a:t> a </a:t>
            </a:r>
            <a:r>
              <a:rPr lang="en-US" dirty="0" err="1"/>
              <a:t>necessidade</a:t>
            </a:r>
            <a:r>
              <a:rPr lang="en-US" dirty="0"/>
              <a:t> de </a:t>
            </a:r>
            <a:r>
              <a:rPr lang="en-US" dirty="0" err="1"/>
              <a:t>inserir</a:t>
            </a:r>
            <a:r>
              <a:rPr lang="en-US" dirty="0"/>
              <a:t> </a:t>
            </a:r>
            <a:r>
              <a:rPr lang="en-US" dirty="0" err="1"/>
              <a:t>manualmente</a:t>
            </a:r>
            <a:endParaRPr lang="pt-BR" dirty="0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1CAC4345-3181-A751-F1B8-E5E633F729D3}"/>
              </a:ext>
            </a:extLst>
          </p:cNvPr>
          <p:cNvSpPr txBox="1"/>
          <p:nvPr/>
        </p:nvSpPr>
        <p:spPr>
          <a:xfrm>
            <a:off x="8563708" y="5266592"/>
            <a:ext cx="17408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Indica que </a:t>
            </a:r>
            <a:r>
              <a:rPr lang="en-US" dirty="0" err="1"/>
              <a:t>este</a:t>
            </a:r>
            <a:r>
              <a:rPr lang="en-US" dirty="0"/>
              <a:t> é um </a:t>
            </a:r>
            <a:r>
              <a:rPr lang="en-US" dirty="0" err="1"/>
              <a:t>Atributo</a:t>
            </a:r>
            <a:r>
              <a:rPr lang="en-US" dirty="0"/>
              <a:t> </a:t>
            </a:r>
            <a:r>
              <a:rPr lang="en-US" dirty="0" err="1"/>
              <a:t>chave</a:t>
            </a:r>
            <a:r>
              <a:rPr lang="en-US" dirty="0"/>
              <a:t> para a </a:t>
            </a:r>
            <a:r>
              <a:rPr lang="en-US" dirty="0" err="1"/>
              <a:t>tabela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questão</a:t>
            </a:r>
            <a:endParaRPr lang="pt-BR" dirty="0"/>
          </a:p>
        </p:txBody>
      </p:sp>
      <p:pic>
        <p:nvPicPr>
          <p:cNvPr id="32" name="Imagem 31">
            <a:extLst>
              <a:ext uri="{FF2B5EF4-FFF2-40B4-BE49-F238E27FC236}">
                <a16:creationId xmlns:a16="http://schemas.microsoft.com/office/drawing/2014/main" id="{B2B0B117-7EBB-8952-6EFE-5DB3655D4B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813" y="485591"/>
            <a:ext cx="1714739" cy="238158"/>
          </a:xfrm>
          <a:prstGeom prst="rect">
            <a:avLst/>
          </a:prstGeom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4DA609A2-196C-8450-5FEB-881EF59C4F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1932" y="485591"/>
            <a:ext cx="3781953" cy="428685"/>
          </a:xfrm>
          <a:prstGeom prst="rect">
            <a:avLst/>
          </a:prstGeom>
        </p:spPr>
      </p:pic>
      <p:cxnSp>
        <p:nvCxnSpPr>
          <p:cNvPr id="36" name="Conector: Angulado 35">
            <a:extLst>
              <a:ext uri="{FF2B5EF4-FFF2-40B4-BE49-F238E27FC236}">
                <a16:creationId xmlns:a16="http://schemas.microsoft.com/office/drawing/2014/main" id="{32F501D2-20E4-B124-FB9B-309440F6DF6E}"/>
              </a:ext>
            </a:extLst>
          </p:cNvPr>
          <p:cNvCxnSpPr>
            <a:cxnSpLocks/>
          </p:cNvCxnSpPr>
          <p:nvPr/>
        </p:nvCxnSpPr>
        <p:spPr>
          <a:xfrm flipV="1">
            <a:off x="4070838" y="1101436"/>
            <a:ext cx="562706" cy="334541"/>
          </a:xfrm>
          <a:prstGeom prst="bentConnector3">
            <a:avLst>
              <a:gd name="adj1" fmla="val -3125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B8226EE7-7817-7E0C-CE39-EA396CFA9162}"/>
              </a:ext>
            </a:extLst>
          </p:cNvPr>
          <p:cNvSpPr txBox="1"/>
          <p:nvPr/>
        </p:nvSpPr>
        <p:spPr>
          <a:xfrm>
            <a:off x="4633544" y="930042"/>
            <a:ext cx="975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Cláusula</a:t>
            </a:r>
            <a:endParaRPr lang="pt-B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6320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9B3BF-158D-9558-5552-07F216DFD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E514A06-ED8D-C178-7D3B-3F403C7B31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0F5B4B5A-9DFD-2624-CD95-8A3207811C60}"/>
              </a:ext>
            </a:extLst>
          </p:cNvPr>
          <p:cNvSpPr txBox="1"/>
          <p:nvPr/>
        </p:nvSpPr>
        <p:spPr>
          <a:xfrm>
            <a:off x="4376005" y="180011"/>
            <a:ext cx="3439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Comando</a:t>
            </a:r>
            <a:r>
              <a:rPr lang="en-US" sz="3600" dirty="0"/>
              <a:t> DROP</a:t>
            </a:r>
            <a:endParaRPr lang="pt-BR" sz="36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DFFE4F3-512C-763E-15BC-83FF2B4D2934}"/>
              </a:ext>
            </a:extLst>
          </p:cNvPr>
          <p:cNvSpPr txBox="1"/>
          <p:nvPr/>
        </p:nvSpPr>
        <p:spPr>
          <a:xfrm>
            <a:off x="2664802" y="1095443"/>
            <a:ext cx="68623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Comando</a:t>
            </a:r>
            <a:r>
              <a:rPr lang="en-US" sz="2000" dirty="0"/>
              <a:t> de </a:t>
            </a:r>
            <a:r>
              <a:rPr lang="en-US" sz="2000" u="sng" dirty="0" err="1"/>
              <a:t>exclusão</a:t>
            </a:r>
            <a:r>
              <a:rPr lang="en-US" sz="2000" u="sng" dirty="0"/>
              <a:t> de </a:t>
            </a:r>
            <a:r>
              <a:rPr lang="en-US" sz="2000" u="sng" dirty="0" err="1"/>
              <a:t>cláusulas</a:t>
            </a:r>
            <a:r>
              <a:rPr lang="en-US" sz="2000" dirty="0"/>
              <a:t> </a:t>
            </a:r>
            <a:r>
              <a:rPr lang="en-US" sz="2000" dirty="0" err="1"/>
              <a:t>presentes</a:t>
            </a:r>
            <a:r>
              <a:rPr lang="en-US" sz="2000" dirty="0"/>
              <a:t> no banco de dados</a:t>
            </a:r>
            <a:endParaRPr lang="pt-BR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269F820-E0DC-67CE-CEBD-31EC1FCA3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4131" y="1886008"/>
            <a:ext cx="6177080" cy="354747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" name="Tinta 16">
                <a:extLst>
                  <a:ext uri="{FF2B5EF4-FFF2-40B4-BE49-F238E27FC236}">
                    <a16:creationId xmlns:a16="http://schemas.microsoft.com/office/drawing/2014/main" id="{83B4D8DC-328D-B48D-37B5-FEC65C572A55}"/>
                  </a:ext>
                </a:extLst>
              </p14:cNvPr>
              <p14:cNvContentPartPr/>
              <p14:nvPr/>
            </p14:nvContentPartPr>
            <p14:xfrm>
              <a:off x="4299286" y="3920940"/>
              <a:ext cx="870840" cy="720"/>
            </p14:xfrm>
          </p:contentPart>
        </mc:Choice>
        <mc:Fallback xmlns="">
          <p:pic>
            <p:nvPicPr>
              <p:cNvPr id="17" name="Tinta 16">
                <a:extLst>
                  <a:ext uri="{FF2B5EF4-FFF2-40B4-BE49-F238E27FC236}">
                    <a16:creationId xmlns:a16="http://schemas.microsoft.com/office/drawing/2014/main" id="{83B4D8DC-328D-B48D-37B5-FEC65C572A5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293166" y="3908700"/>
                <a:ext cx="88308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" name="Tinta 18">
                <a:extLst>
                  <a:ext uri="{FF2B5EF4-FFF2-40B4-BE49-F238E27FC236}">
                    <a16:creationId xmlns:a16="http://schemas.microsoft.com/office/drawing/2014/main" id="{10728437-01CA-7440-FD55-B6726EB56409}"/>
                  </a:ext>
                </a:extLst>
              </p14:cNvPr>
              <p14:cNvContentPartPr/>
              <p14:nvPr/>
            </p14:nvContentPartPr>
            <p14:xfrm>
              <a:off x="4316566" y="5257620"/>
              <a:ext cx="1047240" cy="720"/>
            </p14:xfrm>
          </p:contentPart>
        </mc:Choice>
        <mc:Fallback xmlns="">
          <p:pic>
            <p:nvPicPr>
              <p:cNvPr id="19" name="Tinta 18">
                <a:extLst>
                  <a:ext uri="{FF2B5EF4-FFF2-40B4-BE49-F238E27FC236}">
                    <a16:creationId xmlns:a16="http://schemas.microsoft.com/office/drawing/2014/main" id="{10728437-01CA-7440-FD55-B6726EB5640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310446" y="5245380"/>
                <a:ext cx="1059480" cy="25200"/>
              </a:xfrm>
              <a:prstGeom prst="rect">
                <a:avLst/>
              </a:prstGeom>
            </p:spPr>
          </p:pic>
        </mc:Fallback>
      </mc:AlternateContent>
      <p:sp>
        <p:nvSpPr>
          <p:cNvPr id="27" name="CaixaDeTexto 26">
            <a:extLst>
              <a:ext uri="{FF2B5EF4-FFF2-40B4-BE49-F238E27FC236}">
                <a16:creationId xmlns:a16="http://schemas.microsoft.com/office/drawing/2014/main" id="{CAC3AF95-D78F-F15A-0D32-EE06C3778457}"/>
              </a:ext>
            </a:extLst>
          </p:cNvPr>
          <p:cNvSpPr txBox="1"/>
          <p:nvPr/>
        </p:nvSpPr>
        <p:spPr>
          <a:xfrm>
            <a:off x="4346285" y="5292740"/>
            <a:ext cx="987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Cláusula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F0E32082-F7D4-804B-B721-60EC0FCFEBFB}"/>
              </a:ext>
            </a:extLst>
          </p:cNvPr>
          <p:cNvSpPr txBox="1"/>
          <p:nvPr/>
        </p:nvSpPr>
        <p:spPr>
          <a:xfrm>
            <a:off x="4211086" y="3912146"/>
            <a:ext cx="1047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Cláusula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8DDFFEC3-1C8D-5523-4F1B-D51F2A78EFEC}"/>
              </a:ext>
            </a:extLst>
          </p:cNvPr>
          <p:cNvSpPr txBox="1"/>
          <p:nvPr/>
        </p:nvSpPr>
        <p:spPr>
          <a:xfrm>
            <a:off x="4646506" y="2703825"/>
            <a:ext cx="1047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Cláusula</a:t>
            </a:r>
            <a:endParaRPr lang="pt-BR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E727C470-A265-AF3C-4586-127D492D5AB9}"/>
                  </a:ext>
                </a:extLst>
              </p14:cNvPr>
              <p14:cNvContentPartPr/>
              <p14:nvPr/>
            </p14:nvContentPartPr>
            <p14:xfrm>
              <a:off x="4316565" y="2615267"/>
              <a:ext cx="1662203" cy="72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E727C470-A265-AF3C-4586-127D492D5AB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310441" y="2603027"/>
                <a:ext cx="1674452" cy="25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44524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C84EF-45F2-197C-F9CA-A9A972BE5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A62D66FE-2007-3583-97CA-BA292DFA8A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DEA88441-A83A-04F9-05B4-399F838BC59D}"/>
              </a:ext>
            </a:extLst>
          </p:cNvPr>
          <p:cNvSpPr txBox="1"/>
          <p:nvPr/>
        </p:nvSpPr>
        <p:spPr>
          <a:xfrm>
            <a:off x="4376005" y="180011"/>
            <a:ext cx="3439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Comando</a:t>
            </a:r>
            <a:r>
              <a:rPr lang="en-US" sz="3600" dirty="0"/>
              <a:t> ALTER</a:t>
            </a:r>
            <a:endParaRPr lang="pt-BR" sz="36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49C705-6AD3-B8CF-DB18-1C23C4F7662D}"/>
              </a:ext>
            </a:extLst>
          </p:cNvPr>
          <p:cNvSpPr txBox="1"/>
          <p:nvPr/>
        </p:nvSpPr>
        <p:spPr>
          <a:xfrm>
            <a:off x="2480528" y="1314057"/>
            <a:ext cx="72309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Comando</a:t>
            </a:r>
            <a:r>
              <a:rPr lang="en-US" sz="2000" dirty="0"/>
              <a:t> de </a:t>
            </a:r>
            <a:r>
              <a:rPr lang="en-US" sz="2000" u="sng" dirty="0" err="1"/>
              <a:t>modificação</a:t>
            </a:r>
            <a:r>
              <a:rPr lang="en-US" sz="2000" u="sng" dirty="0"/>
              <a:t> de </a:t>
            </a:r>
            <a:r>
              <a:rPr lang="en-US" sz="2000" u="sng" dirty="0" err="1"/>
              <a:t>cláusulas</a:t>
            </a:r>
            <a:r>
              <a:rPr lang="en-US" sz="2000" dirty="0"/>
              <a:t> </a:t>
            </a:r>
            <a:r>
              <a:rPr lang="en-US" sz="2000" dirty="0" err="1"/>
              <a:t>presentes</a:t>
            </a:r>
            <a:r>
              <a:rPr lang="en-US" sz="2000" dirty="0"/>
              <a:t> no banco de dados</a:t>
            </a:r>
            <a:endParaRPr lang="pt-BR" sz="20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D9A42DE-FC15-41A1-7FE2-C7E3F2F5F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667" y="2290239"/>
            <a:ext cx="10748665" cy="323133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Tinta 8">
                <a:extLst>
                  <a:ext uri="{FF2B5EF4-FFF2-40B4-BE49-F238E27FC236}">
                    <a16:creationId xmlns:a16="http://schemas.microsoft.com/office/drawing/2014/main" id="{CB809BE0-B888-3A6C-78D6-7C3DA79C5EA9}"/>
                  </a:ext>
                </a:extLst>
              </p14:cNvPr>
              <p14:cNvContentPartPr/>
              <p14:nvPr/>
            </p14:nvContentPartPr>
            <p14:xfrm>
              <a:off x="2153686" y="3006540"/>
              <a:ext cx="933120" cy="720"/>
            </p14:xfrm>
          </p:contentPart>
        </mc:Choice>
        <mc:Fallback xmlns="">
          <p:pic>
            <p:nvPicPr>
              <p:cNvPr id="9" name="Tinta 8">
                <a:extLst>
                  <a:ext uri="{FF2B5EF4-FFF2-40B4-BE49-F238E27FC236}">
                    <a16:creationId xmlns:a16="http://schemas.microsoft.com/office/drawing/2014/main" id="{CB809BE0-B888-3A6C-78D6-7C3DA79C5EA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47566" y="2994300"/>
                <a:ext cx="945360" cy="2520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CaixaDeTexto 9">
            <a:extLst>
              <a:ext uri="{FF2B5EF4-FFF2-40B4-BE49-F238E27FC236}">
                <a16:creationId xmlns:a16="http://schemas.microsoft.com/office/drawing/2014/main" id="{E1DB0001-5E9D-D2DA-6929-01D9DA335809}"/>
              </a:ext>
            </a:extLst>
          </p:cNvPr>
          <p:cNvSpPr txBox="1"/>
          <p:nvPr/>
        </p:nvSpPr>
        <p:spPr>
          <a:xfrm>
            <a:off x="2153686" y="3059668"/>
            <a:ext cx="1047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Cláusula</a:t>
            </a:r>
            <a:endParaRPr lang="pt-BR" b="1" dirty="0">
              <a:solidFill>
                <a:srgbClr val="FF0000"/>
              </a:solidFill>
            </a:endParaRPr>
          </a:p>
        </p:txBody>
      </p:sp>
      <p:cxnSp>
        <p:nvCxnSpPr>
          <p:cNvPr id="12" name="Conector: Angulado 11">
            <a:extLst>
              <a:ext uri="{FF2B5EF4-FFF2-40B4-BE49-F238E27FC236}">
                <a16:creationId xmlns:a16="http://schemas.microsoft.com/office/drawing/2014/main" id="{5FF1616F-518C-9F10-7EA7-97525327340F}"/>
              </a:ext>
            </a:extLst>
          </p:cNvPr>
          <p:cNvCxnSpPr>
            <a:cxnSpLocks/>
          </p:cNvCxnSpPr>
          <p:nvPr/>
        </p:nvCxnSpPr>
        <p:spPr>
          <a:xfrm>
            <a:off x="4891453" y="3013552"/>
            <a:ext cx="621324" cy="415448"/>
          </a:xfrm>
          <a:prstGeom prst="bentConnector3">
            <a:avLst>
              <a:gd name="adj1" fmla="val 188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: Angulado 16">
            <a:extLst>
              <a:ext uri="{FF2B5EF4-FFF2-40B4-BE49-F238E27FC236}">
                <a16:creationId xmlns:a16="http://schemas.microsoft.com/office/drawing/2014/main" id="{E1C37974-6B13-F051-56D8-F68BCACAB405}"/>
              </a:ext>
            </a:extLst>
          </p:cNvPr>
          <p:cNvCxnSpPr>
            <a:cxnSpLocks/>
          </p:cNvCxnSpPr>
          <p:nvPr/>
        </p:nvCxnSpPr>
        <p:spPr>
          <a:xfrm>
            <a:off x="5052644" y="4216033"/>
            <a:ext cx="618394" cy="373552"/>
          </a:xfrm>
          <a:prstGeom prst="bentConnector3">
            <a:avLst>
              <a:gd name="adj1" fmla="val -118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: Angulado 17">
            <a:extLst>
              <a:ext uri="{FF2B5EF4-FFF2-40B4-BE49-F238E27FC236}">
                <a16:creationId xmlns:a16="http://schemas.microsoft.com/office/drawing/2014/main" id="{E41468CF-7131-AFDF-467C-9FE58305B571}"/>
              </a:ext>
            </a:extLst>
          </p:cNvPr>
          <p:cNvCxnSpPr>
            <a:cxnSpLocks/>
          </p:cNvCxnSpPr>
          <p:nvPr/>
        </p:nvCxnSpPr>
        <p:spPr>
          <a:xfrm>
            <a:off x="5202115" y="5372398"/>
            <a:ext cx="621324" cy="545178"/>
          </a:xfrm>
          <a:prstGeom prst="bentConnector3">
            <a:avLst>
              <a:gd name="adj1" fmla="val -94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843F46D-D40E-CFB8-288C-026078627A70}"/>
              </a:ext>
            </a:extLst>
          </p:cNvPr>
          <p:cNvSpPr txBox="1"/>
          <p:nvPr/>
        </p:nvSpPr>
        <p:spPr>
          <a:xfrm>
            <a:off x="5823440" y="3221276"/>
            <a:ext cx="2942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Adiciona</a:t>
            </a:r>
            <a:r>
              <a:rPr lang="en-US" dirty="0"/>
              <a:t> algo </a:t>
            </a:r>
            <a:r>
              <a:rPr lang="en-US" u="sng" dirty="0"/>
              <a:t>novo</a:t>
            </a:r>
            <a:r>
              <a:rPr lang="en-US" dirty="0"/>
              <a:t> à </a:t>
            </a:r>
            <a:r>
              <a:rPr lang="en-US" dirty="0" err="1"/>
              <a:t>cláusula</a:t>
            </a:r>
            <a:endParaRPr lang="pt-BR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B4463EA2-A219-233F-E355-9EEEC5C5A86E}"/>
              </a:ext>
            </a:extLst>
          </p:cNvPr>
          <p:cNvSpPr txBox="1"/>
          <p:nvPr/>
        </p:nvSpPr>
        <p:spPr>
          <a:xfrm>
            <a:off x="5823439" y="4426994"/>
            <a:ext cx="2089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Exclui</a:t>
            </a:r>
            <a:r>
              <a:rPr lang="en-US" dirty="0"/>
              <a:t> algo </a:t>
            </a:r>
            <a:r>
              <a:rPr lang="en-US" u="sng" dirty="0" err="1"/>
              <a:t>existente</a:t>
            </a:r>
            <a:r>
              <a:rPr lang="en-US" u="sng" dirty="0"/>
              <a:t> </a:t>
            </a:r>
            <a:endParaRPr lang="pt-BR" u="sng" dirty="0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B55DF513-59C6-8B7B-4423-D90596961D33}"/>
              </a:ext>
            </a:extLst>
          </p:cNvPr>
          <p:cNvSpPr txBox="1"/>
          <p:nvPr/>
        </p:nvSpPr>
        <p:spPr>
          <a:xfrm>
            <a:off x="6005145" y="5688623"/>
            <a:ext cx="46775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Altera algo </a:t>
            </a:r>
            <a:r>
              <a:rPr lang="en-US" u="sng" dirty="0" err="1"/>
              <a:t>existente</a:t>
            </a:r>
            <a:r>
              <a:rPr lang="en-US" u="sng" dirty="0"/>
              <a:t>:</a:t>
            </a:r>
            <a:endParaRPr lang="en-US" dirty="0"/>
          </a:p>
          <a:p>
            <a:r>
              <a:rPr lang="en-US" dirty="0"/>
              <a:t>- Tipo de dado, </a:t>
            </a:r>
            <a:r>
              <a:rPr lang="en-US" dirty="0" err="1"/>
              <a:t>capacidade</a:t>
            </a:r>
            <a:r>
              <a:rPr lang="en-US" dirty="0"/>
              <a:t> do dado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restrição</a:t>
            </a:r>
            <a:endParaRPr lang="pt-BR" dirty="0"/>
          </a:p>
        </p:txBody>
      </p: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76F694DD-B310-11D4-B5A4-05675A7575AC}"/>
              </a:ext>
            </a:extLst>
          </p:cNvPr>
          <p:cNvCxnSpPr>
            <a:cxnSpLocks/>
          </p:cNvCxnSpPr>
          <p:nvPr/>
        </p:nvCxnSpPr>
        <p:spPr>
          <a:xfrm flipV="1">
            <a:off x="10119946" y="5372398"/>
            <a:ext cx="0" cy="5451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5BCD87CE-5474-9B9D-D40F-EF05B8462D83}"/>
              </a:ext>
            </a:extLst>
          </p:cNvPr>
          <p:cNvCxnSpPr>
            <a:cxnSpLocks/>
          </p:cNvCxnSpPr>
          <p:nvPr/>
        </p:nvCxnSpPr>
        <p:spPr>
          <a:xfrm flipV="1">
            <a:off x="8425961" y="5521569"/>
            <a:ext cx="278424" cy="504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2037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CF606-1B1E-A203-8C49-0C1066491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A2A2527-E9D1-5BDD-7AFC-38B40FFE5D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CBBB5DA4-3184-8096-E5AA-496F1D20C208}"/>
              </a:ext>
            </a:extLst>
          </p:cNvPr>
          <p:cNvSpPr txBox="1"/>
          <p:nvPr/>
        </p:nvSpPr>
        <p:spPr>
          <a:xfrm>
            <a:off x="4393406" y="180011"/>
            <a:ext cx="34051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Comando</a:t>
            </a:r>
            <a:r>
              <a:rPr lang="en-US" sz="3600" dirty="0"/>
              <a:t> SHOW</a:t>
            </a:r>
            <a:endParaRPr lang="pt-BR" sz="36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1BF248D-172B-CF57-F6C6-4974B559F334}"/>
              </a:ext>
            </a:extLst>
          </p:cNvPr>
          <p:cNvSpPr txBox="1"/>
          <p:nvPr/>
        </p:nvSpPr>
        <p:spPr>
          <a:xfrm>
            <a:off x="1819090" y="1224998"/>
            <a:ext cx="85538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Comando</a:t>
            </a:r>
            <a:r>
              <a:rPr lang="en-US" sz="2000" dirty="0"/>
              <a:t> para </a:t>
            </a:r>
            <a:r>
              <a:rPr lang="en-US" sz="2000" u="sng" dirty="0" err="1"/>
              <a:t>mostrar</a:t>
            </a:r>
            <a:r>
              <a:rPr lang="en-US" sz="2000" u="sng" dirty="0"/>
              <a:t> </a:t>
            </a:r>
            <a:r>
              <a:rPr lang="en-US" sz="2000" u="sng" dirty="0" err="1"/>
              <a:t>informações</a:t>
            </a:r>
            <a:r>
              <a:rPr lang="en-US" sz="2000" u="sng" dirty="0"/>
              <a:t> de </a:t>
            </a:r>
            <a:r>
              <a:rPr lang="en-US" sz="2000" u="sng" dirty="0" err="1"/>
              <a:t>cláusulas</a:t>
            </a:r>
            <a:r>
              <a:rPr lang="en-US" sz="2000" dirty="0"/>
              <a:t> </a:t>
            </a:r>
            <a:r>
              <a:rPr lang="en-US" sz="2000" dirty="0" err="1"/>
              <a:t>presentes</a:t>
            </a:r>
            <a:r>
              <a:rPr lang="en-US" sz="2000" dirty="0"/>
              <a:t> no banco de dados</a:t>
            </a:r>
            <a:endParaRPr lang="pt-BR" sz="20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46A02C1-3895-D775-3093-351CD5B5D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6161" y="1974503"/>
            <a:ext cx="6079678" cy="379057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Tinta 9">
                <a:extLst>
                  <a:ext uri="{FF2B5EF4-FFF2-40B4-BE49-F238E27FC236}">
                    <a16:creationId xmlns:a16="http://schemas.microsoft.com/office/drawing/2014/main" id="{2DE90699-B039-61EE-8192-DB18DD239EF8}"/>
                  </a:ext>
                </a:extLst>
              </p14:cNvPr>
              <p14:cNvContentPartPr/>
              <p14:nvPr/>
            </p14:nvContentPartPr>
            <p14:xfrm>
              <a:off x="4439686" y="2830860"/>
              <a:ext cx="1882080" cy="360"/>
            </p14:xfrm>
          </p:contentPart>
        </mc:Choice>
        <mc:Fallback xmlns="">
          <p:pic>
            <p:nvPicPr>
              <p:cNvPr id="10" name="Tinta 9">
                <a:extLst>
                  <a:ext uri="{FF2B5EF4-FFF2-40B4-BE49-F238E27FC236}">
                    <a16:creationId xmlns:a16="http://schemas.microsoft.com/office/drawing/2014/main" id="{2DE90699-B039-61EE-8192-DB18DD239EF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33566" y="2824740"/>
                <a:ext cx="189432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Tinta 11">
                <a:extLst>
                  <a:ext uri="{FF2B5EF4-FFF2-40B4-BE49-F238E27FC236}">
                    <a16:creationId xmlns:a16="http://schemas.microsoft.com/office/drawing/2014/main" id="{E77D428E-7371-27D6-1947-FF1CE56020A7}"/>
                  </a:ext>
                </a:extLst>
              </p14:cNvPr>
              <p14:cNvContentPartPr/>
              <p14:nvPr/>
            </p14:nvContentPartPr>
            <p14:xfrm>
              <a:off x="4474966" y="4149900"/>
              <a:ext cx="1230840" cy="17640"/>
            </p14:xfrm>
          </p:contentPart>
        </mc:Choice>
        <mc:Fallback xmlns="">
          <p:pic>
            <p:nvPicPr>
              <p:cNvPr id="12" name="Tinta 11">
                <a:extLst>
                  <a:ext uri="{FF2B5EF4-FFF2-40B4-BE49-F238E27FC236}">
                    <a16:creationId xmlns:a16="http://schemas.microsoft.com/office/drawing/2014/main" id="{E77D428E-7371-27D6-1947-FF1CE56020A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468846" y="4143780"/>
                <a:ext cx="124308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Tinta 13">
                <a:extLst>
                  <a:ext uri="{FF2B5EF4-FFF2-40B4-BE49-F238E27FC236}">
                    <a16:creationId xmlns:a16="http://schemas.microsoft.com/office/drawing/2014/main" id="{7F181F94-3377-56D6-D9B7-FB4C3B80F13E}"/>
                  </a:ext>
                </a:extLst>
              </p14:cNvPr>
              <p14:cNvContentPartPr/>
              <p14:nvPr/>
            </p14:nvContentPartPr>
            <p14:xfrm>
              <a:off x="4448686" y="5398020"/>
              <a:ext cx="1231200" cy="360"/>
            </p14:xfrm>
          </p:contentPart>
        </mc:Choice>
        <mc:Fallback xmlns="">
          <p:pic>
            <p:nvPicPr>
              <p:cNvPr id="14" name="Tinta 13">
                <a:extLst>
                  <a:ext uri="{FF2B5EF4-FFF2-40B4-BE49-F238E27FC236}">
                    <a16:creationId xmlns:a16="http://schemas.microsoft.com/office/drawing/2014/main" id="{7F181F94-3377-56D6-D9B7-FB4C3B80F13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442566" y="5391900"/>
                <a:ext cx="124344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CaixaDeTexto 14">
            <a:extLst>
              <a:ext uri="{FF2B5EF4-FFF2-40B4-BE49-F238E27FC236}">
                <a16:creationId xmlns:a16="http://schemas.microsoft.com/office/drawing/2014/main" id="{12316277-2F2B-97E3-01DF-9A23AB09D62E}"/>
              </a:ext>
            </a:extLst>
          </p:cNvPr>
          <p:cNvSpPr txBox="1"/>
          <p:nvPr/>
        </p:nvSpPr>
        <p:spPr>
          <a:xfrm>
            <a:off x="4857106" y="2892462"/>
            <a:ext cx="1047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Cláusula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5CFADA02-3C26-02B6-95B1-2E6919C83588}"/>
              </a:ext>
            </a:extLst>
          </p:cNvPr>
          <p:cNvSpPr txBox="1"/>
          <p:nvPr/>
        </p:nvSpPr>
        <p:spPr>
          <a:xfrm>
            <a:off x="4566766" y="4210962"/>
            <a:ext cx="1047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Cláusula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28DA0E3-FFE9-1149-3A16-A50DAA59140B}"/>
              </a:ext>
            </a:extLst>
          </p:cNvPr>
          <p:cNvSpPr txBox="1"/>
          <p:nvPr/>
        </p:nvSpPr>
        <p:spPr>
          <a:xfrm>
            <a:off x="4540666" y="5486220"/>
            <a:ext cx="1047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Cláusula</a:t>
            </a:r>
            <a:endParaRPr lang="pt-B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3468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B775C-6C2D-D4B0-5090-7F15F43E5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9FD3EB0-5E60-B973-2E1C-EF701B876D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12B20EAE-0780-070F-8F2D-B64B2AC93C1E}"/>
              </a:ext>
            </a:extLst>
          </p:cNvPr>
          <p:cNvSpPr txBox="1"/>
          <p:nvPr/>
        </p:nvSpPr>
        <p:spPr>
          <a:xfrm>
            <a:off x="4050414" y="144842"/>
            <a:ext cx="40911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Comando</a:t>
            </a:r>
            <a:r>
              <a:rPr lang="en-US" sz="3600" dirty="0"/>
              <a:t> TRUNCATE</a:t>
            </a:r>
            <a:endParaRPr lang="pt-BR" sz="36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428CCFA-1C55-4E2E-D296-7D1DB8197392}"/>
              </a:ext>
            </a:extLst>
          </p:cNvPr>
          <p:cNvSpPr txBox="1"/>
          <p:nvPr/>
        </p:nvSpPr>
        <p:spPr>
          <a:xfrm>
            <a:off x="1400448" y="1304128"/>
            <a:ext cx="93911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Comando</a:t>
            </a:r>
            <a:r>
              <a:rPr lang="en-US" sz="2000" dirty="0"/>
              <a:t> para </a:t>
            </a:r>
            <a:r>
              <a:rPr lang="en-US" sz="2000" u="sng" dirty="0"/>
              <a:t>remover dados de </a:t>
            </a:r>
            <a:r>
              <a:rPr lang="en-US" sz="2000" u="sng" dirty="0" err="1"/>
              <a:t>uma</a:t>
            </a:r>
            <a:r>
              <a:rPr lang="en-US" sz="2000" u="sng" dirty="0"/>
              <a:t> </a:t>
            </a:r>
            <a:r>
              <a:rPr lang="en-US" sz="2000" u="sng" dirty="0" err="1"/>
              <a:t>tabela</a:t>
            </a:r>
            <a:r>
              <a:rPr lang="en-US" sz="2000" dirty="0"/>
              <a:t> </a:t>
            </a:r>
            <a:r>
              <a:rPr lang="en-US" sz="2000" dirty="0" err="1"/>
              <a:t>sem</a:t>
            </a:r>
            <a:r>
              <a:rPr lang="en-US" sz="2000" dirty="0"/>
              <a:t> a </a:t>
            </a:r>
            <a:r>
              <a:rPr lang="en-US" sz="2000" dirty="0" err="1"/>
              <a:t>necessidade</a:t>
            </a:r>
            <a:r>
              <a:rPr lang="en-US" sz="2000" dirty="0"/>
              <a:t> de </a:t>
            </a:r>
            <a:r>
              <a:rPr lang="en-US" sz="2000" dirty="0" err="1"/>
              <a:t>deletar</a:t>
            </a:r>
            <a:r>
              <a:rPr lang="en-US" sz="2000" dirty="0"/>
              <a:t> </a:t>
            </a:r>
            <a:r>
              <a:rPr lang="en-US" sz="2000" dirty="0" err="1"/>
              <a:t>sua</a:t>
            </a:r>
            <a:r>
              <a:rPr lang="en-US" sz="2000" dirty="0"/>
              <a:t> </a:t>
            </a:r>
            <a:r>
              <a:rPr lang="en-US" sz="2000" dirty="0" err="1"/>
              <a:t>estrutura</a:t>
            </a:r>
            <a:endParaRPr lang="pt-BR" sz="20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650C74D-6767-B4C6-8DC8-05FF620E0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3130" y="2217193"/>
            <a:ext cx="7885737" cy="202949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B177BBD1-0B5F-675F-8462-0C9B6A077117}"/>
              </a:ext>
            </a:extLst>
          </p:cNvPr>
          <p:cNvSpPr txBox="1"/>
          <p:nvPr/>
        </p:nvSpPr>
        <p:spPr>
          <a:xfrm>
            <a:off x="1862501" y="4783015"/>
            <a:ext cx="84669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err="1"/>
              <a:t>Muito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rápido</a:t>
            </a:r>
            <a:r>
              <a:rPr lang="en-US" dirty="0"/>
              <a:t> que o DELETE;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Ideal para </a:t>
            </a:r>
            <a:r>
              <a:rPr lang="en-US" dirty="0" err="1"/>
              <a:t>casos</a:t>
            </a:r>
            <a:r>
              <a:rPr lang="en-US" dirty="0"/>
              <a:t> de </a:t>
            </a:r>
            <a:r>
              <a:rPr lang="en-US" dirty="0" err="1"/>
              <a:t>exclusão</a:t>
            </a:r>
            <a:r>
              <a:rPr lang="en-US" dirty="0"/>
              <a:t> </a:t>
            </a:r>
            <a:r>
              <a:rPr lang="en-US" dirty="0" err="1"/>
              <a:t>geral</a:t>
            </a:r>
            <a:r>
              <a:rPr lang="en-US" dirty="0"/>
              <a:t> de dados de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tabela</a:t>
            </a:r>
            <a:r>
              <a:rPr lang="en-US" dirty="0"/>
              <a:t>, a </a:t>
            </a:r>
            <a:r>
              <a:rPr lang="en-US" dirty="0" err="1"/>
              <a:t>fim</a:t>
            </a:r>
            <a:r>
              <a:rPr lang="en-US" dirty="0"/>
              <a:t> de </a:t>
            </a:r>
            <a:r>
              <a:rPr lang="en-US" dirty="0" err="1"/>
              <a:t>iniciar</a:t>
            </a:r>
            <a:r>
              <a:rPr lang="en-US" dirty="0"/>
              <a:t> </a:t>
            </a:r>
            <a:r>
              <a:rPr lang="en-US" dirty="0" err="1"/>
              <a:t>novos</a:t>
            </a:r>
            <a:r>
              <a:rPr lang="en-US" dirty="0"/>
              <a:t> </a:t>
            </a:r>
            <a:r>
              <a:rPr lang="en-US" dirty="0" err="1"/>
              <a:t>registros</a:t>
            </a:r>
            <a:r>
              <a:rPr lang="en-US" dirty="0"/>
              <a:t> com </a:t>
            </a:r>
            <a:r>
              <a:rPr lang="en-US" dirty="0" err="1"/>
              <a:t>novos</a:t>
            </a:r>
            <a:r>
              <a:rPr lang="en-US" dirty="0"/>
              <a:t> </a:t>
            </a:r>
            <a:r>
              <a:rPr lang="en-US" dirty="0" err="1"/>
              <a:t>valores</a:t>
            </a:r>
            <a:r>
              <a:rPr lang="en-US" dirty="0"/>
              <a:t> de ID.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36443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A5451-5C4D-E372-DA70-EB8D42D50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7BD3E59-6EFC-0EAE-0EB0-EABB1612FC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E7FF1BFC-39E4-AB0C-1BD2-14C68AF7686A}"/>
              </a:ext>
            </a:extLst>
          </p:cNvPr>
          <p:cNvSpPr txBox="1"/>
          <p:nvPr/>
        </p:nvSpPr>
        <p:spPr>
          <a:xfrm>
            <a:off x="4120707" y="206388"/>
            <a:ext cx="3950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Modificadores</a:t>
            </a:r>
            <a:r>
              <a:rPr lang="en-US" sz="3600" dirty="0"/>
              <a:t> </a:t>
            </a:r>
            <a:r>
              <a:rPr lang="en-US" sz="3600" dirty="0" err="1"/>
              <a:t>Úteis</a:t>
            </a:r>
            <a:endParaRPr lang="pt-BR" sz="36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48FA459-9B23-A300-E822-982807ECB614}"/>
              </a:ext>
            </a:extLst>
          </p:cNvPr>
          <p:cNvSpPr txBox="1"/>
          <p:nvPr/>
        </p:nvSpPr>
        <p:spPr>
          <a:xfrm>
            <a:off x="844061" y="1178169"/>
            <a:ext cx="52519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/>
              <a:t> IF EXISTS </a:t>
            </a:r>
            <a:r>
              <a:rPr lang="en-US" dirty="0"/>
              <a:t>– </a:t>
            </a:r>
            <a:r>
              <a:rPr lang="en-US" sz="2400" dirty="0" err="1"/>
              <a:t>completamente</a:t>
            </a:r>
            <a:r>
              <a:rPr lang="en-US" sz="2400" dirty="0"/>
              <a:t> </a:t>
            </a:r>
            <a:r>
              <a:rPr lang="en-US" sz="2400" dirty="0" err="1"/>
              <a:t>opcional</a:t>
            </a:r>
            <a:r>
              <a:rPr lang="en-US" sz="2400" dirty="0"/>
              <a:t>;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D1B42C9-99E5-121F-FA7D-FEB03902F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514" y="1853018"/>
            <a:ext cx="4617031" cy="131221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83E1BA8-5DC3-8AD9-CC10-A180CC1AD797}"/>
              </a:ext>
            </a:extLst>
          </p:cNvPr>
          <p:cNvSpPr txBox="1"/>
          <p:nvPr/>
        </p:nvSpPr>
        <p:spPr>
          <a:xfrm>
            <a:off x="6268915" y="1178169"/>
            <a:ext cx="5251939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IF NOT EXISTS </a:t>
            </a:r>
            <a:r>
              <a:rPr lang="en-US" sz="2400" dirty="0"/>
              <a:t>– </a:t>
            </a:r>
            <a:r>
              <a:rPr lang="en-US" sz="2400" dirty="0" err="1"/>
              <a:t>opcional</a:t>
            </a:r>
            <a:r>
              <a:rPr lang="en-US" sz="2400" dirty="0"/>
              <a:t>, mas fundamental para </a:t>
            </a:r>
            <a:r>
              <a:rPr lang="en-US" sz="2400" dirty="0" err="1"/>
              <a:t>evitar</a:t>
            </a:r>
            <a:r>
              <a:rPr lang="en-US" sz="2400" dirty="0"/>
              <a:t> </a:t>
            </a:r>
            <a:r>
              <a:rPr lang="en-US" sz="2400" dirty="0" err="1"/>
              <a:t>erros</a:t>
            </a:r>
            <a:r>
              <a:rPr lang="en-US" sz="2400" dirty="0"/>
              <a:t> </a:t>
            </a:r>
            <a:r>
              <a:rPr lang="en-US" sz="2400" dirty="0" err="1"/>
              <a:t>relativos</a:t>
            </a:r>
            <a:r>
              <a:rPr lang="en-US" sz="2400" dirty="0"/>
              <a:t> à </a:t>
            </a:r>
            <a:r>
              <a:rPr lang="en-US" sz="2400" dirty="0" err="1"/>
              <a:t>duplicidade</a:t>
            </a:r>
            <a:r>
              <a:rPr lang="en-US" sz="2400" dirty="0"/>
              <a:t> de </a:t>
            </a:r>
            <a:r>
              <a:rPr lang="en-US" sz="2400" dirty="0" err="1"/>
              <a:t>cláusulas</a:t>
            </a:r>
            <a:r>
              <a:rPr lang="en-US" sz="2400" dirty="0"/>
              <a:t> (</a:t>
            </a:r>
            <a:r>
              <a:rPr lang="en-US" sz="2400" dirty="0" err="1"/>
              <a:t>não</a:t>
            </a:r>
            <a:r>
              <a:rPr lang="en-US" sz="2400" dirty="0"/>
              <a:t> </a:t>
            </a:r>
            <a:r>
              <a:rPr lang="en-US" sz="2400" dirty="0" err="1"/>
              <a:t>pode</a:t>
            </a:r>
            <a:r>
              <a:rPr lang="en-US" sz="2400" dirty="0"/>
              <a:t> </a:t>
            </a:r>
            <a:r>
              <a:rPr lang="en-US" sz="2400" dirty="0" err="1"/>
              <a:t>ocorrer</a:t>
            </a:r>
            <a:r>
              <a:rPr lang="en-US" sz="2400" dirty="0"/>
              <a:t>).</a:t>
            </a:r>
          </a:p>
          <a:p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D6FF413-29B9-C382-AFBC-1939AB801C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0222" y="3253760"/>
            <a:ext cx="5149324" cy="2795348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F5247CAD-69B0-C293-22CD-6FF91553461B}"/>
              </a:ext>
            </a:extLst>
          </p:cNvPr>
          <p:cNvSpPr txBox="1"/>
          <p:nvPr/>
        </p:nvSpPr>
        <p:spPr>
          <a:xfrm>
            <a:off x="1161514" y="3316860"/>
            <a:ext cx="43248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Comando</a:t>
            </a:r>
            <a:r>
              <a:rPr lang="en-US" sz="2400" dirty="0"/>
              <a:t> USE</a:t>
            </a:r>
          </a:p>
          <a:p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err="1"/>
              <a:t>Instrui</a:t>
            </a:r>
            <a:r>
              <a:rPr lang="en-US" sz="2000" dirty="0"/>
              <a:t> o SGBD a </a:t>
            </a:r>
            <a:r>
              <a:rPr lang="en-US" sz="2000" dirty="0" err="1"/>
              <a:t>utilizar</a:t>
            </a:r>
            <a:r>
              <a:rPr lang="en-US" sz="2000" dirty="0"/>
              <a:t> o banco de dados </a:t>
            </a:r>
            <a:r>
              <a:rPr lang="en-US" sz="2000" dirty="0" err="1"/>
              <a:t>especificado</a:t>
            </a:r>
            <a:r>
              <a:rPr lang="en-US" sz="2000" dirty="0"/>
              <a:t> para </a:t>
            </a:r>
            <a:r>
              <a:rPr lang="en-US" sz="2000" dirty="0" err="1"/>
              <a:t>executar</a:t>
            </a:r>
            <a:r>
              <a:rPr lang="en-US" sz="2000" dirty="0"/>
              <a:t> </a:t>
            </a:r>
            <a:r>
              <a:rPr lang="en-US" sz="2000" dirty="0" err="1"/>
              <a:t>os</a:t>
            </a:r>
            <a:r>
              <a:rPr lang="en-US" sz="2000" dirty="0"/>
              <a:t> </a:t>
            </a:r>
            <a:r>
              <a:rPr lang="en-US" sz="2000" dirty="0" err="1"/>
              <a:t>comandos</a:t>
            </a:r>
            <a:r>
              <a:rPr lang="en-US" sz="2000" dirty="0"/>
              <a:t>.</a:t>
            </a:r>
            <a:endParaRPr lang="pt-BR" sz="20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272AB994-5DDF-796D-2AF1-8618C7DD19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1514" y="5443564"/>
            <a:ext cx="3568748" cy="1086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222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74B3E-BF56-2FB0-BD21-370EC9442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F0E214E-D45B-BB9E-2317-56B6D93F66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209A396E-A5FD-0E7C-4C13-36A282E1FEE1}"/>
              </a:ext>
            </a:extLst>
          </p:cNvPr>
          <p:cNvSpPr txBox="1"/>
          <p:nvPr/>
        </p:nvSpPr>
        <p:spPr>
          <a:xfrm>
            <a:off x="5186740" y="197595"/>
            <a:ext cx="1818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Exercício</a:t>
            </a:r>
            <a:endParaRPr lang="pt-BR" sz="36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DC55075-4B50-0E84-DEF8-D1AFBA0E2829}"/>
              </a:ext>
            </a:extLst>
          </p:cNvPr>
          <p:cNvSpPr txBox="1"/>
          <p:nvPr/>
        </p:nvSpPr>
        <p:spPr>
          <a:xfrm>
            <a:off x="1459523" y="1011115"/>
            <a:ext cx="897694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Utilizando</a:t>
            </a:r>
            <a:r>
              <a:rPr lang="en-US" sz="2000" dirty="0"/>
              <a:t> </a:t>
            </a:r>
            <a:r>
              <a:rPr lang="en-US" sz="2000" dirty="0" err="1"/>
              <a:t>os</a:t>
            </a:r>
            <a:r>
              <a:rPr lang="en-US" sz="2000" dirty="0"/>
              <a:t> </a:t>
            </a:r>
            <a:r>
              <a:rPr lang="en-US" sz="2000" dirty="0" err="1"/>
              <a:t>conceitos</a:t>
            </a:r>
            <a:r>
              <a:rPr lang="en-US" sz="2000" dirty="0"/>
              <a:t> </a:t>
            </a:r>
            <a:r>
              <a:rPr lang="en-US" sz="2000" dirty="0" err="1"/>
              <a:t>abordados</a:t>
            </a:r>
            <a:r>
              <a:rPr lang="en-US" sz="2000" dirty="0"/>
              <a:t> </a:t>
            </a:r>
            <a:r>
              <a:rPr lang="en-US" sz="2000" dirty="0" err="1"/>
              <a:t>nesta</a:t>
            </a:r>
            <a:r>
              <a:rPr lang="en-US" sz="2000" dirty="0"/>
              <a:t> aula, </a:t>
            </a:r>
            <a:r>
              <a:rPr lang="en-US" sz="2000" dirty="0" err="1"/>
              <a:t>faça</a:t>
            </a:r>
            <a:r>
              <a:rPr lang="en-US" sz="2000" dirty="0"/>
              <a:t> o que se </a:t>
            </a:r>
            <a:r>
              <a:rPr lang="en-US" sz="2000" dirty="0" err="1"/>
              <a:t>pede</a:t>
            </a:r>
            <a:r>
              <a:rPr lang="en-US" sz="2000" dirty="0"/>
              <a:t>:</a:t>
            </a:r>
          </a:p>
          <a:p>
            <a:endParaRPr lang="en-US" sz="2000" dirty="0"/>
          </a:p>
          <a:p>
            <a:pPr marL="342900" indent="-342900">
              <a:buAutoNum type="arabicPeriod"/>
            </a:pPr>
            <a:r>
              <a:rPr lang="en-US" sz="2000" dirty="0" err="1"/>
              <a:t>Crie</a:t>
            </a:r>
            <a:r>
              <a:rPr lang="en-US" sz="2000" dirty="0"/>
              <a:t> um banco de dados </a:t>
            </a:r>
            <a:r>
              <a:rPr lang="en-US" sz="2000" dirty="0" err="1"/>
              <a:t>chamado</a:t>
            </a:r>
            <a:r>
              <a:rPr lang="en-US" sz="2000" dirty="0"/>
              <a:t> ‘database1’ </a:t>
            </a:r>
            <a:r>
              <a:rPr lang="en-US" sz="2000" dirty="0" err="1"/>
              <a:t>verificando</a:t>
            </a:r>
            <a:r>
              <a:rPr lang="en-US" sz="2000" dirty="0"/>
              <a:t> </a:t>
            </a:r>
            <a:r>
              <a:rPr lang="en-US" sz="2000" dirty="0" err="1"/>
              <a:t>sua</a:t>
            </a:r>
            <a:r>
              <a:rPr lang="en-US" sz="2000" dirty="0"/>
              <a:t> </a:t>
            </a:r>
            <a:r>
              <a:rPr lang="en-US" sz="2000" dirty="0" err="1"/>
              <a:t>existência</a:t>
            </a:r>
            <a:r>
              <a:rPr lang="en-US" sz="2000" dirty="0"/>
              <a:t>. Caso </a:t>
            </a:r>
            <a:r>
              <a:rPr lang="en-US" sz="2000" dirty="0" err="1"/>
              <a:t>exista</a:t>
            </a:r>
            <a:r>
              <a:rPr lang="en-US" sz="2000" dirty="0"/>
              <a:t>, </a:t>
            </a:r>
            <a:r>
              <a:rPr lang="en-US" sz="2000" dirty="0" err="1"/>
              <a:t>exclua</a:t>
            </a:r>
            <a:r>
              <a:rPr lang="en-US" sz="2000" dirty="0"/>
              <a:t> antes </a:t>
            </a:r>
            <a:r>
              <a:rPr lang="en-US" sz="2000" dirty="0" err="1"/>
              <a:t>mesmo</a:t>
            </a:r>
            <a:r>
              <a:rPr lang="en-US" sz="2000" dirty="0"/>
              <a:t> de </a:t>
            </a:r>
            <a:r>
              <a:rPr lang="en-US" sz="2000" dirty="0" err="1"/>
              <a:t>criá</a:t>
            </a:r>
            <a:r>
              <a:rPr lang="en-US" sz="2000" dirty="0"/>
              <a:t>-lo;</a:t>
            </a:r>
          </a:p>
          <a:p>
            <a:pPr marL="342900" indent="-342900">
              <a:buAutoNum type="arabicPeriod"/>
            </a:pPr>
            <a:r>
              <a:rPr lang="en-US" sz="2000" dirty="0"/>
              <a:t>Execute o </a:t>
            </a:r>
            <a:r>
              <a:rPr lang="en-US" sz="2000" dirty="0" err="1"/>
              <a:t>comando</a:t>
            </a:r>
            <a:r>
              <a:rPr lang="en-US" sz="2000" dirty="0"/>
              <a:t> para </a:t>
            </a:r>
            <a:r>
              <a:rPr lang="en-US" sz="2000" dirty="0" err="1"/>
              <a:t>utilizar</a:t>
            </a:r>
            <a:r>
              <a:rPr lang="en-US" sz="2000" dirty="0"/>
              <a:t> </a:t>
            </a:r>
            <a:r>
              <a:rPr lang="en-US" sz="2000" dirty="0" err="1"/>
              <a:t>seu</a:t>
            </a:r>
            <a:r>
              <a:rPr lang="en-US" sz="2000" dirty="0"/>
              <a:t> banco de dados;</a:t>
            </a:r>
          </a:p>
          <a:p>
            <a:pPr marL="342900" indent="-342900">
              <a:buAutoNum type="arabicPeriod"/>
            </a:pPr>
            <a:r>
              <a:rPr lang="en-US" sz="2000" dirty="0" err="1"/>
              <a:t>Crie</a:t>
            </a:r>
            <a:r>
              <a:rPr lang="en-US" sz="2000" dirty="0"/>
              <a:t> </a:t>
            </a:r>
            <a:r>
              <a:rPr lang="en-US" sz="2000" dirty="0" err="1"/>
              <a:t>uma</a:t>
            </a:r>
            <a:r>
              <a:rPr lang="en-US" sz="2000" dirty="0"/>
              <a:t> nova </a:t>
            </a:r>
            <a:r>
              <a:rPr lang="en-US" sz="2000" dirty="0" err="1"/>
              <a:t>tabela</a:t>
            </a:r>
            <a:r>
              <a:rPr lang="en-US" sz="2000" dirty="0"/>
              <a:t> ‘Pessoa’, </a:t>
            </a:r>
            <a:r>
              <a:rPr lang="en-US" sz="2000" dirty="0" err="1"/>
              <a:t>esta</a:t>
            </a:r>
            <a:r>
              <a:rPr lang="en-US" sz="2000" dirty="0"/>
              <a:t> </a:t>
            </a:r>
            <a:r>
              <a:rPr lang="en-US" sz="2000" dirty="0" err="1"/>
              <a:t>tabela</a:t>
            </a:r>
            <a:r>
              <a:rPr lang="en-US" sz="2000" dirty="0"/>
              <a:t> </a:t>
            </a:r>
            <a:r>
              <a:rPr lang="en-US" sz="2000" dirty="0" err="1"/>
              <a:t>deve</a:t>
            </a:r>
            <a:r>
              <a:rPr lang="en-US" sz="2000" dirty="0"/>
              <a:t> </a:t>
            </a:r>
            <a:r>
              <a:rPr lang="en-US" sz="2000" dirty="0" err="1"/>
              <a:t>conter</a:t>
            </a:r>
            <a:r>
              <a:rPr lang="en-US" sz="2000" dirty="0"/>
              <a:t> um </a:t>
            </a:r>
            <a:r>
              <a:rPr lang="en-US" sz="2000" dirty="0" err="1"/>
              <a:t>identificador</a:t>
            </a:r>
            <a:r>
              <a:rPr lang="en-US" sz="2000" dirty="0"/>
              <a:t> </a:t>
            </a:r>
            <a:r>
              <a:rPr lang="en-US" sz="2000" dirty="0" err="1"/>
              <a:t>único</a:t>
            </a:r>
            <a:r>
              <a:rPr lang="en-US" sz="2000" dirty="0"/>
              <a:t> </a:t>
            </a:r>
            <a:r>
              <a:rPr lang="en-US" sz="2000" dirty="0" err="1"/>
              <a:t>obrigatório</a:t>
            </a:r>
            <a:r>
              <a:rPr lang="en-US" sz="2000" dirty="0"/>
              <a:t> e auto-incremental, um </a:t>
            </a:r>
            <a:r>
              <a:rPr lang="en-US" sz="2000" dirty="0" err="1"/>
              <a:t>nome</a:t>
            </a:r>
            <a:r>
              <a:rPr lang="en-US" sz="2000" dirty="0"/>
              <a:t> (40 </a:t>
            </a:r>
            <a:r>
              <a:rPr lang="en-US" sz="2000" dirty="0" err="1"/>
              <a:t>caracteres</a:t>
            </a:r>
            <a:r>
              <a:rPr lang="en-US" sz="2000" dirty="0"/>
              <a:t>), um campo de </a:t>
            </a:r>
            <a:r>
              <a:rPr lang="en-US" sz="2000" dirty="0" err="1"/>
              <a:t>endereço</a:t>
            </a:r>
            <a:r>
              <a:rPr lang="en-US" sz="2000" dirty="0"/>
              <a:t> e </a:t>
            </a:r>
            <a:r>
              <a:rPr lang="en-US" sz="2000" dirty="0" err="1"/>
              <a:t>uma</a:t>
            </a:r>
            <a:r>
              <a:rPr lang="en-US" sz="2000" dirty="0"/>
              <a:t> </a:t>
            </a:r>
            <a:r>
              <a:rPr lang="en-US" sz="2000" dirty="0" err="1"/>
              <a:t>profissão</a:t>
            </a:r>
            <a:r>
              <a:rPr lang="en-US" sz="2000" dirty="0"/>
              <a:t> (</a:t>
            </a:r>
            <a:r>
              <a:rPr lang="en-US" sz="2000" dirty="0" err="1"/>
              <a:t>obrigatório</a:t>
            </a:r>
            <a:r>
              <a:rPr lang="en-US" sz="2000" dirty="0"/>
              <a:t>);</a:t>
            </a:r>
          </a:p>
          <a:p>
            <a:pPr marL="342900" indent="-342900">
              <a:buAutoNum type="arabicPeriod"/>
            </a:pPr>
            <a:r>
              <a:rPr lang="en-US" sz="2000" dirty="0" err="1"/>
              <a:t>Faça</a:t>
            </a:r>
            <a:r>
              <a:rPr lang="en-US" sz="2000" dirty="0"/>
              <a:t> a </a:t>
            </a:r>
            <a:r>
              <a:rPr lang="en-US" sz="2000" dirty="0" err="1"/>
              <a:t>inserção</a:t>
            </a:r>
            <a:r>
              <a:rPr lang="en-US" sz="2000" dirty="0"/>
              <a:t> de 3 </a:t>
            </a:r>
            <a:r>
              <a:rPr lang="en-US" sz="2000" dirty="0" err="1"/>
              <a:t>pessoas</a:t>
            </a:r>
            <a:r>
              <a:rPr lang="en-US" sz="2000" dirty="0"/>
              <a:t>;</a:t>
            </a:r>
          </a:p>
          <a:p>
            <a:pPr marL="342900" indent="-342900">
              <a:buAutoNum type="arabicPeriod"/>
            </a:pPr>
            <a:r>
              <a:rPr lang="en-US" sz="2000" dirty="0" err="1"/>
              <a:t>Inclua</a:t>
            </a:r>
            <a:r>
              <a:rPr lang="en-US" sz="2000" dirty="0"/>
              <a:t> </a:t>
            </a:r>
            <a:r>
              <a:rPr lang="en-US" sz="2000" dirty="0" err="1"/>
              <a:t>uma</a:t>
            </a:r>
            <a:r>
              <a:rPr lang="en-US" sz="2000" dirty="0"/>
              <a:t> nova </a:t>
            </a:r>
            <a:r>
              <a:rPr lang="en-US" sz="2000" dirty="0" err="1"/>
              <a:t>coluna</a:t>
            </a:r>
            <a:r>
              <a:rPr lang="en-US" sz="2000" dirty="0"/>
              <a:t> para o </a:t>
            </a:r>
            <a:r>
              <a:rPr lang="en-US" sz="2000" dirty="0" err="1"/>
              <a:t>telefone</a:t>
            </a:r>
            <a:r>
              <a:rPr lang="en-US" sz="2000" dirty="0"/>
              <a:t>;</a:t>
            </a:r>
          </a:p>
          <a:p>
            <a:pPr marL="342900" indent="-342900">
              <a:buAutoNum type="arabicPeriod"/>
            </a:pPr>
            <a:r>
              <a:rPr lang="en-US" sz="2000" dirty="0" err="1"/>
              <a:t>Exclua</a:t>
            </a:r>
            <a:r>
              <a:rPr lang="en-US" sz="2000" dirty="0"/>
              <a:t> a </a:t>
            </a:r>
            <a:r>
              <a:rPr lang="en-US" sz="2000" dirty="0" err="1"/>
              <a:t>coluna</a:t>
            </a:r>
            <a:r>
              <a:rPr lang="en-US" sz="2000" dirty="0"/>
              <a:t> de </a:t>
            </a:r>
            <a:r>
              <a:rPr lang="en-US" sz="2000" dirty="0" err="1"/>
              <a:t>endereço</a:t>
            </a:r>
            <a:r>
              <a:rPr lang="en-US" sz="2000" dirty="0"/>
              <a:t>;</a:t>
            </a:r>
          </a:p>
          <a:p>
            <a:pPr marL="342900" indent="-342900">
              <a:buAutoNum type="arabicPeriod"/>
            </a:pPr>
            <a:r>
              <a:rPr lang="en-US" sz="2000" dirty="0" err="1"/>
              <a:t>Atualize</a:t>
            </a:r>
            <a:r>
              <a:rPr lang="en-US" sz="2000" dirty="0"/>
              <a:t> as </a:t>
            </a:r>
            <a:r>
              <a:rPr lang="en-US" sz="2000" dirty="0" err="1"/>
              <a:t>pessoas</a:t>
            </a:r>
            <a:r>
              <a:rPr lang="en-US" sz="2000" dirty="0"/>
              <a:t> </a:t>
            </a:r>
            <a:r>
              <a:rPr lang="en-US" sz="2000" dirty="0" err="1"/>
              <a:t>adicionando</a:t>
            </a:r>
            <a:r>
              <a:rPr lang="en-US" sz="2000" dirty="0"/>
              <a:t> </a:t>
            </a:r>
            <a:r>
              <a:rPr lang="en-US" sz="2000" dirty="0" err="1"/>
              <a:t>telefone</a:t>
            </a:r>
            <a:r>
              <a:rPr lang="en-US" sz="2000" dirty="0"/>
              <a:t> para as duas </a:t>
            </a:r>
            <a:r>
              <a:rPr lang="en-US" sz="2000" dirty="0" err="1"/>
              <a:t>últimas</a:t>
            </a:r>
            <a:r>
              <a:rPr lang="en-US" sz="2000" dirty="0"/>
              <a:t>;</a:t>
            </a:r>
          </a:p>
          <a:p>
            <a:pPr marL="342900" indent="-342900">
              <a:buAutoNum type="arabicPeriod"/>
            </a:pPr>
            <a:r>
              <a:rPr lang="en-US" sz="2000" dirty="0" err="1"/>
              <a:t>Modifique</a:t>
            </a:r>
            <a:r>
              <a:rPr lang="en-US" sz="2000" dirty="0"/>
              <a:t> a </a:t>
            </a:r>
            <a:r>
              <a:rPr lang="en-US" sz="2000" dirty="0" err="1"/>
              <a:t>capacidade</a:t>
            </a:r>
            <a:r>
              <a:rPr lang="en-US" sz="2000" dirty="0"/>
              <a:t> do </a:t>
            </a:r>
            <a:r>
              <a:rPr lang="en-US" sz="2000" dirty="0" err="1"/>
              <a:t>tipo</a:t>
            </a:r>
            <a:r>
              <a:rPr lang="en-US" sz="2000" dirty="0"/>
              <a:t> do campo ‘</a:t>
            </a:r>
            <a:r>
              <a:rPr lang="en-US" sz="2000" dirty="0" err="1"/>
              <a:t>nome</a:t>
            </a:r>
            <a:r>
              <a:rPr lang="en-US" sz="2000" dirty="0"/>
              <a:t>’ para 30;</a:t>
            </a:r>
          </a:p>
          <a:p>
            <a:pPr marL="342900" indent="-342900">
              <a:buAutoNum type="arabicPeriod"/>
            </a:pPr>
            <a:r>
              <a:rPr lang="en-US" sz="2000" dirty="0" err="1"/>
              <a:t>Exclua</a:t>
            </a:r>
            <a:r>
              <a:rPr lang="en-US" sz="2000" dirty="0"/>
              <a:t> a </a:t>
            </a:r>
            <a:r>
              <a:rPr lang="en-US" sz="2000" dirty="0" err="1"/>
              <a:t>primeira</a:t>
            </a:r>
            <a:r>
              <a:rPr lang="en-US" sz="2000" dirty="0"/>
              <a:t> </a:t>
            </a:r>
            <a:r>
              <a:rPr lang="en-US" sz="2000" dirty="0" err="1"/>
              <a:t>pessoa</a:t>
            </a:r>
            <a:r>
              <a:rPr lang="en-US" sz="2000" dirty="0"/>
              <a:t>;</a:t>
            </a:r>
          </a:p>
          <a:p>
            <a:pPr marL="342900" indent="-342900">
              <a:buAutoNum type="arabicPeriod"/>
            </a:pPr>
            <a:r>
              <a:rPr lang="en-US" sz="2000" dirty="0"/>
              <a:t> </a:t>
            </a:r>
            <a:r>
              <a:rPr lang="en-US" sz="2000" dirty="0" err="1"/>
              <a:t>Mostre</a:t>
            </a:r>
            <a:r>
              <a:rPr lang="en-US" sz="2000" dirty="0"/>
              <a:t> </a:t>
            </a:r>
            <a:r>
              <a:rPr lang="en-US" sz="2000" dirty="0" err="1"/>
              <a:t>todos</a:t>
            </a:r>
            <a:r>
              <a:rPr lang="en-US" sz="2000" dirty="0"/>
              <a:t> </a:t>
            </a:r>
            <a:r>
              <a:rPr lang="en-US" sz="2000" dirty="0" err="1"/>
              <a:t>os</a:t>
            </a:r>
            <a:r>
              <a:rPr lang="en-US" sz="2000" dirty="0"/>
              <a:t> dados;</a:t>
            </a:r>
          </a:p>
          <a:p>
            <a:pPr marL="342900" indent="-342900">
              <a:buAutoNum type="arabicPeriod"/>
            </a:pPr>
            <a:r>
              <a:rPr lang="en-US" sz="2000" dirty="0"/>
              <a:t> Delete </a:t>
            </a:r>
            <a:r>
              <a:rPr lang="en-US" sz="2000" dirty="0" err="1"/>
              <a:t>todos</a:t>
            </a:r>
            <a:r>
              <a:rPr lang="en-US" sz="2000" dirty="0"/>
              <a:t> </a:t>
            </a:r>
            <a:r>
              <a:rPr lang="en-US" sz="2000" dirty="0" err="1"/>
              <a:t>os</a:t>
            </a:r>
            <a:r>
              <a:rPr lang="en-US" sz="2000" dirty="0"/>
              <a:t> dados das </a:t>
            </a:r>
            <a:r>
              <a:rPr lang="en-US" sz="2000" dirty="0" err="1"/>
              <a:t>tabelas</a:t>
            </a:r>
            <a:r>
              <a:rPr lang="en-US" sz="2000" dirty="0"/>
              <a:t> com um </a:t>
            </a:r>
            <a:r>
              <a:rPr lang="en-US" sz="2000" dirty="0" err="1"/>
              <a:t>comando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dirty="0"/>
              <a:t>OBS: </a:t>
            </a:r>
            <a:r>
              <a:rPr lang="en-US" sz="2000" dirty="0" err="1"/>
              <a:t>Não</a:t>
            </a:r>
            <a:r>
              <a:rPr lang="en-US" sz="2000" dirty="0"/>
              <a:t> se </a:t>
            </a:r>
            <a:r>
              <a:rPr lang="en-US" sz="2000" dirty="0" err="1"/>
              <a:t>esqueça</a:t>
            </a:r>
            <a:r>
              <a:rPr lang="en-US" sz="2000" dirty="0"/>
              <a:t> de usar SET SQL_SAFE_UPDATES = 0;</a:t>
            </a:r>
          </a:p>
        </p:txBody>
      </p:sp>
    </p:spTree>
    <p:extLst>
      <p:ext uri="{BB962C8B-B14F-4D97-AF65-F5344CB8AC3E}">
        <p14:creationId xmlns:p14="http://schemas.microsoft.com/office/powerpoint/2010/main" val="2334101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73D6E-FC32-50DA-1CBC-9FDC465B1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33F163-C736-9349-5711-22D353FEF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625611-E7FA-1D72-494A-0AFBC3CF9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43371B3-3339-12F0-DD89-453EBF0A0E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C30338DA-9061-D8D4-B5A5-66A14A047FD4}"/>
              </a:ext>
            </a:extLst>
          </p:cNvPr>
          <p:cNvSpPr txBox="1"/>
          <p:nvPr/>
        </p:nvSpPr>
        <p:spPr>
          <a:xfrm>
            <a:off x="3924300" y="2413337"/>
            <a:ext cx="4343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accent5">
                    <a:lumMod val="75000"/>
                  </a:schemeClr>
                </a:solidFill>
              </a:rPr>
              <a:t>AULA CONCLUÍDA!</a:t>
            </a:r>
            <a:endParaRPr lang="pt-BR" sz="60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28466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393</Words>
  <Application>Microsoft Office PowerPoint</Application>
  <PresentationFormat>Widescreen</PresentationFormat>
  <Paragraphs>57</Paragraphs>
  <Slides>11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Felipe Reis</dc:creator>
  <cp:lastModifiedBy>Felipe Tagawa</cp:lastModifiedBy>
  <cp:revision>3</cp:revision>
  <dcterms:created xsi:type="dcterms:W3CDTF">2025-07-21T21:42:57Z</dcterms:created>
  <dcterms:modified xsi:type="dcterms:W3CDTF">2026-01-20T21:02:41Z</dcterms:modified>
</cp:coreProperties>
</file>