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9" r:id="rId4"/>
    <p:sldId id="275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26087-4625-80C1-3CD3-CCE1B7969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A24874-9C45-4735-550A-892AFDDD7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697E95-92B1-ED07-0EFF-67738E6A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3E6FC-E70E-4A28-8779-DF29F7254E90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022F6A-8406-8BFB-F9A3-DAEDA3FA8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B990A5-0970-9F46-EA5F-79F16F7C1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6D4A9-E029-4AE3-AA69-0C1FE25DDC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76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8F497-D30B-FC34-EB1E-C3FB5A6F0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3000-3CF6-0B44-720F-5225283DF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2B5AB5-807D-596C-E74F-D09AC9322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3E6FC-E70E-4A28-8779-DF29F7254E90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329C51-1D8C-5476-25B8-7031B92B9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5C98D4-0E08-DEC4-15D0-3F6D135F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6D4A9-E029-4AE3-AA69-0C1FE25DDC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5786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5972A3-0544-101E-B712-BB3149DD6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7DDD7C-237A-ED75-875C-4F8A0AA10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D46EAD-B006-EFB7-595D-B596A7563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3E6FC-E70E-4A28-8779-DF29F7254E90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730428-9E55-5745-9107-4CE551BEE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9F3791-FB78-9EB7-8C14-D8316B37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6D4A9-E029-4AE3-AA69-0C1FE25DDC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2756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60B3D-8BE7-4443-0847-BCC28F2EB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79B092-BC0D-A66C-F8CE-C20457E5F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D8C075-3DF6-10A0-97A5-6B1834806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3B5C24-168E-8483-313C-8B1CA3F04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3E6FC-E70E-4A28-8779-DF29F7254E90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F21489A-70F0-1FFD-EC9B-3F4748D8E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50C61C-AF40-A3D5-4F1E-107229594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6D4A9-E029-4AE3-AA69-0C1FE25DDC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218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1DC673-853B-0EF6-1BA4-7B16034EA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F78A5B-1F3A-30E5-45A1-8A169164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E3411C-02D5-A359-FACF-F2E2CC15B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9450DE2-2269-2A78-68A1-6D979738B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334016-A07C-E5C3-2DFF-106FA6665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00F17E-2C15-984E-131A-07FC1F64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3E6FC-E70E-4A28-8779-DF29F7254E90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31687F-389A-6F64-B0F1-CE656D5DA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1FF5838-A4EA-99A2-2193-BC93BE3B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6D4A9-E029-4AE3-AA69-0C1FE25DDC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5987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2BBCE-A66A-5AE2-75A7-A35CBA8BF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C3FB636-F71B-445F-1D33-4E2C65B9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3E6FC-E70E-4A28-8779-DF29F7254E90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0378041-C460-6C46-82E4-4F1AC2214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BF312D0-3E15-D152-72DB-984CECE8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6D4A9-E029-4AE3-AA69-0C1FE25DDC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658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2A85808-98CE-2FD9-93AC-B173359F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3E6FC-E70E-4A28-8779-DF29F7254E90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FA51900-4FE2-4680-A5A4-B16C13B2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3A4412-F885-221C-4E2F-FEEAC3350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6D4A9-E029-4AE3-AA69-0C1FE25DDC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0878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98C8F-B729-CCE0-355F-5C0432263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7EFD48-3687-CC5F-D85A-EC90E4065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D96D95-C4EB-8CBB-2FA0-669E4FFE4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2BCCB6-EF0E-6C69-72FB-5959FA2D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3E6FC-E70E-4A28-8779-DF29F7254E90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A6817C-E4B3-0639-B9DD-100D28426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AE040D-1DE7-630D-EACA-B7CDA9ACB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6D4A9-E029-4AE3-AA69-0C1FE25DDC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4458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5BB230-FE9B-98C8-EDC3-1CE2DB07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DA6D6A5-AC81-634C-B524-232FC8FB8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AD6723-9627-41BF-342E-C8ACA94E1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67F03F-2BE6-CDF2-346C-DE21BC0F3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3E6FC-E70E-4A28-8779-DF29F7254E90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1D256E-2E01-7616-1FE2-06BC7EDC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E8AD27-6298-976D-3A6D-9CE73BFA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6D4A9-E029-4AE3-AA69-0C1FE25DDC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41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24A0E-04C5-3BFB-B004-549B3B056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C4F5CF-18EA-06C7-C33E-299D32461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4BCE43-225F-DA79-1475-47B70AB49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3E6FC-E70E-4A28-8779-DF29F7254E90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0C5625-9B48-C82A-DA15-8E1E368E3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61AFB8-E178-96B7-2613-9CCE8050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6D4A9-E029-4AE3-AA69-0C1FE25DDC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163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D4EADF-C2E9-DCE5-93D9-1593CDD2F9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14875C-C62E-460D-8215-14AB7431E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06A107-C781-20EC-C13C-7E85AA596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3E6FC-E70E-4A28-8779-DF29F7254E90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F29E8A-95C1-12DC-21A1-8A2270990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D5B28F-98DE-B760-238D-EC3ADD6B5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6D4A9-E029-4AE3-AA69-0C1FE25DDC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713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CCB8640-0786-2E68-894F-DF2D46130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245C90-DC0F-B8F0-2D28-FCE3D70D1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4FA83C-9AEA-492F-05D2-115D5F6A1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3E6FC-E70E-4A28-8779-DF29F7254E90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8F6F6F-8830-0908-E78D-FD96A5D99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EACC-187D-F3A3-2C7E-3A727B699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6D4A9-E029-4AE3-AA69-0C1FE25DDC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72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93706-39B2-76EC-55EB-6147119F4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33A1DA-77C3-7A7A-8565-4C72FAA0D2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E276DC6-B3ED-2BA8-8D74-3A5E4713E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E9C8748-4A3A-3B24-A6B0-9ED40A286B24}"/>
              </a:ext>
            </a:extLst>
          </p:cNvPr>
          <p:cNvSpPr txBox="1"/>
          <p:nvPr/>
        </p:nvSpPr>
        <p:spPr>
          <a:xfrm>
            <a:off x="79130" y="6044515"/>
            <a:ext cx="47302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Exercícios - Structures</a:t>
            </a:r>
            <a:endParaRPr lang="pt-BR" sz="40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2C3D2F0-362B-B077-46CE-80BFB089CD95}"/>
              </a:ext>
            </a:extLst>
          </p:cNvPr>
          <p:cNvSpPr txBox="1"/>
          <p:nvPr/>
        </p:nvSpPr>
        <p:spPr>
          <a:xfrm>
            <a:off x="105508" y="114300"/>
            <a:ext cx="3938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Banco de Dados – C07</a:t>
            </a:r>
            <a:endParaRPr lang="pt-BR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AC82C7E-1BF6-FEAA-81DA-2857B4EB7281}"/>
              </a:ext>
            </a:extLst>
          </p:cNvPr>
          <p:cNvSpPr txBox="1"/>
          <p:nvPr/>
        </p:nvSpPr>
        <p:spPr>
          <a:xfrm>
            <a:off x="105508" y="602313"/>
            <a:ext cx="25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Felipe Tagawa Reis</a:t>
            </a:r>
            <a:endParaRPr lang="pt-BR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686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29EF-0045-2DFB-D300-AD5C4C85A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1F5A387-C841-C97F-CD23-997B7B4F8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8510A31-E53E-4386-AB65-6B5FDB6D1144}"/>
              </a:ext>
            </a:extLst>
          </p:cNvPr>
          <p:cNvSpPr txBox="1"/>
          <p:nvPr/>
        </p:nvSpPr>
        <p:spPr>
          <a:xfrm>
            <a:off x="5173632" y="171219"/>
            <a:ext cx="1844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Exercício</a:t>
            </a:r>
            <a:r>
              <a:rPr lang="en-US" sz="3600" dirty="0"/>
              <a:t> 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A920CC4-755B-9159-33D3-07E61FF96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562" y="1243552"/>
            <a:ext cx="4105848" cy="337241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6E55902-9C2C-26BE-A4BF-FD74EBC55A5E}"/>
              </a:ext>
            </a:extLst>
          </p:cNvPr>
          <p:cNvSpPr txBox="1"/>
          <p:nvPr/>
        </p:nvSpPr>
        <p:spPr>
          <a:xfrm>
            <a:off x="1415562" y="5418596"/>
            <a:ext cx="8897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Crie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Function </a:t>
            </a:r>
            <a:r>
              <a:rPr lang="en-US" dirty="0" err="1"/>
              <a:t>criaEmailFuncionario</a:t>
            </a:r>
            <a:r>
              <a:rPr lang="en-US" dirty="0"/>
              <a:t> para </a:t>
            </a:r>
            <a:r>
              <a:rPr lang="en-US" dirty="0" err="1"/>
              <a:t>criar</a:t>
            </a:r>
            <a:r>
              <a:rPr lang="en-US" dirty="0"/>
              <a:t> um email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funcionário</a:t>
            </a:r>
            <a:r>
              <a:rPr lang="en-US" dirty="0"/>
              <a:t> no </a:t>
            </a:r>
            <a:r>
              <a:rPr lang="en-US" dirty="0" err="1"/>
              <a:t>estilo</a:t>
            </a:r>
            <a:r>
              <a:rPr lang="en-US" dirty="0"/>
              <a:t>: ‘nome@departamento.empresa.com’;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Crie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Procedure </a:t>
            </a:r>
            <a:r>
              <a:rPr lang="en-US" dirty="0" err="1"/>
              <a:t>insereFuncionario</a:t>
            </a:r>
            <a:r>
              <a:rPr lang="en-US" dirty="0"/>
              <a:t> para </a:t>
            </a:r>
            <a:r>
              <a:rPr lang="en-US" dirty="0" err="1"/>
              <a:t>fazer</a:t>
            </a:r>
            <a:r>
              <a:rPr lang="en-US" dirty="0"/>
              <a:t> as </a:t>
            </a:r>
            <a:r>
              <a:rPr lang="en-US" dirty="0" err="1"/>
              <a:t>inserções</a:t>
            </a:r>
            <a:r>
              <a:rPr lang="en-US" dirty="0"/>
              <a:t> dos </a:t>
            </a:r>
            <a:r>
              <a:rPr lang="en-US" dirty="0" err="1"/>
              <a:t>funcionários</a:t>
            </a:r>
            <a:r>
              <a:rPr lang="en-US" dirty="0"/>
              <a:t>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Use a </a:t>
            </a:r>
            <a:r>
              <a:rPr lang="en-US" dirty="0" err="1"/>
              <a:t>função</a:t>
            </a:r>
            <a:r>
              <a:rPr lang="en-US" dirty="0"/>
              <a:t> CONCAT() para </a:t>
            </a:r>
            <a:r>
              <a:rPr lang="en-US" dirty="0" err="1"/>
              <a:t>gerar</a:t>
            </a:r>
            <a:r>
              <a:rPr lang="en-US" dirty="0"/>
              <a:t> o email, </a:t>
            </a:r>
            <a:r>
              <a:rPr lang="en-US" dirty="0" err="1"/>
              <a:t>colocando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 entre </a:t>
            </a:r>
            <a:r>
              <a:rPr lang="en-US" dirty="0" err="1"/>
              <a:t>vírgulas</a:t>
            </a:r>
            <a:r>
              <a:rPr lang="en-US" dirty="0"/>
              <a:t>.</a:t>
            </a:r>
            <a:endParaRPr lang="pt-BR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37E8C0E-EFE0-5473-C07D-A4DFCEFD7F0A}"/>
              </a:ext>
            </a:extLst>
          </p:cNvPr>
          <p:cNvGraphicFramePr>
            <a:graphicFrameLocks noGrp="1"/>
          </p:cNvGraphicFramePr>
          <p:nvPr/>
        </p:nvGraphicFramePr>
        <p:xfrm>
          <a:off x="5700267" y="1131104"/>
          <a:ext cx="6312875" cy="4175042"/>
        </p:xfrm>
        <a:graphic>
          <a:graphicData uri="http://schemas.openxmlformats.org/drawingml/2006/table">
            <a:tbl>
              <a:tblPr/>
              <a:tblGrid>
                <a:gridCol w="1262575">
                  <a:extLst>
                    <a:ext uri="{9D8B030D-6E8A-4147-A177-3AD203B41FA5}">
                      <a16:colId xmlns:a16="http://schemas.microsoft.com/office/drawing/2014/main" val="2049855493"/>
                    </a:ext>
                  </a:extLst>
                </a:gridCol>
                <a:gridCol w="1262575">
                  <a:extLst>
                    <a:ext uri="{9D8B030D-6E8A-4147-A177-3AD203B41FA5}">
                      <a16:colId xmlns:a16="http://schemas.microsoft.com/office/drawing/2014/main" val="4270633360"/>
                    </a:ext>
                  </a:extLst>
                </a:gridCol>
                <a:gridCol w="1262575">
                  <a:extLst>
                    <a:ext uri="{9D8B030D-6E8A-4147-A177-3AD203B41FA5}">
                      <a16:colId xmlns:a16="http://schemas.microsoft.com/office/drawing/2014/main" val="1339243786"/>
                    </a:ext>
                  </a:extLst>
                </a:gridCol>
                <a:gridCol w="1810044">
                  <a:extLst>
                    <a:ext uri="{9D8B030D-6E8A-4147-A177-3AD203B41FA5}">
                      <a16:colId xmlns:a16="http://schemas.microsoft.com/office/drawing/2014/main" val="3120751767"/>
                    </a:ext>
                  </a:extLst>
                </a:gridCol>
                <a:gridCol w="715106">
                  <a:extLst>
                    <a:ext uri="{9D8B030D-6E8A-4147-A177-3AD203B41FA5}">
                      <a16:colId xmlns:a16="http://schemas.microsoft.com/office/drawing/2014/main" val="1471216414"/>
                    </a:ext>
                  </a:extLst>
                </a:gridCol>
              </a:tblGrid>
              <a:tr h="712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departamento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552881"/>
                  </a:ext>
                </a:extLst>
              </a:tr>
              <a:tr h="1018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Carlos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/>
                        <a:t>rh</a:t>
                      </a: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122916"/>
                  </a:ext>
                </a:extLst>
              </a:tr>
              <a:tr h="1018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Lucia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821612"/>
                  </a:ext>
                </a:extLst>
              </a:tr>
              <a:tr h="1018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Bruno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adm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240038"/>
                  </a:ext>
                </a:extLst>
              </a:tr>
              <a:tr h="40732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474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536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0CE14-B528-DCB8-83F8-88515F08A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9282E23-1AD6-C3CC-3F7F-C4E520FF7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EA71DE6-D83C-51F7-C366-9374615E7551}"/>
              </a:ext>
            </a:extLst>
          </p:cNvPr>
          <p:cNvSpPr txBox="1"/>
          <p:nvPr/>
        </p:nvSpPr>
        <p:spPr>
          <a:xfrm>
            <a:off x="5188399" y="137993"/>
            <a:ext cx="1815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Exercício</a:t>
            </a:r>
            <a:r>
              <a:rPr lang="en-US" sz="3600" dirty="0"/>
              <a:t> 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A269B3-DBCA-F4BA-2117-75E9407BD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475" y="1151792"/>
            <a:ext cx="4765525" cy="3437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BE5ED2D-AAD3-C759-95F1-D66C9C200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74" y="4589585"/>
            <a:ext cx="4765526" cy="1943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BB35B93-B99C-A7FA-7F48-C61BB2667D59}"/>
              </a:ext>
            </a:extLst>
          </p:cNvPr>
          <p:cNvSpPr txBox="1"/>
          <p:nvPr/>
        </p:nvSpPr>
        <p:spPr>
          <a:xfrm>
            <a:off x="6304085" y="1716526"/>
            <a:ext cx="532813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Crie</a:t>
            </a:r>
            <a:r>
              <a:rPr lang="en-US" sz="3200" dirty="0"/>
              <a:t> um Trigger que </a:t>
            </a:r>
            <a:r>
              <a:rPr lang="en-US" sz="3200" dirty="0" err="1"/>
              <a:t>seja</a:t>
            </a:r>
            <a:r>
              <a:rPr lang="en-US" sz="3200" dirty="0"/>
              <a:t> </a:t>
            </a:r>
            <a:r>
              <a:rPr lang="en-US" sz="3200" dirty="0" err="1"/>
              <a:t>executado</a:t>
            </a:r>
            <a:r>
              <a:rPr lang="en-US" sz="3200" dirty="0"/>
              <a:t> antes do INSERT , que </a:t>
            </a:r>
            <a:r>
              <a:rPr lang="en-US" sz="3200" dirty="0" err="1"/>
              <a:t>calcule</a:t>
            </a:r>
            <a:r>
              <a:rPr lang="en-US" sz="3200" dirty="0"/>
              <a:t> e </a:t>
            </a:r>
            <a:r>
              <a:rPr lang="en-US" sz="3200" dirty="0" err="1"/>
              <a:t>atribua</a:t>
            </a:r>
            <a:r>
              <a:rPr lang="en-US" sz="3200" dirty="0"/>
              <a:t> o valor do </a:t>
            </a:r>
            <a:r>
              <a:rPr lang="en-US" sz="3200" dirty="0" err="1"/>
              <a:t>troco</a:t>
            </a:r>
            <a:r>
              <a:rPr lang="en-US" sz="3200" dirty="0"/>
              <a:t> (valor </a:t>
            </a:r>
            <a:r>
              <a:rPr lang="en-US" sz="3200" dirty="0" err="1"/>
              <a:t>pago</a:t>
            </a:r>
            <a:r>
              <a:rPr lang="en-US" sz="3200" dirty="0"/>
              <a:t> - </a:t>
            </a:r>
            <a:r>
              <a:rPr lang="en-US" sz="3200" dirty="0" err="1"/>
              <a:t>preço</a:t>
            </a:r>
            <a:r>
              <a:rPr lang="en-US" sz="3200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Crie</a:t>
            </a:r>
            <a:r>
              <a:rPr lang="en-US" sz="3200" dirty="0"/>
              <a:t> </a:t>
            </a:r>
            <a:r>
              <a:rPr lang="en-US" sz="3200" dirty="0" err="1"/>
              <a:t>uma</a:t>
            </a:r>
            <a:r>
              <a:rPr lang="en-US" sz="3200" dirty="0"/>
              <a:t> View que </a:t>
            </a:r>
            <a:r>
              <a:rPr lang="en-US" sz="3200" dirty="0" err="1"/>
              <a:t>busca</a:t>
            </a:r>
            <a:r>
              <a:rPr lang="en-US" sz="3200" dirty="0"/>
              <a:t> a </a:t>
            </a:r>
            <a:r>
              <a:rPr lang="en-US" sz="3200" dirty="0" err="1"/>
              <a:t>quantidade</a:t>
            </a:r>
            <a:r>
              <a:rPr lang="en-US" sz="3200" dirty="0"/>
              <a:t> de </a:t>
            </a:r>
            <a:r>
              <a:rPr lang="en-US" sz="3200" dirty="0" err="1"/>
              <a:t>compras</a:t>
            </a:r>
            <a:r>
              <a:rPr lang="en-US" sz="3200" dirty="0"/>
              <a:t>, </a:t>
            </a:r>
            <a:r>
              <a:rPr lang="en-US" sz="3200" dirty="0" err="1"/>
              <a:t>usando</a:t>
            </a:r>
            <a:r>
              <a:rPr lang="en-US" sz="3200" dirty="0"/>
              <a:t> COUNT(), </a:t>
            </a:r>
            <a:r>
              <a:rPr lang="en-US" sz="3200" dirty="0" err="1"/>
              <a:t>cujo</a:t>
            </a:r>
            <a:r>
              <a:rPr lang="en-US" sz="3200" dirty="0"/>
              <a:t> </a:t>
            </a:r>
            <a:r>
              <a:rPr lang="en-US" sz="3200" dirty="0" err="1"/>
              <a:t>preço</a:t>
            </a:r>
            <a:r>
              <a:rPr lang="en-US" sz="3200" dirty="0"/>
              <a:t> é </a:t>
            </a:r>
            <a:r>
              <a:rPr lang="en-US" sz="3200" dirty="0" err="1"/>
              <a:t>maior</a:t>
            </a:r>
            <a:r>
              <a:rPr lang="en-US" sz="3200" dirty="0"/>
              <a:t> </a:t>
            </a:r>
            <a:r>
              <a:rPr lang="en-US" sz="3200" dirty="0" err="1"/>
              <a:t>ou</a:t>
            </a:r>
            <a:r>
              <a:rPr lang="en-US" sz="3200" dirty="0"/>
              <a:t> </a:t>
            </a:r>
            <a:r>
              <a:rPr lang="en-US" sz="3200" dirty="0" err="1"/>
              <a:t>igual</a:t>
            </a:r>
            <a:r>
              <a:rPr lang="en-US" sz="3200" dirty="0"/>
              <a:t> a 10.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804796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3D6E-FC32-50DA-1CBC-9FDC465B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3F163-C736-9349-5711-22D353F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25611-E7FA-1D72-494A-0AFBC3CF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3371B3-3339-12F0-DD89-453EBF0A0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0338DA-9061-D8D4-B5A5-66A14A047FD4}"/>
              </a:ext>
            </a:extLst>
          </p:cNvPr>
          <p:cNvSpPr txBox="1"/>
          <p:nvPr/>
        </p:nvSpPr>
        <p:spPr>
          <a:xfrm>
            <a:off x="3924300" y="2413337"/>
            <a:ext cx="434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AULA CONCLUÍDA!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846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128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Tagawa</dc:creator>
  <cp:lastModifiedBy>Felipe Tagawa</cp:lastModifiedBy>
  <cp:revision>1</cp:revision>
  <dcterms:created xsi:type="dcterms:W3CDTF">2026-01-25T14:59:45Z</dcterms:created>
  <dcterms:modified xsi:type="dcterms:W3CDTF">2026-01-25T15:10:33Z</dcterms:modified>
</cp:coreProperties>
</file>