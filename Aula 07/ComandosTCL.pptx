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0" r:id="rId7"/>
    <p:sldId id="261" r:id="rId8"/>
    <p:sldId id="266" r:id="rId9"/>
    <p:sldId id="267" r:id="rId10"/>
    <p:sldId id="268" r:id="rId11"/>
    <p:sldId id="269" r:id="rId12"/>
    <p:sldId id="271" r:id="rId13"/>
    <p:sldId id="270" r:id="rId14"/>
    <p:sldId id="272" r:id="rId15"/>
    <p:sldId id="273" r:id="rId16"/>
    <p:sldId id="262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BEE043-6645-7C8E-8BE7-6550CED4E8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E46BA61-6D0A-6D47-AB41-982666F656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4F9971B-B91E-47A3-EF0F-1A579EC31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00D615-D430-5270-6E8D-FAA57B273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286ADE-8E96-76A5-405C-A2F1678A1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86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ACDDF-4879-8E10-8EC5-34CD8AA282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AE1123-3616-E307-4EA4-A23EB7583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7CA37E6-3B5C-9A66-C77E-BC9033E78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69BBC62-5B13-09CD-4DB9-2B65EAD677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ADD800F-E606-1760-3A58-8B5F4D5B4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9214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84C8A9-6429-B7BA-9524-53E2FE78B7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3A6B470-8C8A-DD65-658F-A947FA2F55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279C8AA-01AE-9ECC-6C17-37FB7F184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41B3CE2-9BB3-613B-299B-00DCEB7D32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98D1D1-9E68-3650-C0F8-5319BA2F0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25843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724BB4-12B5-2D67-2E36-971EB9598B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D5E4248-F732-35C8-473A-8C82C0785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7B9F538B-8477-047D-A578-5C8D80649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C1D5CF4-E33E-02C7-19A8-13B62EF35A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650DB16-4AEC-3601-55DE-7B0DD5BC1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F2EE6D3-A8B6-C881-C0A6-983260AD85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51566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254E71-6206-8768-9211-5D60EAFEC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C2261EA-719A-0D64-4F65-9A8B6AC03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EACBA0D-2D80-3D2E-B4B4-C6E7DEEDE2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2FEF45A-98D5-E6BC-4F49-A75C894FFA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2D45B2E-E2BE-D398-8078-18F40F4579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0B861BA-1297-8B13-EA8D-17D285744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1B7ADB5-2A26-C4FC-F306-585DAADEA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DF112F5-211D-9C97-5374-E4726D9E0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8573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37E80A-C950-6EEF-0F4D-64EEBC07D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322ADF8-9DA5-F8B8-4CF2-A89A603E2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BD9D02A-D2B2-C4DB-26C6-15E23C51E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E3FE899-4FD6-B123-A32F-009A187B5A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5287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9021FEC3-CD95-209C-8100-54A22A801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DECE26C-C56F-393B-4DEC-3610F6E80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5910FF8-F4D3-A869-64D0-0573C8AD40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3710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4BD76E-CA47-5F6C-FB14-154C5D723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0B40114-7879-F7D1-F82A-8DF357D8AC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4424C6E-C08A-1456-16AB-61C56BC438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EDFA475-FCAD-CDDF-DCED-3E2DEC52D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C9ABC31-DFF7-F4B5-C775-AE62CD777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D35EC75-E301-B931-5A30-F5E578BD5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9982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501227B-7AD5-B6CE-1A48-BF80DFBB3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812577D1-B3D6-4B83-05F8-A28664B922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E15667-FBDC-6DF3-29DC-E599C67013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C31FA7D-7B31-085E-96D2-3A7E79257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E966769-1857-8623-F008-DFC86D30CA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9B8CAE9-C74D-ED26-9ACA-4B3CC5BF8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55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14F401-C2D0-562F-542A-536460A474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70DBDE9-6131-1CB1-707F-F8B1CE71BD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5B294F6-B55B-521F-5B5E-B9859D6393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9DA0D4-A74E-8A3D-2A90-7F895CA6A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CD124D2-3BBD-902B-6222-F2D6E394AF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53722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E7DE58F-88A4-E817-9AD4-FBEDAC3FB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18AAB34-96AA-F988-4AF7-A8A91F9EF6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0E9D429-D6C0-111D-9838-CA8C4F7BF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611071-4FF8-D328-16E1-385D9CA5B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22CC0E8-FC92-3250-7774-C31D8FE378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12357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BFEBD81-15E7-F611-938C-7B8142907E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EE91E1C-3A16-FDCB-84E6-4E2B0E0D9C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118887C-FBF1-9F4F-172D-D0579F34C2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AA9C2A-6989-4908-A060-FB531FDBC7D5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0C690A-6AED-1946-109C-C408370EE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2C5FE89-582E-9D0C-191A-3986E7AA39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455F0F-F185-49C3-AB7B-57D11FB2E6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15168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6C28434-D993-1900-93FF-4F5C3D8EEF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F82E173-3D8C-99C0-2573-F18F852C96EC}"/>
              </a:ext>
            </a:extLst>
          </p:cNvPr>
          <p:cNvSpPr txBox="1"/>
          <p:nvPr/>
        </p:nvSpPr>
        <p:spPr>
          <a:xfrm>
            <a:off x="105508" y="114300"/>
            <a:ext cx="39389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Banco de Dados – C07</a:t>
            </a:r>
            <a:endParaRPr lang="pt-BR" sz="32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8CAEA60-7D4C-2727-352E-C2CB24CEC093}"/>
              </a:ext>
            </a:extLst>
          </p:cNvPr>
          <p:cNvSpPr txBox="1"/>
          <p:nvPr/>
        </p:nvSpPr>
        <p:spPr>
          <a:xfrm>
            <a:off x="105508" y="602313"/>
            <a:ext cx="252339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Felipe Tagawa Reis</a:t>
            </a:r>
            <a:endParaRPr lang="pt-BR" sz="2400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3D76A4E-3E63-3597-F5B2-54911C7E503F}"/>
              </a:ext>
            </a:extLst>
          </p:cNvPr>
          <p:cNvSpPr txBox="1"/>
          <p:nvPr/>
        </p:nvSpPr>
        <p:spPr>
          <a:xfrm>
            <a:off x="105508" y="6035814"/>
            <a:ext cx="33586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Comandos</a:t>
            </a:r>
            <a:r>
              <a:rPr lang="en-US" sz="4000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 TCL</a:t>
            </a:r>
          </a:p>
        </p:txBody>
      </p:sp>
    </p:spTree>
    <p:extLst>
      <p:ext uri="{BB962C8B-B14F-4D97-AF65-F5344CB8AC3E}">
        <p14:creationId xmlns:p14="http://schemas.microsoft.com/office/powerpoint/2010/main" val="5276151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6293023-B01C-1C5D-C301-4F2B782BB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6DFDCF7E-227D-2096-BF61-B44D2D33DF62}"/>
              </a:ext>
            </a:extLst>
          </p:cNvPr>
          <p:cNvSpPr txBox="1"/>
          <p:nvPr/>
        </p:nvSpPr>
        <p:spPr>
          <a:xfrm>
            <a:off x="4588119" y="188803"/>
            <a:ext cx="30157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Linguagem</a:t>
            </a:r>
            <a:r>
              <a:rPr lang="en-US" sz="3600" dirty="0"/>
              <a:t> SQL</a:t>
            </a:r>
            <a:endParaRPr lang="pt-BR" sz="3600" dirty="0"/>
          </a:p>
        </p:txBody>
      </p:sp>
      <p:pic>
        <p:nvPicPr>
          <p:cNvPr id="6" name="Picture 2" descr="Types of SQL Commands. - Learnomate Technologies">
            <a:extLst>
              <a:ext uri="{FF2B5EF4-FFF2-40B4-BE49-F238E27FC236}">
                <a16:creationId xmlns:a16="http://schemas.microsoft.com/office/drawing/2014/main" id="{52C1E974-9440-D701-2A75-8C9F90BA0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5537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4B74B-6082-0299-AFD7-079C68A693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C1C8743-A7A4-36A7-FA54-12058F3DB6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DD930AB7-555A-D538-C0C1-3A5FFF1357DD}"/>
              </a:ext>
            </a:extLst>
          </p:cNvPr>
          <p:cNvSpPr txBox="1"/>
          <p:nvPr/>
        </p:nvSpPr>
        <p:spPr>
          <a:xfrm>
            <a:off x="4798402" y="180011"/>
            <a:ext cx="259519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Aula de </a:t>
            </a:r>
            <a:r>
              <a:rPr lang="en-US" sz="3600" dirty="0" err="1"/>
              <a:t>Hoje</a:t>
            </a:r>
            <a:endParaRPr lang="pt-BR" sz="3600" dirty="0"/>
          </a:p>
        </p:txBody>
      </p:sp>
      <p:pic>
        <p:nvPicPr>
          <p:cNvPr id="3" name="Picture 2" descr="Types of SQL Commands. - Learnomate Technologies">
            <a:extLst>
              <a:ext uri="{FF2B5EF4-FFF2-40B4-BE49-F238E27FC236}">
                <a16:creationId xmlns:a16="http://schemas.microsoft.com/office/drawing/2014/main" id="{AE91C2A5-A7E0-8DFF-1133-D57B3313A7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9750" y="1023937"/>
            <a:ext cx="8572500" cy="481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Seta: para a Direita 4">
            <a:extLst>
              <a:ext uri="{FF2B5EF4-FFF2-40B4-BE49-F238E27FC236}">
                <a16:creationId xmlns:a16="http://schemas.microsoft.com/office/drawing/2014/main" id="{789F70B9-3CE4-682F-C450-55843CB26AC3}"/>
              </a:ext>
            </a:extLst>
          </p:cNvPr>
          <p:cNvSpPr/>
          <p:nvPr/>
        </p:nvSpPr>
        <p:spPr>
          <a:xfrm flipH="1" flipV="1">
            <a:off x="8721969" y="2672861"/>
            <a:ext cx="483577" cy="219808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highlight>
                <a:srgbClr val="FFFF00"/>
              </a:highlight>
            </a:endParaRPr>
          </a:p>
        </p:txBody>
      </p:sp>
      <p:sp>
        <p:nvSpPr>
          <p:cNvPr id="6" name="Seta: para a Direita 5">
            <a:extLst>
              <a:ext uri="{FF2B5EF4-FFF2-40B4-BE49-F238E27FC236}">
                <a16:creationId xmlns:a16="http://schemas.microsoft.com/office/drawing/2014/main" id="{4AFA256D-8A0D-3C8F-4730-66290ADEDFDA}"/>
              </a:ext>
            </a:extLst>
          </p:cNvPr>
          <p:cNvSpPr/>
          <p:nvPr/>
        </p:nvSpPr>
        <p:spPr>
          <a:xfrm flipH="1" flipV="1">
            <a:off x="8963757" y="2980360"/>
            <a:ext cx="483577" cy="21980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a Direita 6">
            <a:extLst>
              <a:ext uri="{FF2B5EF4-FFF2-40B4-BE49-F238E27FC236}">
                <a16:creationId xmlns:a16="http://schemas.microsoft.com/office/drawing/2014/main" id="{5FE6B3B0-B108-1D28-ABF9-620F2FF53AF2}"/>
              </a:ext>
            </a:extLst>
          </p:cNvPr>
          <p:cNvSpPr/>
          <p:nvPr/>
        </p:nvSpPr>
        <p:spPr>
          <a:xfrm flipH="1" flipV="1">
            <a:off x="8963757" y="3287859"/>
            <a:ext cx="483577" cy="219808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5761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E344C-6D0A-6A5F-BE9F-833D7E43C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5D83D8C-E817-61FE-0F89-C21553B3E4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B4D1C76B-3D47-7EF2-8ED5-346EC91A460B}"/>
              </a:ext>
            </a:extLst>
          </p:cNvPr>
          <p:cNvSpPr txBox="1"/>
          <p:nvPr/>
        </p:nvSpPr>
        <p:spPr>
          <a:xfrm>
            <a:off x="4376005" y="172410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/>
              <a:t>Comandos</a:t>
            </a:r>
            <a:r>
              <a:rPr lang="en-US" sz="3600" dirty="0"/>
              <a:t> TCL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076CC19-86B6-0E6D-56FB-208036987FD6}"/>
              </a:ext>
            </a:extLst>
          </p:cNvPr>
          <p:cNvSpPr txBox="1"/>
          <p:nvPr/>
        </p:nvSpPr>
        <p:spPr>
          <a:xfrm>
            <a:off x="756138" y="1086650"/>
            <a:ext cx="1095521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u="sng" dirty="0"/>
              <a:t>TCL (Transaction Control Language)</a:t>
            </a:r>
            <a:r>
              <a:rPr lang="en-US" sz="2800" dirty="0"/>
              <a:t> é o conjunto de </a:t>
            </a:r>
            <a:r>
              <a:rPr lang="en-US" sz="2800" dirty="0" err="1"/>
              <a:t>comandos</a:t>
            </a:r>
            <a:r>
              <a:rPr lang="en-US" sz="2800" dirty="0"/>
              <a:t> </a:t>
            </a:r>
            <a:r>
              <a:rPr lang="en-US" sz="2800" dirty="0" err="1"/>
              <a:t>responsáveis</a:t>
            </a:r>
            <a:r>
              <a:rPr lang="en-US" sz="2800" dirty="0"/>
              <a:t> </a:t>
            </a:r>
            <a:r>
              <a:rPr lang="en-US" sz="2800" dirty="0" err="1"/>
              <a:t>por</a:t>
            </a:r>
            <a:r>
              <a:rPr lang="en-US" sz="2800" dirty="0"/>
              <a:t> </a:t>
            </a:r>
            <a:r>
              <a:rPr lang="en-US" sz="2800" dirty="0" err="1"/>
              <a:t>garantir</a:t>
            </a:r>
            <a:r>
              <a:rPr lang="en-US" sz="2800" dirty="0"/>
              <a:t> o </a:t>
            </a:r>
            <a:r>
              <a:rPr lang="en-US" sz="2800" dirty="0" err="1"/>
              <a:t>controle</a:t>
            </a:r>
            <a:r>
              <a:rPr lang="en-US" sz="2800" dirty="0"/>
              <a:t> de </a:t>
            </a:r>
            <a:r>
              <a:rPr lang="en-US" sz="2800" dirty="0" err="1"/>
              <a:t>transações</a:t>
            </a:r>
            <a:endParaRPr lang="pt-BR" sz="28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3D759C1-2CEA-02BE-9589-C0E47BF04FA1}"/>
              </a:ext>
            </a:extLst>
          </p:cNvPr>
          <p:cNvSpPr txBox="1"/>
          <p:nvPr/>
        </p:nvSpPr>
        <p:spPr>
          <a:xfrm>
            <a:off x="756138" y="2525774"/>
            <a:ext cx="5339862" cy="29854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err="1"/>
              <a:t>Garante</a:t>
            </a:r>
            <a:r>
              <a:rPr lang="en-US" sz="2000" dirty="0"/>
              <a:t> </a:t>
            </a:r>
            <a:r>
              <a:rPr lang="en-US" sz="2000" dirty="0" err="1"/>
              <a:t>Integridade</a:t>
            </a:r>
            <a:r>
              <a:rPr lang="en-US" sz="2000" dirty="0"/>
              <a:t> e </a:t>
            </a:r>
            <a:r>
              <a:rPr lang="en-US" sz="2000" dirty="0" err="1"/>
              <a:t>Consistência</a:t>
            </a:r>
            <a:r>
              <a:rPr lang="en-US" sz="2000" dirty="0"/>
              <a:t> dos Dados.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Comandos</a:t>
            </a:r>
            <a:r>
              <a:rPr lang="en-US" sz="2400" dirty="0"/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COMMIT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ROLLBACK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SAVEPOINT</a:t>
            </a:r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400" dirty="0"/>
              <a:t>SET TRANSECTION</a:t>
            </a:r>
          </a:p>
        </p:txBody>
      </p:sp>
    </p:spTree>
    <p:extLst>
      <p:ext uri="{BB962C8B-B14F-4D97-AF65-F5344CB8AC3E}">
        <p14:creationId xmlns:p14="http://schemas.microsoft.com/office/powerpoint/2010/main" val="25815327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C683AA-A0AD-00C9-EE19-08DDE7EFF2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E7E0314-93C7-F880-18C8-4F833D6098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646A1394-A6B7-01CD-48A4-2CE08DDCB04F}"/>
              </a:ext>
            </a:extLst>
          </p:cNvPr>
          <p:cNvSpPr txBox="1"/>
          <p:nvPr/>
        </p:nvSpPr>
        <p:spPr>
          <a:xfrm>
            <a:off x="4376005" y="180011"/>
            <a:ext cx="34399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 err="1"/>
              <a:t>Comandos</a:t>
            </a:r>
            <a:r>
              <a:rPr lang="en-US" sz="3600" dirty="0"/>
              <a:t> TCL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EA4A06-CB62-6A3F-7ACC-BE69A347736F}"/>
              </a:ext>
            </a:extLst>
          </p:cNvPr>
          <p:cNvSpPr txBox="1"/>
          <p:nvPr/>
        </p:nvSpPr>
        <p:spPr>
          <a:xfrm>
            <a:off x="756138" y="1086650"/>
            <a:ext cx="109552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O </a:t>
            </a:r>
            <a:r>
              <a:rPr lang="en-US" sz="2800" dirty="0" err="1"/>
              <a:t>que</a:t>
            </a:r>
            <a:r>
              <a:rPr lang="en-US" sz="2800" dirty="0"/>
              <a:t> é </a:t>
            </a:r>
            <a:r>
              <a:rPr lang="en-US" sz="2800" dirty="0" err="1"/>
              <a:t>uma</a:t>
            </a:r>
            <a:r>
              <a:rPr lang="en-US" sz="2800" dirty="0"/>
              <a:t> </a:t>
            </a:r>
            <a:r>
              <a:rPr lang="en-US" sz="2800" dirty="0" err="1"/>
              <a:t>transação</a:t>
            </a:r>
            <a:r>
              <a:rPr lang="en-US" sz="2800" dirty="0"/>
              <a:t>?</a:t>
            </a:r>
            <a:endParaRPr lang="pt-BR" sz="28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2EDD1D8-78E0-BD63-092B-4869647D698F}"/>
              </a:ext>
            </a:extLst>
          </p:cNvPr>
          <p:cNvSpPr txBox="1"/>
          <p:nvPr/>
        </p:nvSpPr>
        <p:spPr>
          <a:xfrm>
            <a:off x="756138" y="2213282"/>
            <a:ext cx="10352129" cy="2431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/>
              <a:t>Conjunto de </a:t>
            </a:r>
            <a:r>
              <a:rPr lang="en-US" sz="2000" dirty="0" err="1"/>
              <a:t>operações</a:t>
            </a:r>
            <a:r>
              <a:rPr lang="en-US" sz="2000" dirty="0"/>
              <a:t> SQL </a:t>
            </a:r>
            <a:r>
              <a:rPr lang="en-US" sz="2000" dirty="0" err="1"/>
              <a:t>tratadas</a:t>
            </a:r>
            <a:r>
              <a:rPr lang="en-US" sz="2000" dirty="0"/>
              <a:t> </a:t>
            </a:r>
            <a:r>
              <a:rPr lang="en-US" sz="2000" dirty="0" err="1"/>
              <a:t>como</a:t>
            </a:r>
            <a:r>
              <a:rPr lang="en-US" sz="2000" dirty="0"/>
              <a:t>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unidade</a:t>
            </a:r>
            <a:r>
              <a:rPr lang="en-US" sz="2000" dirty="0"/>
              <a:t>;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 err="1"/>
              <a:t>Esbarra</a:t>
            </a:r>
            <a:r>
              <a:rPr lang="en-US" sz="2000" dirty="0"/>
              <a:t> no </a:t>
            </a:r>
            <a:r>
              <a:rPr lang="en-US" sz="2000" dirty="0" err="1"/>
              <a:t>conceito</a:t>
            </a:r>
            <a:r>
              <a:rPr lang="en-US" sz="2000" dirty="0"/>
              <a:t> de ‘</a:t>
            </a:r>
            <a:r>
              <a:rPr lang="en-US" sz="2000" dirty="0" err="1"/>
              <a:t>Tudo</a:t>
            </a:r>
            <a:r>
              <a:rPr lang="en-US" sz="2000" dirty="0"/>
              <a:t> </a:t>
            </a:r>
            <a:r>
              <a:rPr lang="en-US" sz="2000" dirty="0" err="1"/>
              <a:t>ou</a:t>
            </a:r>
            <a:r>
              <a:rPr lang="en-US" sz="2000" dirty="0"/>
              <a:t> Nada’ – </a:t>
            </a:r>
            <a:r>
              <a:rPr lang="en-US" sz="2000" dirty="0" err="1"/>
              <a:t>Atomicidade</a:t>
            </a:r>
            <a:r>
              <a:rPr lang="en-US" sz="2000" dirty="0"/>
              <a:t> – </a:t>
            </a:r>
            <a:r>
              <a:rPr lang="en-US" sz="2000" dirty="0" err="1"/>
              <a:t>onde</a:t>
            </a:r>
            <a:r>
              <a:rPr lang="en-US" sz="2000" dirty="0"/>
              <a:t> </a:t>
            </a:r>
            <a:r>
              <a:rPr lang="en-US" sz="2000" dirty="0" err="1"/>
              <a:t>todas</a:t>
            </a:r>
            <a:r>
              <a:rPr lang="en-US" sz="2000" dirty="0"/>
              <a:t> as </a:t>
            </a:r>
            <a:r>
              <a:rPr lang="en-US" sz="2000" dirty="0" err="1"/>
              <a:t>operações</a:t>
            </a:r>
            <a:r>
              <a:rPr lang="en-US" sz="2000" dirty="0"/>
              <a:t> </a:t>
            </a:r>
            <a:r>
              <a:rPr lang="en-US" sz="2000" dirty="0" err="1"/>
              <a:t>são</a:t>
            </a:r>
            <a:r>
              <a:rPr lang="en-US" sz="2000" dirty="0"/>
              <a:t> </a:t>
            </a:r>
            <a:r>
              <a:rPr lang="en-US" sz="2000" dirty="0" err="1"/>
              <a:t>aplicadas</a:t>
            </a:r>
            <a:r>
              <a:rPr lang="en-US" sz="2000" dirty="0"/>
              <a:t>, </a:t>
            </a:r>
            <a:r>
              <a:rPr lang="en-US" sz="2000" dirty="0" err="1"/>
              <a:t>ou</a:t>
            </a:r>
            <a:r>
              <a:rPr lang="en-US" sz="2000" dirty="0"/>
              <a:t> </a:t>
            </a:r>
            <a:r>
              <a:rPr lang="en-US" sz="2000" dirty="0" err="1"/>
              <a:t>nenhuma</a:t>
            </a:r>
            <a:r>
              <a:rPr lang="en-US" sz="2000" dirty="0"/>
              <a:t>.</a:t>
            </a: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400" dirty="0" err="1"/>
              <a:t>Exemplo</a:t>
            </a:r>
            <a:r>
              <a:rPr lang="en-US" sz="2400" dirty="0"/>
              <a:t>: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000" dirty="0" err="1"/>
              <a:t>Transferência</a:t>
            </a:r>
            <a:r>
              <a:rPr lang="en-US" sz="2000" dirty="0"/>
              <a:t> </a:t>
            </a:r>
            <a:r>
              <a:rPr lang="en-US" sz="2000" dirty="0" err="1"/>
              <a:t>Bancária</a:t>
            </a:r>
            <a:r>
              <a:rPr lang="en-US" sz="2000" dirty="0"/>
              <a:t> (</a:t>
            </a:r>
            <a:r>
              <a:rPr lang="en-US" sz="2000" dirty="0" err="1"/>
              <a:t>débito</a:t>
            </a:r>
            <a:r>
              <a:rPr lang="en-US" sz="2000" dirty="0"/>
              <a:t> + </a:t>
            </a:r>
            <a:r>
              <a:rPr lang="en-US" sz="2000" dirty="0" err="1"/>
              <a:t>crédito</a:t>
            </a:r>
            <a:r>
              <a:rPr lang="en-US" sz="2000" dirty="0"/>
              <a:t>).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66445F-2102-CD33-4445-1D18DF767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2467" y="3243107"/>
            <a:ext cx="5356472" cy="28032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5014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D9252B-7253-A8D1-7AC2-54167D4E20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50547B7C-F547-5F0B-9E3C-49B5328375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52" name="Picture 4">
            <a:extLst>
              <a:ext uri="{FF2B5EF4-FFF2-40B4-BE49-F238E27FC236}">
                <a16:creationId xmlns:a16="http://schemas.microsoft.com/office/drawing/2014/main" id="{9AF7A145-A32B-A372-B7BC-8E5B4B63DE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1183" y="438157"/>
            <a:ext cx="10189634" cy="59816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870503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9FBADF-0B49-2107-FF70-3AE9564C0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4C7791EE-5AB2-A5E7-8297-E7AA2AF65D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10036399-33CB-4DF7-D920-52DB53C1541D}"/>
              </a:ext>
            </a:extLst>
          </p:cNvPr>
          <p:cNvSpPr txBox="1"/>
          <p:nvPr/>
        </p:nvSpPr>
        <p:spPr>
          <a:xfrm>
            <a:off x="4220002" y="196944"/>
            <a:ext cx="37519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COMMIT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7D7E223-995D-A3F1-592B-30CF3DEBC6F1}"/>
              </a:ext>
            </a:extLst>
          </p:cNvPr>
          <p:cNvSpPr txBox="1"/>
          <p:nvPr/>
        </p:nvSpPr>
        <p:spPr>
          <a:xfrm>
            <a:off x="756138" y="1086650"/>
            <a:ext cx="10955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Confirma</a:t>
            </a:r>
            <a:r>
              <a:rPr lang="en-US" sz="2000" dirty="0"/>
              <a:t> </a:t>
            </a:r>
            <a:r>
              <a:rPr lang="en-US" sz="2000" dirty="0" err="1"/>
              <a:t>permanentemente</a:t>
            </a:r>
            <a:r>
              <a:rPr lang="en-US" sz="2000" dirty="0"/>
              <a:t> </a:t>
            </a:r>
            <a:r>
              <a:rPr lang="en-US" sz="2000" dirty="0" err="1"/>
              <a:t>todas</a:t>
            </a:r>
            <a:r>
              <a:rPr lang="en-US" sz="2000" dirty="0"/>
              <a:t> as </a:t>
            </a:r>
            <a:r>
              <a:rPr lang="en-US" sz="2000" dirty="0" err="1"/>
              <a:t>alterações</a:t>
            </a:r>
            <a:r>
              <a:rPr lang="en-US" sz="2000" dirty="0"/>
              <a:t> da </a:t>
            </a:r>
            <a:r>
              <a:rPr lang="en-US" sz="2000" dirty="0" err="1"/>
              <a:t>transação</a:t>
            </a:r>
            <a:endParaRPr lang="en-US" sz="2000" dirty="0"/>
          </a:p>
          <a:p>
            <a:pPr algn="ctr"/>
            <a:r>
              <a:rPr lang="en-US" sz="2000" dirty="0"/>
              <a:t>Quando </a:t>
            </a:r>
            <a:r>
              <a:rPr lang="en-US" sz="2000" dirty="0" err="1"/>
              <a:t>iniciada</a:t>
            </a:r>
            <a:r>
              <a:rPr lang="en-US" sz="2000" dirty="0"/>
              <a:t>, o </a:t>
            </a:r>
            <a:r>
              <a:rPr lang="en-US" sz="2000" dirty="0" err="1"/>
              <a:t>autocommit</a:t>
            </a:r>
            <a:r>
              <a:rPr lang="en-US" sz="2000" dirty="0"/>
              <a:t> é </a:t>
            </a:r>
            <a:r>
              <a:rPr lang="en-US" sz="2000" dirty="0" err="1"/>
              <a:t>desativado</a:t>
            </a:r>
            <a:endParaRPr lang="en-US" sz="2000" dirty="0"/>
          </a:p>
          <a:p>
            <a:pPr algn="ctr"/>
            <a:r>
              <a:rPr lang="en-US" sz="2000" dirty="0" err="1"/>
              <a:t>Atenção</a:t>
            </a:r>
            <a:r>
              <a:rPr lang="en-US" sz="2000" dirty="0"/>
              <a:t>: </a:t>
            </a:r>
            <a:r>
              <a:rPr lang="en-US" sz="2000" dirty="0" err="1"/>
              <a:t>após</a:t>
            </a:r>
            <a:r>
              <a:rPr lang="en-US" sz="2000" dirty="0"/>
              <a:t> o Commit, </a:t>
            </a:r>
            <a:r>
              <a:rPr lang="en-US" sz="2000" dirty="0" err="1"/>
              <a:t>não</a:t>
            </a:r>
            <a:r>
              <a:rPr lang="en-US" sz="2000" dirty="0"/>
              <a:t> é </a:t>
            </a:r>
            <a:r>
              <a:rPr lang="en-US" sz="2000" dirty="0" err="1"/>
              <a:t>possível</a:t>
            </a:r>
            <a:r>
              <a:rPr lang="en-US" sz="2000" dirty="0"/>
              <a:t> </a:t>
            </a:r>
            <a:r>
              <a:rPr lang="en-US" sz="2000" dirty="0" err="1"/>
              <a:t>desfazer</a:t>
            </a:r>
            <a:r>
              <a:rPr lang="en-US" sz="2000" dirty="0"/>
              <a:t>!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7513FFB3-AFED-FBD9-9E8F-B69F27F711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159" y="2345688"/>
            <a:ext cx="11275171" cy="3822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8940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E95BE-62C3-6705-10DC-22D23BCD0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C74E7C1-7EC5-5C59-6B01-96BC87A443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914A864-0A98-2C5E-36A0-D712AA452D0F}"/>
              </a:ext>
            </a:extLst>
          </p:cNvPr>
          <p:cNvSpPr txBox="1"/>
          <p:nvPr/>
        </p:nvSpPr>
        <p:spPr>
          <a:xfrm>
            <a:off x="4095433" y="196944"/>
            <a:ext cx="40011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ROLLBACK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DFE4471-5D67-906F-9852-A45AFF5FBAD1}"/>
              </a:ext>
            </a:extLst>
          </p:cNvPr>
          <p:cNvSpPr txBox="1"/>
          <p:nvPr/>
        </p:nvSpPr>
        <p:spPr>
          <a:xfrm>
            <a:off x="756138" y="1086650"/>
            <a:ext cx="10955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 err="1"/>
              <a:t>Desfaz</a:t>
            </a:r>
            <a:r>
              <a:rPr lang="en-US" sz="2000" dirty="0"/>
              <a:t> </a:t>
            </a:r>
            <a:r>
              <a:rPr lang="en-US" sz="2000" dirty="0" err="1"/>
              <a:t>todas</a:t>
            </a:r>
            <a:r>
              <a:rPr lang="en-US" sz="2000" dirty="0"/>
              <a:t> as </a:t>
            </a:r>
            <a:r>
              <a:rPr lang="en-US" sz="2000" dirty="0" err="1"/>
              <a:t>operações</a:t>
            </a:r>
            <a:r>
              <a:rPr lang="en-US" sz="2000" dirty="0"/>
              <a:t> </a:t>
            </a:r>
            <a:r>
              <a:rPr lang="en-US" sz="2000" dirty="0" err="1"/>
              <a:t>desde</a:t>
            </a:r>
            <a:r>
              <a:rPr lang="en-US" sz="2000" dirty="0"/>
              <a:t> o </a:t>
            </a:r>
            <a:r>
              <a:rPr lang="en-US" sz="2000" dirty="0" err="1"/>
              <a:t>início</a:t>
            </a:r>
            <a:r>
              <a:rPr lang="en-US" sz="2000" dirty="0"/>
              <a:t> da </a:t>
            </a:r>
            <a:r>
              <a:rPr lang="en-US" sz="2000" dirty="0" err="1"/>
              <a:t>transação</a:t>
            </a:r>
            <a:endParaRPr lang="en-US" sz="2000" dirty="0"/>
          </a:p>
          <a:p>
            <a:pPr algn="ctr"/>
            <a:r>
              <a:rPr lang="en-US" sz="2000" dirty="0" err="1"/>
              <a:t>Usado</a:t>
            </a:r>
            <a:r>
              <a:rPr lang="en-US" sz="2000" dirty="0"/>
              <a:t> </a:t>
            </a:r>
            <a:r>
              <a:rPr lang="en-US" sz="2000" dirty="0" err="1"/>
              <a:t>em</a:t>
            </a:r>
            <a:r>
              <a:rPr lang="en-US" sz="2000" dirty="0"/>
              <a:t> </a:t>
            </a:r>
            <a:r>
              <a:rPr lang="en-US" sz="2000" dirty="0" err="1"/>
              <a:t>casos</a:t>
            </a:r>
            <a:r>
              <a:rPr lang="en-US" sz="2000" dirty="0"/>
              <a:t> de </a:t>
            </a:r>
            <a:r>
              <a:rPr lang="en-US" sz="2000" dirty="0" err="1"/>
              <a:t>erro</a:t>
            </a:r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B59C2C14-6442-8607-9C0B-A9CD09CED2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0" y="2102313"/>
            <a:ext cx="10606235" cy="4010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86557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C96BC-5D8C-F8D0-07E1-F1A756659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104295F9-9910-ED8E-4492-C1C0376C98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5ED89C8-A5A2-D40B-D35F-83A120D1E889}"/>
              </a:ext>
            </a:extLst>
          </p:cNvPr>
          <p:cNvSpPr txBox="1"/>
          <p:nvPr/>
        </p:nvSpPr>
        <p:spPr>
          <a:xfrm>
            <a:off x="3990813" y="220160"/>
            <a:ext cx="42103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SAVEPOINT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B29AB8-29E1-C5F1-DD4D-D64A2FEAB60F}"/>
              </a:ext>
            </a:extLst>
          </p:cNvPr>
          <p:cNvSpPr txBox="1"/>
          <p:nvPr/>
        </p:nvSpPr>
        <p:spPr>
          <a:xfrm>
            <a:off x="756138" y="1086650"/>
            <a:ext cx="10955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Marca um </a:t>
            </a:r>
            <a:r>
              <a:rPr lang="en-US" sz="2000" dirty="0" err="1"/>
              <a:t>ponto</a:t>
            </a:r>
            <a:r>
              <a:rPr lang="en-US" sz="2000" dirty="0"/>
              <a:t> </a:t>
            </a:r>
            <a:r>
              <a:rPr lang="en-US" sz="2000" dirty="0" err="1"/>
              <a:t>intermediário</a:t>
            </a:r>
            <a:r>
              <a:rPr lang="en-US" sz="2000" dirty="0"/>
              <a:t> </a:t>
            </a:r>
            <a:r>
              <a:rPr lang="en-US" sz="2000" dirty="0" err="1"/>
              <a:t>dentro</a:t>
            </a:r>
            <a:r>
              <a:rPr lang="en-US" sz="2000" dirty="0"/>
              <a:t> de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transação</a:t>
            </a:r>
            <a:endParaRPr lang="en-US" sz="2000" dirty="0"/>
          </a:p>
          <a:p>
            <a:pPr algn="ctr"/>
            <a:r>
              <a:rPr lang="en-US" sz="2000" dirty="0" err="1"/>
              <a:t>Permite</a:t>
            </a:r>
            <a:r>
              <a:rPr lang="en-US" sz="2000" dirty="0"/>
              <a:t> Rollback </a:t>
            </a:r>
            <a:r>
              <a:rPr lang="en-US" sz="2000" dirty="0" err="1"/>
              <a:t>parcial</a:t>
            </a:r>
            <a:r>
              <a:rPr lang="en-US" sz="2000" dirty="0"/>
              <a:t> </a:t>
            </a:r>
            <a:r>
              <a:rPr lang="en-US" sz="2000" dirty="0" err="1"/>
              <a:t>sem</a:t>
            </a:r>
            <a:r>
              <a:rPr lang="en-US" sz="2000" dirty="0"/>
              <a:t> </a:t>
            </a:r>
            <a:r>
              <a:rPr lang="en-US" sz="2000" dirty="0" err="1"/>
              <a:t>desfazer</a:t>
            </a:r>
            <a:r>
              <a:rPr lang="en-US" sz="2000" dirty="0"/>
              <a:t> </a:t>
            </a:r>
            <a:r>
              <a:rPr lang="en-US" sz="2000" dirty="0" err="1"/>
              <a:t>tudo</a:t>
            </a:r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AE66A6-9F6F-25BA-3C97-D71E86D34A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2108" y="2102313"/>
            <a:ext cx="8927776" cy="4323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646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FB7042-284E-D8B3-CEFF-FA0A3676F4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E559FB82-D455-5101-55B0-85682344441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751BE20-ABEB-B70F-9DDD-1BA236983815}"/>
              </a:ext>
            </a:extLst>
          </p:cNvPr>
          <p:cNvSpPr txBox="1"/>
          <p:nvPr/>
        </p:nvSpPr>
        <p:spPr>
          <a:xfrm>
            <a:off x="4107836" y="220160"/>
            <a:ext cx="39763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RELEASE SAVEPOINT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EF15802-B186-B7F7-E066-82422D5330B4}"/>
              </a:ext>
            </a:extLst>
          </p:cNvPr>
          <p:cNvSpPr txBox="1"/>
          <p:nvPr/>
        </p:nvSpPr>
        <p:spPr>
          <a:xfrm>
            <a:off x="756138" y="1086650"/>
            <a:ext cx="10955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Remove um </a:t>
            </a:r>
            <a:r>
              <a:rPr lang="en-US" sz="2000" dirty="0" err="1"/>
              <a:t>savepoint</a:t>
            </a:r>
            <a:r>
              <a:rPr lang="en-US" sz="2000" dirty="0"/>
              <a:t> da </a:t>
            </a:r>
            <a:r>
              <a:rPr lang="en-US" sz="2000" dirty="0" err="1"/>
              <a:t>transação</a:t>
            </a:r>
            <a:endParaRPr lang="en-US" sz="2000" dirty="0"/>
          </a:p>
          <a:p>
            <a:pPr algn="ctr"/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faz</a:t>
            </a:r>
            <a:r>
              <a:rPr lang="en-US" sz="2000" dirty="0"/>
              <a:t> rollback, </a:t>
            </a:r>
            <a:r>
              <a:rPr lang="en-US" sz="2000" dirty="0" err="1"/>
              <a:t>apenas</a:t>
            </a:r>
            <a:r>
              <a:rPr lang="en-US" sz="2000" dirty="0"/>
              <a:t> </a:t>
            </a:r>
            <a:r>
              <a:rPr lang="en-US" sz="2000" dirty="0" err="1"/>
              <a:t>descarta</a:t>
            </a:r>
            <a:r>
              <a:rPr lang="en-US" sz="2000" dirty="0"/>
              <a:t> o </a:t>
            </a:r>
            <a:r>
              <a:rPr lang="en-US" sz="2000" dirty="0" err="1"/>
              <a:t>ponto</a:t>
            </a:r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9DF602E5-EC33-9272-4591-4222655DFB9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4330" y="2322472"/>
            <a:ext cx="8983331" cy="280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7050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E3D66-7E81-195A-822F-1868F27825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342B1D6-4BAE-50F5-8426-F886C14E2E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75AAD5E2-8FC8-84A2-80A0-D4125018B609}"/>
              </a:ext>
            </a:extLst>
          </p:cNvPr>
          <p:cNvSpPr txBox="1"/>
          <p:nvPr/>
        </p:nvSpPr>
        <p:spPr>
          <a:xfrm>
            <a:off x="3333136" y="220160"/>
            <a:ext cx="55257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Comando</a:t>
            </a:r>
            <a:r>
              <a:rPr lang="en-US" sz="3600" dirty="0"/>
              <a:t> SET TRANSACTION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7F5ADC4-41B3-BB76-2920-16ED5F82CD93}"/>
              </a:ext>
            </a:extLst>
          </p:cNvPr>
          <p:cNvSpPr txBox="1"/>
          <p:nvPr/>
        </p:nvSpPr>
        <p:spPr>
          <a:xfrm>
            <a:off x="756138" y="1086650"/>
            <a:ext cx="1095521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Define as </a:t>
            </a:r>
            <a:r>
              <a:rPr lang="en-US" sz="2000" dirty="0" err="1"/>
              <a:t>propriedades</a:t>
            </a:r>
            <a:r>
              <a:rPr lang="en-US" sz="2000" dirty="0"/>
              <a:t> da </a:t>
            </a:r>
            <a:r>
              <a:rPr lang="en-US" sz="2000" dirty="0" err="1"/>
              <a:t>transação</a:t>
            </a:r>
            <a:r>
              <a:rPr lang="en-US" sz="2000" dirty="0"/>
              <a:t> antes de </a:t>
            </a:r>
            <a:r>
              <a:rPr lang="en-US" sz="2000" dirty="0" err="1"/>
              <a:t>ela</a:t>
            </a:r>
            <a:r>
              <a:rPr lang="en-US" sz="2000" dirty="0"/>
              <a:t> </a:t>
            </a:r>
            <a:r>
              <a:rPr lang="en-US" sz="2000" dirty="0" err="1"/>
              <a:t>começar</a:t>
            </a:r>
            <a:endParaRPr lang="en-US" sz="2000" dirty="0"/>
          </a:p>
          <a:p>
            <a:pPr algn="ctr"/>
            <a:r>
              <a:rPr lang="en-US" sz="2000" dirty="0" err="1"/>
              <a:t>Parâmetros</a:t>
            </a:r>
            <a:r>
              <a:rPr lang="en-US" sz="2000" dirty="0"/>
              <a:t> </a:t>
            </a:r>
            <a:r>
              <a:rPr lang="en-US" sz="2000" dirty="0" err="1"/>
              <a:t>comuns</a:t>
            </a:r>
            <a:r>
              <a:rPr lang="en-US" sz="2000" dirty="0"/>
              <a:t>: </a:t>
            </a:r>
            <a:r>
              <a:rPr lang="en-US" sz="2000" dirty="0" err="1"/>
              <a:t>nível</a:t>
            </a:r>
            <a:r>
              <a:rPr lang="en-US" sz="2000" dirty="0"/>
              <a:t> de </a:t>
            </a:r>
            <a:r>
              <a:rPr lang="en-US" sz="2000" dirty="0" err="1"/>
              <a:t>isolamento</a:t>
            </a:r>
            <a:r>
              <a:rPr lang="en-US" sz="2000" dirty="0"/>
              <a:t>, modo read/write</a:t>
            </a:r>
          </a:p>
          <a:p>
            <a:pPr algn="ctr"/>
            <a:endParaRPr lang="en-US" sz="20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244925D-5879-4F76-E5C6-033E9A1F51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1375" y="2470250"/>
            <a:ext cx="10469241" cy="3038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7520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A401B-E0A4-30A0-98D6-79273CDB9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66A4844F-BD62-405A-0DFE-07AA9CF72A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5033476-EC2D-B0E8-2E48-42947E7B5EB6}"/>
              </a:ext>
            </a:extLst>
          </p:cNvPr>
          <p:cNvSpPr txBox="1"/>
          <p:nvPr/>
        </p:nvSpPr>
        <p:spPr>
          <a:xfrm>
            <a:off x="3455146" y="220160"/>
            <a:ext cx="52816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Problemas</a:t>
            </a:r>
            <a:r>
              <a:rPr lang="en-US" sz="3600" dirty="0"/>
              <a:t> de </a:t>
            </a:r>
            <a:r>
              <a:rPr lang="en-US" sz="3600" dirty="0" err="1"/>
              <a:t>Concorrência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29AE3AD-0D76-3A44-08B1-C1FA74A48A13}"/>
              </a:ext>
            </a:extLst>
          </p:cNvPr>
          <p:cNvSpPr txBox="1"/>
          <p:nvPr/>
        </p:nvSpPr>
        <p:spPr>
          <a:xfrm>
            <a:off x="756138" y="1086650"/>
            <a:ext cx="10955215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Dirty Read</a:t>
            </a:r>
          </a:p>
          <a:p>
            <a:r>
              <a:rPr lang="en-US" sz="2000" dirty="0"/>
              <a:t>Lê dado </a:t>
            </a:r>
            <a:r>
              <a:rPr lang="en-US" sz="2000" dirty="0" err="1"/>
              <a:t>não</a:t>
            </a:r>
            <a:r>
              <a:rPr lang="en-US" sz="2000" dirty="0"/>
              <a:t> </a:t>
            </a:r>
            <a:r>
              <a:rPr lang="en-US" sz="2000" dirty="0" err="1"/>
              <a:t>commitado</a:t>
            </a:r>
            <a:r>
              <a:rPr lang="en-US" sz="2000" dirty="0"/>
              <a:t> de </a:t>
            </a:r>
            <a:r>
              <a:rPr lang="en-US" sz="2000" dirty="0" err="1"/>
              <a:t>outra</a:t>
            </a:r>
            <a:r>
              <a:rPr lang="en-US" sz="2000" dirty="0"/>
              <a:t> </a:t>
            </a:r>
            <a:r>
              <a:rPr lang="en-US" sz="2000" dirty="0" err="1"/>
              <a:t>transação</a:t>
            </a:r>
            <a:r>
              <a:rPr lang="en-US" sz="2000" dirty="0"/>
              <a:t>;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Non-Repeatable Read </a:t>
            </a:r>
            <a:endParaRPr lang="en-US" sz="2000" dirty="0"/>
          </a:p>
          <a:p>
            <a:r>
              <a:rPr lang="en-US" sz="2000" dirty="0" err="1"/>
              <a:t>Releitura</a:t>
            </a:r>
            <a:r>
              <a:rPr lang="en-US" sz="2000" dirty="0"/>
              <a:t> </a:t>
            </a:r>
            <a:r>
              <a:rPr lang="en-US" sz="2000" dirty="0" err="1"/>
              <a:t>retorna</a:t>
            </a:r>
            <a:r>
              <a:rPr lang="en-US" sz="2000" dirty="0"/>
              <a:t> valor </a:t>
            </a:r>
            <a:r>
              <a:rPr lang="en-US" sz="2000" dirty="0" err="1"/>
              <a:t>diferente</a:t>
            </a:r>
            <a:r>
              <a:rPr lang="en-US" sz="2000" dirty="0"/>
              <a:t>;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Phantom Read</a:t>
            </a:r>
          </a:p>
          <a:p>
            <a:r>
              <a:rPr lang="en-US" sz="2000" dirty="0"/>
              <a:t>Novas </a:t>
            </a:r>
            <a:r>
              <a:rPr lang="en-US" sz="2000" dirty="0" err="1"/>
              <a:t>linhas</a:t>
            </a:r>
            <a:r>
              <a:rPr lang="en-US" sz="2000" dirty="0"/>
              <a:t> </a:t>
            </a:r>
            <a:r>
              <a:rPr lang="en-US" sz="2000" dirty="0" err="1"/>
              <a:t>aparecem</a:t>
            </a:r>
            <a:r>
              <a:rPr lang="en-US" sz="2000" dirty="0"/>
              <a:t> entre duas </a:t>
            </a:r>
            <a:r>
              <a:rPr lang="en-US" sz="2000" dirty="0" err="1"/>
              <a:t>leituras</a:t>
            </a:r>
            <a:r>
              <a:rPr lang="en-US" sz="2000" dirty="0"/>
              <a:t> </a:t>
            </a:r>
            <a:r>
              <a:rPr lang="en-US" sz="2000" dirty="0" err="1"/>
              <a:t>iguais</a:t>
            </a:r>
            <a:r>
              <a:rPr lang="en-US" sz="2000" dirty="0"/>
              <a:t>;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800" dirty="0"/>
              <a:t>Lost Update</a:t>
            </a:r>
          </a:p>
          <a:p>
            <a:r>
              <a:rPr lang="en-US" sz="2000" dirty="0"/>
              <a:t>Duas </a:t>
            </a:r>
            <a:r>
              <a:rPr lang="en-US" sz="2000" dirty="0" err="1"/>
              <a:t>transações</a:t>
            </a:r>
            <a:r>
              <a:rPr lang="en-US" sz="2000" dirty="0"/>
              <a:t> </a:t>
            </a:r>
            <a:r>
              <a:rPr lang="en-US" sz="2000" dirty="0" err="1"/>
              <a:t>sobrescrevem</a:t>
            </a:r>
            <a:r>
              <a:rPr lang="en-US" sz="2000" dirty="0"/>
              <a:t> o </a:t>
            </a:r>
            <a:r>
              <a:rPr lang="en-US" sz="2000" dirty="0" err="1"/>
              <a:t>mesmo</a:t>
            </a:r>
            <a:r>
              <a:rPr lang="en-US" sz="2000" dirty="0"/>
              <a:t> dado.</a:t>
            </a:r>
          </a:p>
          <a:p>
            <a:pPr algn="ctr"/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6400655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EB6A3-2301-0A8A-F0F8-A040814B1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89558116-09BD-8F68-3499-14E5B95753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F695A8A-212D-950A-27C9-12D66FB8984D}"/>
              </a:ext>
            </a:extLst>
          </p:cNvPr>
          <p:cNvSpPr txBox="1"/>
          <p:nvPr/>
        </p:nvSpPr>
        <p:spPr>
          <a:xfrm>
            <a:off x="4062629" y="220160"/>
            <a:ext cx="4066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Níveis</a:t>
            </a:r>
            <a:r>
              <a:rPr lang="en-US" sz="3600" dirty="0"/>
              <a:t> de </a:t>
            </a:r>
            <a:r>
              <a:rPr lang="en-US" sz="3600" dirty="0" err="1"/>
              <a:t>Isolamento</a:t>
            </a:r>
            <a:endParaRPr lang="pt-BR" sz="36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E326A7-A7F5-7113-710B-60DC24A2FD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5966" y="1240895"/>
            <a:ext cx="9000067" cy="5062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3979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3C775-27E4-12EE-9F60-1C7FA2C2B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5149AFD-C9EB-C592-71DB-5211B1B2A1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30ECD1E6-EFD0-C2BE-C207-B62CEA0A2C21}"/>
              </a:ext>
            </a:extLst>
          </p:cNvPr>
          <p:cNvSpPr txBox="1"/>
          <p:nvPr/>
        </p:nvSpPr>
        <p:spPr>
          <a:xfrm>
            <a:off x="4634129" y="220160"/>
            <a:ext cx="29237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AUTOCOMMIT</a:t>
            </a:r>
            <a:endParaRPr lang="pt-BR" sz="36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9DA6C02-551B-8A87-19E4-B9312FBC0ADD}"/>
              </a:ext>
            </a:extLst>
          </p:cNvPr>
          <p:cNvSpPr txBox="1"/>
          <p:nvPr/>
        </p:nvSpPr>
        <p:spPr>
          <a:xfrm>
            <a:off x="756138" y="1086650"/>
            <a:ext cx="109552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/>
              <a:t>Por </a:t>
            </a:r>
            <a:r>
              <a:rPr lang="en-US" sz="2000" dirty="0" err="1"/>
              <a:t>padrão</a:t>
            </a:r>
            <a:r>
              <a:rPr lang="en-US" sz="2000" dirty="0"/>
              <a:t>, </a:t>
            </a:r>
            <a:r>
              <a:rPr lang="en-US" sz="2000" dirty="0" err="1"/>
              <a:t>muitos</a:t>
            </a:r>
            <a:r>
              <a:rPr lang="en-US" sz="2000" dirty="0"/>
              <a:t> SGBDs </a:t>
            </a:r>
            <a:r>
              <a:rPr lang="en-US" sz="2000" dirty="0" err="1"/>
              <a:t>operam</a:t>
            </a:r>
            <a:r>
              <a:rPr lang="en-US" sz="2000" dirty="0"/>
              <a:t> no modo </a:t>
            </a:r>
            <a:r>
              <a:rPr lang="en-US" sz="2000" dirty="0" err="1"/>
              <a:t>autocommit</a:t>
            </a:r>
            <a:endParaRPr lang="en-US" sz="2000" dirty="0"/>
          </a:p>
          <a:p>
            <a:pPr algn="ctr"/>
            <a:r>
              <a:rPr lang="en-US" sz="2000" dirty="0"/>
              <a:t>Cada Statement é </a:t>
            </a:r>
            <a:r>
              <a:rPr lang="en-US" sz="2000" dirty="0" err="1"/>
              <a:t>uma</a:t>
            </a:r>
            <a:r>
              <a:rPr lang="en-US" sz="2000" dirty="0"/>
              <a:t> </a:t>
            </a:r>
            <a:r>
              <a:rPr lang="en-US" sz="2000" dirty="0" err="1"/>
              <a:t>transação</a:t>
            </a:r>
            <a:r>
              <a:rPr lang="en-US" sz="2000" dirty="0"/>
              <a:t> </a:t>
            </a:r>
            <a:r>
              <a:rPr lang="en-US" sz="2000" dirty="0" err="1"/>
              <a:t>separada</a:t>
            </a:r>
            <a:r>
              <a:rPr lang="en-US" sz="2000" dirty="0"/>
              <a:t> e </a:t>
            </a:r>
            <a:r>
              <a:rPr lang="en-US" sz="2000" dirty="0" err="1"/>
              <a:t>imediata</a:t>
            </a:r>
            <a:endParaRPr lang="en-US" sz="2000" dirty="0"/>
          </a:p>
          <a:p>
            <a:pPr algn="ctr"/>
            <a:r>
              <a:rPr lang="en-US" sz="2000" dirty="0"/>
              <a:t>Para usar TCL </a:t>
            </a:r>
            <a:r>
              <a:rPr lang="en-US" sz="2000" dirty="0" err="1"/>
              <a:t>explicitamente</a:t>
            </a:r>
            <a:r>
              <a:rPr lang="en-US" sz="2000" dirty="0"/>
              <a:t>, é </a:t>
            </a:r>
            <a:r>
              <a:rPr lang="en-US" sz="2000" dirty="0" err="1"/>
              <a:t>preciso</a:t>
            </a:r>
            <a:r>
              <a:rPr lang="en-US" sz="2000" dirty="0"/>
              <a:t> </a:t>
            </a:r>
            <a:r>
              <a:rPr lang="en-US" sz="2000" dirty="0" err="1"/>
              <a:t>desativar</a:t>
            </a:r>
            <a:endParaRPr lang="en-US" sz="2000" dirty="0"/>
          </a:p>
          <a:p>
            <a:pPr algn="ctr"/>
            <a:endParaRPr lang="en-US" sz="2000" dirty="0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93912073-C92D-62FF-556F-0EC94F7561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94387" y="2630248"/>
            <a:ext cx="6003213" cy="2833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65389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78B4F-9CB4-14E4-D058-34A46B177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3BE447B4-0EEE-B90C-55D0-974F6B2E97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99B1CDD5-9245-DB87-B9C2-01143779E9FE}"/>
              </a:ext>
            </a:extLst>
          </p:cNvPr>
          <p:cNvSpPr txBox="1"/>
          <p:nvPr/>
        </p:nvSpPr>
        <p:spPr>
          <a:xfrm>
            <a:off x="4251691" y="220160"/>
            <a:ext cx="368860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 err="1"/>
              <a:t>Exemplo</a:t>
            </a:r>
            <a:r>
              <a:rPr lang="en-US" sz="3600" dirty="0"/>
              <a:t> </a:t>
            </a:r>
            <a:r>
              <a:rPr lang="en-US" sz="3600" dirty="0" err="1"/>
              <a:t>Completo</a:t>
            </a:r>
            <a:endParaRPr lang="pt-BR" sz="3600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852E5A6D-044D-95B2-13B1-36FA485D65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30100" y="1326106"/>
            <a:ext cx="7531786" cy="5072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2560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68D31-2A6E-3828-248A-5DAAF9963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6883EA5-5177-4FBA-0A83-38533CC71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57ABC995-58F2-F2BC-8964-DCB1456323A1}"/>
              </a:ext>
            </a:extLst>
          </p:cNvPr>
          <p:cNvSpPr txBox="1"/>
          <p:nvPr/>
        </p:nvSpPr>
        <p:spPr>
          <a:xfrm>
            <a:off x="3924300" y="2413337"/>
            <a:ext cx="43434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0" dirty="0">
                <a:solidFill>
                  <a:schemeClr val="accent5">
                    <a:lumMod val="75000"/>
                  </a:schemeClr>
                </a:solidFill>
              </a:rPr>
              <a:t>AULA CONCLUÍDA!</a:t>
            </a:r>
            <a:endParaRPr lang="pt-BR" sz="6000" dirty="0">
              <a:solidFill>
                <a:schemeClr val="accent5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907979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267</Words>
  <Application>Microsoft Office PowerPoint</Application>
  <PresentationFormat>Widescreen</PresentationFormat>
  <Paragraphs>59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Felipe Tagawa</dc:creator>
  <cp:lastModifiedBy>Felipe Tagawa</cp:lastModifiedBy>
  <cp:revision>1</cp:revision>
  <dcterms:created xsi:type="dcterms:W3CDTF">2026-04-16T13:52:31Z</dcterms:created>
  <dcterms:modified xsi:type="dcterms:W3CDTF">2026-04-16T15:11:14Z</dcterms:modified>
</cp:coreProperties>
</file>