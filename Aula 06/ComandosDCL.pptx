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3" r:id="rId3"/>
    <p:sldId id="258" r:id="rId4"/>
    <p:sldId id="264" r:id="rId5"/>
    <p:sldId id="265" r:id="rId6"/>
    <p:sldId id="278" r:id="rId7"/>
    <p:sldId id="266" r:id="rId8"/>
    <p:sldId id="267" r:id="rId9"/>
    <p:sldId id="285" r:id="rId10"/>
    <p:sldId id="290" r:id="rId11"/>
    <p:sldId id="286" r:id="rId12"/>
    <p:sldId id="287" r:id="rId13"/>
    <p:sldId id="288" r:id="rId14"/>
    <p:sldId id="289" r:id="rId15"/>
    <p:sldId id="279" r:id="rId16"/>
    <p:sldId id="280" r:id="rId17"/>
    <p:sldId id="281" r:id="rId18"/>
    <p:sldId id="282" r:id="rId19"/>
    <p:sldId id="276" r:id="rId20"/>
    <p:sldId id="277" r:id="rId21"/>
    <p:sldId id="268" r:id="rId22"/>
    <p:sldId id="283" r:id="rId23"/>
    <p:sldId id="275" r:id="rId2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EAFD3D-5E5C-5D88-B6C2-DA51E7C0B8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C825BEC-725B-E641-56F1-D366A41E5A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9432CE-240D-1626-7181-8AE1556AC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5F205-BC06-4923-AE40-F9637F79EC90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18E989-45C5-2F74-BBC1-F2FD3AA6B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968C76A-5D5B-1E94-63F3-F2C30BD71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DFB94-CDF0-4C9A-9796-1733853694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9015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63E3A3-5EE2-93CC-BB3C-E96FCF391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930406-EC8C-1B5B-97E7-C811C1687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D3A84D-FEC1-35D5-EE1C-84CB86CE6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5F205-BC06-4923-AE40-F9637F79EC90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1B6AA3-9681-9E95-0962-9250EBC19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1EDFD7-60BB-E081-DC1F-E4E050955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DFB94-CDF0-4C9A-9796-1733853694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3894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2EBB08-8F33-7BB7-2FF9-C217D67CD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0D464D-9649-0082-9D22-D4D4A1516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3C7BBC0-0070-C63A-8BEF-017008160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5F205-BC06-4923-AE40-F9637F79EC90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C2DF584-3EF7-EDFB-C69B-A539C17BD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E84B92-1D87-EF5F-DD04-6A4C849CE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DFB94-CDF0-4C9A-9796-1733853694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7497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F6E866-3F62-EBBA-616A-C4507816B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3540260-C4D4-0EFD-9DDE-778F381228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AAE333E-E600-C020-B4B7-7481FEE0A6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5384696-6679-1B02-E3A4-49B3E4886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5F205-BC06-4923-AE40-F9637F79EC90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F2BB447-1405-1FF5-0F58-0AC593572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C4196A0-B5DD-024D-23C4-3CE116490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DFB94-CDF0-4C9A-9796-1733853694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7621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81AF8F-0981-458E-495B-60EE0FDA9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E21A503-A629-D035-23DB-7CD79A438B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D94F35E-68BB-7D99-1292-B3D9509C36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7143544-646F-B258-AB3F-DA27D4CD16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7D9F6A4-CDFB-EEC3-3255-6997E750E7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7383249-A01E-E7B8-2AF8-BB022D8C5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5F205-BC06-4923-AE40-F9637F79EC90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5AFA9CB-D56C-61DF-1A38-8827F8BD8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66A94A8-8842-6397-51E0-CF08D40C8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DFB94-CDF0-4C9A-9796-1733853694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1938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BC45F-7F7A-C05E-EADC-9F2477FA6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A5B3852-E703-0613-811E-92EB24557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5F205-BC06-4923-AE40-F9637F79EC90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0C07406-8EC1-949B-7A4F-E686E1B6D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1F3A2B2-DA7D-3514-11EE-7D64B6281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DFB94-CDF0-4C9A-9796-1733853694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875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6345807-90F3-75D6-EBDC-ED270E57B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5F205-BC06-4923-AE40-F9637F79EC90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368E66C-978E-1BA2-E3BF-3E53F70FD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19D3CD5-A59B-93AA-53EA-DDB5AB11F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DFB94-CDF0-4C9A-9796-1733853694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1193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B0289A-F32F-CDE4-3821-DF653F4E6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5F81B7-EAE0-1215-7E4C-E4B3D1820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3345A6D-11B7-6DDB-CC45-CE9B2A8428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9203CAD-D112-20E8-F844-8E18A19CD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5F205-BC06-4923-AE40-F9637F79EC90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1BA2081-0935-1AA3-2F87-0CB1CED28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F87E06-5CA6-943D-CE7F-D45A1FEA6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DFB94-CDF0-4C9A-9796-1733853694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7931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CBD5A2-682F-9418-0A0A-D5930CE93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0F7DC9F-0BDF-0D40-02DE-D36F3A0EFC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176CD42-BFD6-E771-B3FA-1A90C20A69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1D9E123-83B2-64A2-3FCD-345F07733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5F205-BC06-4923-AE40-F9637F79EC90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82C9211-EBD5-8DE7-8010-3FB4FF8A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6399E9B-7BF8-7C59-2C75-2F9EB2F4A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DFB94-CDF0-4C9A-9796-1733853694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6916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D330BD-9560-1351-0F96-827127D61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3F81799-7699-6E8D-4902-39023CB2DB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CF019AC-4472-DE2D-52F1-FAAE97025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5F205-BC06-4923-AE40-F9637F79EC90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3ED61E-20DB-8387-544E-6FBA8C8B2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6C012A5-4B41-B501-A959-B5F7494AA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DFB94-CDF0-4C9A-9796-1733853694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7971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65998B9-9270-88D0-03F1-7E0B0D1C3A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C0E1009-6087-12FE-7C7A-E230330BD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DC3BC4-0A82-879C-548D-C047E5D50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5F205-BC06-4923-AE40-F9637F79EC90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681762-DD5D-5A15-0A5F-1296D06D9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8C9EE6-5928-C69A-834F-FBCDBBD76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DFB94-CDF0-4C9A-9796-1733853694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0737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1FA7065-F71C-185A-4EDC-242854C8C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F49F5A6-80E4-AF16-8A1C-F004974796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3EB7169-006A-B840-5DC1-4A1CFE3A1B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5F205-BC06-4923-AE40-F9637F79EC90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F48B4A-6EEA-63AA-BE32-B090EFD19F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70E522E-4B0B-F9B0-783D-DA971BB8D4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DFB94-CDF0-4C9A-9796-1733853694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7854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e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754681D-DBF5-8273-C23C-0299FB464C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BCE7230-F407-9EF5-8E18-0586494E95F1}"/>
              </a:ext>
            </a:extLst>
          </p:cNvPr>
          <p:cNvSpPr txBox="1"/>
          <p:nvPr/>
        </p:nvSpPr>
        <p:spPr>
          <a:xfrm>
            <a:off x="105508" y="114300"/>
            <a:ext cx="39389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Banco de Dados – C07</a:t>
            </a:r>
            <a:endParaRPr lang="pt-BR" sz="3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3CC7D12-D3BF-9337-7D0C-D2B1685C85F8}"/>
              </a:ext>
            </a:extLst>
          </p:cNvPr>
          <p:cNvSpPr txBox="1"/>
          <p:nvPr/>
        </p:nvSpPr>
        <p:spPr>
          <a:xfrm>
            <a:off x="105508" y="602313"/>
            <a:ext cx="25233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Felipe Tagawa Reis</a:t>
            </a:r>
            <a:endParaRPr lang="pt-BR" sz="24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E590A6B-DA49-9159-AD12-07097EA653E5}"/>
              </a:ext>
            </a:extLst>
          </p:cNvPr>
          <p:cNvSpPr txBox="1"/>
          <p:nvPr/>
        </p:nvSpPr>
        <p:spPr>
          <a:xfrm>
            <a:off x="105508" y="6035814"/>
            <a:ext cx="33586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Comandos DCL</a:t>
            </a:r>
          </a:p>
        </p:txBody>
      </p:sp>
    </p:spTree>
    <p:extLst>
      <p:ext uri="{BB962C8B-B14F-4D97-AF65-F5344CB8AC3E}">
        <p14:creationId xmlns:p14="http://schemas.microsoft.com/office/powerpoint/2010/main" val="239161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168834C-13B9-6CB3-5318-985EEE39F3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26" name="Picture 2" descr="Types of SQL Commands. - Learnomate Technologies">
            <a:extLst>
              <a:ext uri="{FF2B5EF4-FFF2-40B4-BE49-F238E27FC236}">
                <a16:creationId xmlns:a16="http://schemas.microsoft.com/office/drawing/2014/main" id="{2BE99228-959E-AC6D-4561-CD3DF5B2D6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1023937"/>
            <a:ext cx="8572500" cy="481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9941A8B2-D380-DC77-7419-374815BF0369}"/>
              </a:ext>
            </a:extLst>
          </p:cNvPr>
          <p:cNvSpPr txBox="1"/>
          <p:nvPr/>
        </p:nvSpPr>
        <p:spPr>
          <a:xfrm>
            <a:off x="4588119" y="188803"/>
            <a:ext cx="30157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Linguagem</a:t>
            </a:r>
            <a:r>
              <a:rPr lang="en-US" sz="3600" dirty="0"/>
              <a:t> SQL</a:t>
            </a:r>
            <a:endParaRPr lang="pt-BR" sz="3600" dirty="0"/>
          </a:p>
        </p:txBody>
      </p:sp>
      <p:sp>
        <p:nvSpPr>
          <p:cNvPr id="7" name="Símbolo de &quot;Não Permitido&quot; 6">
            <a:extLst>
              <a:ext uri="{FF2B5EF4-FFF2-40B4-BE49-F238E27FC236}">
                <a16:creationId xmlns:a16="http://schemas.microsoft.com/office/drawing/2014/main" id="{AF4F76FA-5614-227F-C3F8-222E32F0BDFE}"/>
              </a:ext>
            </a:extLst>
          </p:cNvPr>
          <p:cNvSpPr/>
          <p:nvPr/>
        </p:nvSpPr>
        <p:spPr>
          <a:xfrm>
            <a:off x="7765806" y="1855177"/>
            <a:ext cx="2347546" cy="1784839"/>
          </a:xfrm>
          <a:prstGeom prst="noSmoking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6363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8113F-A1BD-AB7E-5C05-BD73BE930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20B5AB8-0114-3359-FC84-630E6C7F1E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93E29DD7-F91D-7787-FE3B-123FF3FEFD57}"/>
              </a:ext>
            </a:extLst>
          </p:cNvPr>
          <p:cNvSpPr txBox="1"/>
          <p:nvPr/>
        </p:nvSpPr>
        <p:spPr>
          <a:xfrm>
            <a:off x="4798402" y="180011"/>
            <a:ext cx="25951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Aula de </a:t>
            </a:r>
            <a:r>
              <a:rPr lang="en-US" sz="3600" dirty="0" err="1"/>
              <a:t>Hoje</a:t>
            </a:r>
            <a:endParaRPr lang="pt-BR" sz="3600" dirty="0"/>
          </a:p>
        </p:txBody>
      </p:sp>
      <p:pic>
        <p:nvPicPr>
          <p:cNvPr id="3" name="Picture 2" descr="Types of SQL Commands. - Learnomate Technologies">
            <a:extLst>
              <a:ext uri="{FF2B5EF4-FFF2-40B4-BE49-F238E27FC236}">
                <a16:creationId xmlns:a16="http://schemas.microsoft.com/office/drawing/2014/main" id="{AAE9AD72-B988-9CA1-92D2-AFAE815E10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1023937"/>
            <a:ext cx="8572500" cy="481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41C933C8-ABC8-9C19-5FE1-2E679453A02A}"/>
              </a:ext>
            </a:extLst>
          </p:cNvPr>
          <p:cNvSpPr/>
          <p:nvPr/>
        </p:nvSpPr>
        <p:spPr>
          <a:xfrm flipH="1">
            <a:off x="5978767" y="3428999"/>
            <a:ext cx="422031" cy="26376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7A2CE3F9-1D8A-FD32-1BCF-37A3DFD7E346}"/>
              </a:ext>
            </a:extLst>
          </p:cNvPr>
          <p:cNvSpPr/>
          <p:nvPr/>
        </p:nvSpPr>
        <p:spPr>
          <a:xfrm flipH="1">
            <a:off x="5978767" y="3809084"/>
            <a:ext cx="422031" cy="26376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7300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3E9DFB4-8ED3-3215-A90B-FE15AF3243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D37D4BD6-6E9D-BC94-4B09-41EDDFEBB365}"/>
              </a:ext>
            </a:extLst>
          </p:cNvPr>
          <p:cNvSpPr txBox="1"/>
          <p:nvPr/>
        </p:nvSpPr>
        <p:spPr>
          <a:xfrm>
            <a:off x="4376005" y="180011"/>
            <a:ext cx="3439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Comandos DCL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5EE2593-6BF0-FC60-1497-3F7C0682EA10}"/>
              </a:ext>
            </a:extLst>
          </p:cNvPr>
          <p:cNvSpPr txBox="1"/>
          <p:nvPr/>
        </p:nvSpPr>
        <p:spPr>
          <a:xfrm>
            <a:off x="756138" y="1086650"/>
            <a:ext cx="109552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/>
              <a:t>DCL (Data Control Language)</a:t>
            </a:r>
            <a:r>
              <a:rPr lang="en-US" sz="2800" dirty="0"/>
              <a:t> é o conjunto de </a:t>
            </a:r>
            <a:r>
              <a:rPr lang="en-US" sz="2800" dirty="0" err="1"/>
              <a:t>comandos</a:t>
            </a:r>
            <a:r>
              <a:rPr lang="en-US" sz="2800" dirty="0"/>
              <a:t> </a:t>
            </a:r>
            <a:r>
              <a:rPr lang="en-US" sz="2800" dirty="0" err="1"/>
              <a:t>responsáveis</a:t>
            </a:r>
            <a:r>
              <a:rPr lang="en-US" sz="2800" dirty="0"/>
              <a:t> </a:t>
            </a:r>
            <a:r>
              <a:rPr lang="en-US" sz="2800" dirty="0" err="1"/>
              <a:t>por</a:t>
            </a:r>
            <a:r>
              <a:rPr lang="en-US" sz="2800" dirty="0"/>
              <a:t> </a:t>
            </a:r>
            <a:r>
              <a:rPr lang="en-US" sz="2800" dirty="0" err="1"/>
              <a:t>garantir</a:t>
            </a:r>
            <a:r>
              <a:rPr lang="en-US" sz="2800" dirty="0"/>
              <a:t> o </a:t>
            </a:r>
            <a:r>
              <a:rPr lang="en-US" sz="2800" dirty="0" err="1"/>
              <a:t>controle</a:t>
            </a:r>
            <a:r>
              <a:rPr lang="en-US" sz="2800" dirty="0"/>
              <a:t> de </a:t>
            </a:r>
            <a:r>
              <a:rPr lang="en-US" sz="2800" dirty="0" err="1"/>
              <a:t>acesso</a:t>
            </a:r>
            <a:r>
              <a:rPr lang="en-US" sz="2800" dirty="0"/>
              <a:t> </a:t>
            </a:r>
            <a:r>
              <a:rPr lang="en-US" sz="2800" dirty="0" err="1"/>
              <a:t>ao</a:t>
            </a:r>
            <a:r>
              <a:rPr lang="en-US" sz="2800" dirty="0"/>
              <a:t> banco de dados </a:t>
            </a:r>
            <a:endParaRPr lang="pt-BR" sz="28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63B4F7E-72A5-CB9C-6D1E-63E177506939}"/>
              </a:ext>
            </a:extLst>
          </p:cNvPr>
          <p:cNvSpPr txBox="1"/>
          <p:nvPr/>
        </p:nvSpPr>
        <p:spPr>
          <a:xfrm>
            <a:off x="756138" y="2525774"/>
            <a:ext cx="2039816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Comandos:</a:t>
            </a:r>
          </a:p>
          <a:p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600" dirty="0"/>
              <a:t>GRANT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600" dirty="0"/>
              <a:t>REVOKE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4056721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AA2FC-9E81-B68A-E687-04EC51BD7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AB4D158-B3F3-63A6-624C-34CD33358E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34FBBEA-A621-DD22-64F6-B27667FBF209}"/>
              </a:ext>
            </a:extLst>
          </p:cNvPr>
          <p:cNvSpPr txBox="1"/>
          <p:nvPr/>
        </p:nvSpPr>
        <p:spPr>
          <a:xfrm>
            <a:off x="4376005" y="180011"/>
            <a:ext cx="3439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Comando</a:t>
            </a:r>
            <a:r>
              <a:rPr lang="en-US" sz="3600" dirty="0"/>
              <a:t> GRANT</a:t>
            </a:r>
            <a:endParaRPr lang="pt-BR" sz="36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C6AE71E-B61B-D8D1-E1A6-DD85F59618C7}"/>
              </a:ext>
            </a:extLst>
          </p:cNvPr>
          <p:cNvSpPr txBox="1"/>
          <p:nvPr/>
        </p:nvSpPr>
        <p:spPr>
          <a:xfrm>
            <a:off x="756138" y="1086650"/>
            <a:ext cx="1095521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Concede </a:t>
            </a:r>
            <a:r>
              <a:rPr lang="en-US" sz="2000" dirty="0" err="1"/>
              <a:t>certos</a:t>
            </a:r>
            <a:r>
              <a:rPr lang="en-US" sz="2000" dirty="0"/>
              <a:t> </a:t>
            </a:r>
            <a:r>
              <a:rPr lang="en-US" sz="2000" u="sng" dirty="0" err="1"/>
              <a:t>privilégios</a:t>
            </a:r>
            <a:r>
              <a:rPr lang="en-US" sz="2000" dirty="0"/>
              <a:t> a um </a:t>
            </a:r>
            <a:r>
              <a:rPr lang="en-US" sz="2000" dirty="0" err="1"/>
              <a:t>usuário</a:t>
            </a:r>
            <a:r>
              <a:rPr lang="en-US" sz="2000" dirty="0"/>
              <a:t> </a:t>
            </a:r>
            <a:r>
              <a:rPr lang="en-US" sz="2000" dirty="0" err="1"/>
              <a:t>especificado</a:t>
            </a:r>
            <a:r>
              <a:rPr lang="en-US" sz="2000" dirty="0"/>
              <a:t>, é </a:t>
            </a:r>
            <a:r>
              <a:rPr lang="en-US" sz="2000" dirty="0" err="1"/>
              <a:t>necessária</a:t>
            </a:r>
            <a:r>
              <a:rPr lang="en-US" sz="2000" dirty="0"/>
              <a:t> a </a:t>
            </a:r>
            <a:r>
              <a:rPr lang="en-US" sz="2000" dirty="0" err="1"/>
              <a:t>existência</a:t>
            </a:r>
            <a:r>
              <a:rPr lang="en-US" sz="2000" dirty="0"/>
              <a:t> </a:t>
            </a:r>
            <a:r>
              <a:rPr lang="en-US" sz="2000" dirty="0" err="1"/>
              <a:t>desse</a:t>
            </a:r>
            <a:r>
              <a:rPr lang="en-US" sz="2000" dirty="0"/>
              <a:t> </a:t>
            </a:r>
            <a:r>
              <a:rPr lang="en-US" sz="2000" dirty="0" err="1"/>
              <a:t>usuário</a:t>
            </a:r>
            <a:r>
              <a:rPr lang="en-US" sz="2000" dirty="0"/>
              <a:t> </a:t>
            </a:r>
            <a:r>
              <a:rPr lang="en-US" sz="2000" dirty="0" err="1"/>
              <a:t>previamente</a:t>
            </a:r>
            <a:r>
              <a:rPr lang="en-US" sz="2000" dirty="0"/>
              <a:t> para o </a:t>
            </a:r>
            <a:r>
              <a:rPr lang="en-US" sz="2000" dirty="0" err="1"/>
              <a:t>comando</a:t>
            </a:r>
            <a:r>
              <a:rPr lang="en-US" sz="2000" dirty="0"/>
              <a:t> </a:t>
            </a:r>
            <a:r>
              <a:rPr lang="en-US" sz="2000" dirty="0" err="1"/>
              <a:t>funcionar</a:t>
            </a:r>
            <a:r>
              <a:rPr lang="en-US" sz="2000" dirty="0"/>
              <a:t> </a:t>
            </a:r>
            <a:r>
              <a:rPr lang="en-US" sz="2000" dirty="0" err="1"/>
              <a:t>corretamente</a:t>
            </a:r>
            <a:r>
              <a:rPr lang="en-US" sz="2000" dirty="0"/>
              <a:t>. É</a:t>
            </a:r>
            <a:r>
              <a:rPr lang="en-US" sz="2000" b="1" dirty="0"/>
              <a:t> </a:t>
            </a:r>
            <a:r>
              <a:rPr lang="en-US" sz="2000" b="1" dirty="0" err="1"/>
              <a:t>necessário</a:t>
            </a:r>
            <a:r>
              <a:rPr lang="en-US" sz="2000" dirty="0"/>
              <a:t> </a:t>
            </a:r>
            <a:r>
              <a:rPr lang="en-US" sz="2000" dirty="0" err="1"/>
              <a:t>que</a:t>
            </a:r>
            <a:r>
              <a:rPr lang="en-US" sz="2000" dirty="0"/>
              <a:t> </a:t>
            </a:r>
            <a:r>
              <a:rPr lang="en-US" sz="2000" dirty="0" err="1"/>
              <a:t>informemos</a:t>
            </a:r>
            <a:r>
              <a:rPr lang="en-US" sz="2000" dirty="0"/>
              <a:t> qual o </a:t>
            </a:r>
            <a:r>
              <a:rPr lang="en-US" sz="2000" dirty="0" err="1"/>
              <a:t>endereço</a:t>
            </a:r>
            <a:r>
              <a:rPr lang="en-US" sz="2000" dirty="0"/>
              <a:t> IP </a:t>
            </a:r>
            <a:r>
              <a:rPr lang="en-US" sz="2000" dirty="0" err="1"/>
              <a:t>poderá</a:t>
            </a:r>
            <a:r>
              <a:rPr lang="en-US" sz="2000" dirty="0"/>
              <a:t> </a:t>
            </a:r>
            <a:r>
              <a:rPr lang="en-US" sz="2000" dirty="0" err="1"/>
              <a:t>acessar</a:t>
            </a:r>
            <a:r>
              <a:rPr lang="en-US" sz="2000" dirty="0"/>
              <a:t> (‘@’%’, ‘@’localhost’ </a:t>
            </a:r>
            <a:r>
              <a:rPr lang="en-US" sz="2000" dirty="0" err="1"/>
              <a:t>ou</a:t>
            </a:r>
            <a:r>
              <a:rPr lang="en-US" sz="2000" dirty="0"/>
              <a:t> ‘@’</a:t>
            </a:r>
            <a:r>
              <a:rPr lang="en-US" sz="2000" dirty="0" err="1"/>
              <a:t>EndereçoIP</a:t>
            </a:r>
            <a:r>
              <a:rPr lang="en-US" sz="2000" dirty="0"/>
              <a:t>’ </a:t>
            </a:r>
            <a:r>
              <a:rPr lang="en-US" sz="2000" dirty="0" err="1"/>
              <a:t>após</a:t>
            </a:r>
            <a:r>
              <a:rPr lang="en-US" sz="2000" dirty="0"/>
              <a:t> o </a:t>
            </a:r>
            <a:r>
              <a:rPr lang="en-US" sz="2000" dirty="0" err="1"/>
              <a:t>nome</a:t>
            </a:r>
            <a:r>
              <a:rPr lang="en-US" sz="2000" dirty="0"/>
              <a:t>).</a:t>
            </a:r>
          </a:p>
          <a:p>
            <a:endParaRPr lang="en-US" sz="2000" dirty="0"/>
          </a:p>
          <a:p>
            <a:r>
              <a:rPr lang="en-US" sz="2000" dirty="0" err="1"/>
              <a:t>Privilégios</a:t>
            </a:r>
            <a:r>
              <a:rPr lang="en-US" sz="2000" dirty="0"/>
              <a:t>:</a:t>
            </a:r>
          </a:p>
          <a:p>
            <a:endParaRPr lang="en-US" sz="2000" dirty="0"/>
          </a:p>
          <a:p>
            <a:r>
              <a:rPr lang="en-US" sz="2000" dirty="0"/>
              <a:t>ALL PRIVILEGES – </a:t>
            </a:r>
            <a:r>
              <a:rPr lang="en-US" sz="2000" dirty="0" err="1"/>
              <a:t>todos</a:t>
            </a:r>
            <a:r>
              <a:rPr lang="en-US" sz="2000" dirty="0"/>
              <a:t> </a:t>
            </a:r>
            <a:r>
              <a:rPr lang="en-US" sz="2000" dirty="0" err="1"/>
              <a:t>os</a:t>
            </a:r>
            <a:r>
              <a:rPr lang="en-US" sz="2000" dirty="0"/>
              <a:t> </a:t>
            </a:r>
            <a:r>
              <a:rPr lang="en-US" sz="2000" dirty="0" err="1"/>
              <a:t>privilégios</a:t>
            </a:r>
            <a:r>
              <a:rPr lang="en-US" sz="2000" dirty="0"/>
              <a:t>, </a:t>
            </a:r>
            <a:r>
              <a:rPr lang="en-US" sz="2000" dirty="0" err="1"/>
              <a:t>menos</a:t>
            </a:r>
            <a:r>
              <a:rPr lang="en-US" sz="2000" dirty="0"/>
              <a:t> o GRANT;</a:t>
            </a:r>
          </a:p>
          <a:p>
            <a:r>
              <a:rPr lang="en-US" sz="2000" dirty="0"/>
              <a:t>CREATE, ALTER e DROP – DDL</a:t>
            </a:r>
          </a:p>
          <a:p>
            <a:r>
              <a:rPr lang="en-US" sz="2000" dirty="0"/>
              <a:t>SELECT, INSERT, UPDATE E DELETE – DQL e DML</a:t>
            </a:r>
            <a:endParaRPr lang="pt-BR" sz="2000" dirty="0"/>
          </a:p>
        </p:txBody>
      </p:sp>
      <p:pic>
        <p:nvPicPr>
          <p:cNvPr id="7" name="Imagem 6" descr="Texto&#10;&#10;O conteúdo gerado por IA pode estar incorreto.">
            <a:extLst>
              <a:ext uri="{FF2B5EF4-FFF2-40B4-BE49-F238E27FC236}">
                <a16:creationId xmlns:a16="http://schemas.microsoft.com/office/drawing/2014/main" id="{F1FAE06D-BC0D-B9AE-5994-259E066419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9397" y="4160300"/>
            <a:ext cx="7668695" cy="248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743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05544-BA6B-0383-93FA-15FC76704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04D1D90-4EA9-855A-1056-D0C7D6924B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F0A96E23-B8CB-E563-4803-281B03243143}"/>
              </a:ext>
            </a:extLst>
          </p:cNvPr>
          <p:cNvSpPr txBox="1"/>
          <p:nvPr/>
        </p:nvSpPr>
        <p:spPr>
          <a:xfrm>
            <a:off x="3747171" y="211328"/>
            <a:ext cx="46976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Hierarquia</a:t>
            </a:r>
            <a:r>
              <a:rPr lang="en-US" sz="3600" dirty="0"/>
              <a:t> de </a:t>
            </a:r>
            <a:r>
              <a:rPr lang="en-US" sz="3600" dirty="0" err="1"/>
              <a:t>Privilégios</a:t>
            </a:r>
            <a:endParaRPr lang="pt-BR" sz="36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69A6E76-8667-D92A-96E5-ECF6B707B003}"/>
              </a:ext>
            </a:extLst>
          </p:cNvPr>
          <p:cNvSpPr txBox="1"/>
          <p:nvPr/>
        </p:nvSpPr>
        <p:spPr>
          <a:xfrm>
            <a:off x="756138" y="1086650"/>
            <a:ext cx="10955215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/>
              <a:t>Os privilégios podem ser aplicados em diferentes níveis.</a:t>
            </a:r>
          </a:p>
          <a:p>
            <a:endParaRPr lang="en-US" sz="2800" dirty="0"/>
          </a:p>
          <a:p>
            <a:r>
              <a:rPr lang="en-US" sz="2800" dirty="0" err="1"/>
              <a:t>Nível</a:t>
            </a:r>
            <a:r>
              <a:rPr lang="en-US" sz="2800" dirty="0"/>
              <a:t> Global: GRANT ALL ON *.* (Todo o </a:t>
            </a:r>
            <a:r>
              <a:rPr lang="en-US" sz="2800" dirty="0" err="1"/>
              <a:t>servidor</a:t>
            </a:r>
            <a:r>
              <a:rPr lang="en-US" sz="2800" dirty="0"/>
              <a:t>);</a:t>
            </a:r>
          </a:p>
          <a:p>
            <a:endParaRPr lang="en-US" sz="2800" dirty="0"/>
          </a:p>
          <a:p>
            <a:r>
              <a:rPr lang="en-US" sz="2800" dirty="0" err="1"/>
              <a:t>Nível</a:t>
            </a:r>
            <a:r>
              <a:rPr lang="en-US" sz="2800" dirty="0"/>
              <a:t> Database: GRANT ALL ON </a:t>
            </a:r>
            <a:r>
              <a:rPr lang="en-US" sz="2800" dirty="0" err="1"/>
              <a:t>bd_exemplo</a:t>
            </a:r>
            <a:r>
              <a:rPr lang="en-US" sz="2800" dirty="0"/>
              <a:t>.*;</a:t>
            </a:r>
          </a:p>
          <a:p>
            <a:endParaRPr lang="en-US" sz="2800" dirty="0"/>
          </a:p>
          <a:p>
            <a:r>
              <a:rPr lang="en-US" sz="2800" dirty="0" err="1"/>
              <a:t>Nível</a:t>
            </a:r>
            <a:r>
              <a:rPr lang="en-US" sz="2800" dirty="0"/>
              <a:t> de </a:t>
            </a:r>
            <a:r>
              <a:rPr lang="en-US" sz="2800" dirty="0" err="1"/>
              <a:t>Tabela</a:t>
            </a:r>
            <a:r>
              <a:rPr lang="en-US" sz="2800" dirty="0"/>
              <a:t>: GRANT SELECT ON </a:t>
            </a:r>
            <a:r>
              <a:rPr lang="en-US" sz="2800" dirty="0" err="1"/>
              <a:t>bd_exemplo.Musica</a:t>
            </a:r>
            <a:r>
              <a:rPr lang="en-US" sz="2800" dirty="0"/>
              <a:t>.</a:t>
            </a:r>
          </a:p>
          <a:p>
            <a:endParaRPr lang="en-US" sz="2800" dirty="0"/>
          </a:p>
          <a:p>
            <a:pPr algn="ctr"/>
            <a:r>
              <a:rPr lang="en-US" sz="3600" dirty="0"/>
              <a:t>FLUSH PRIVILEGES</a:t>
            </a:r>
          </a:p>
          <a:p>
            <a:pPr algn="ctr"/>
            <a:endParaRPr lang="en-US" sz="2800" dirty="0"/>
          </a:p>
          <a:p>
            <a:r>
              <a:rPr lang="en-US" sz="2800" dirty="0"/>
              <a:t>- </a:t>
            </a:r>
            <a:r>
              <a:rPr lang="en-US" sz="2800" dirty="0" err="1"/>
              <a:t>Atualiza</a:t>
            </a:r>
            <a:r>
              <a:rPr lang="en-US" sz="2800" dirty="0"/>
              <a:t> a </a:t>
            </a:r>
            <a:r>
              <a:rPr lang="en-US" sz="2800" dirty="0" err="1"/>
              <a:t>tabela</a:t>
            </a:r>
            <a:r>
              <a:rPr lang="en-US" sz="2800" dirty="0"/>
              <a:t> de </a:t>
            </a:r>
            <a:r>
              <a:rPr lang="en-US" sz="2800" dirty="0" err="1"/>
              <a:t>acessos</a:t>
            </a:r>
            <a:r>
              <a:rPr lang="en-US" sz="2800" dirty="0"/>
              <a:t> </a:t>
            </a:r>
            <a:r>
              <a:rPr lang="en-US" sz="2800" dirty="0" err="1"/>
              <a:t>imediatamente</a:t>
            </a:r>
            <a:r>
              <a:rPr lang="en-US" sz="2800" dirty="0"/>
              <a:t> </a:t>
            </a:r>
            <a:r>
              <a:rPr lang="en-US" sz="2800" dirty="0" err="1"/>
              <a:t>na</a:t>
            </a:r>
            <a:r>
              <a:rPr lang="en-US" sz="2800" dirty="0"/>
              <a:t> </a:t>
            </a:r>
            <a:r>
              <a:rPr lang="en-US" sz="2800" dirty="0" err="1"/>
              <a:t>memória</a:t>
            </a:r>
            <a:r>
              <a:rPr lang="en-US" sz="2800" dirty="0"/>
              <a:t>, </a:t>
            </a:r>
            <a:r>
              <a:rPr lang="en-US" sz="2800" dirty="0" err="1"/>
              <a:t>garantindo</a:t>
            </a:r>
            <a:r>
              <a:rPr lang="en-US" sz="2800" dirty="0"/>
              <a:t> </a:t>
            </a:r>
            <a:r>
              <a:rPr lang="en-US" sz="2800" dirty="0" err="1"/>
              <a:t>que</a:t>
            </a:r>
            <a:r>
              <a:rPr lang="en-US" sz="2800" dirty="0"/>
              <a:t> as </a:t>
            </a:r>
            <a:r>
              <a:rPr lang="en-US" sz="2800" dirty="0" err="1"/>
              <a:t>alterações</a:t>
            </a:r>
            <a:r>
              <a:rPr lang="en-US" sz="2800" dirty="0"/>
              <a:t> </a:t>
            </a:r>
            <a:r>
              <a:rPr lang="en-US" sz="2800" dirty="0" err="1"/>
              <a:t>entrem</a:t>
            </a:r>
            <a:r>
              <a:rPr lang="en-US" sz="2800" dirty="0"/>
              <a:t> </a:t>
            </a:r>
            <a:r>
              <a:rPr lang="en-US" sz="2800" dirty="0" err="1"/>
              <a:t>em</a:t>
            </a:r>
            <a:r>
              <a:rPr lang="en-US" sz="2800" dirty="0"/>
              <a:t> vigor </a:t>
            </a:r>
            <a:r>
              <a:rPr lang="en-US" sz="2800" dirty="0" err="1"/>
              <a:t>na</a:t>
            </a:r>
            <a:r>
              <a:rPr lang="en-US" sz="2800" dirty="0"/>
              <a:t> hora.</a:t>
            </a:r>
          </a:p>
        </p:txBody>
      </p:sp>
      <p:pic>
        <p:nvPicPr>
          <p:cNvPr id="1028" name="Picture 4" descr="F5 button: 282 imagens, fotos e ilustrações stock livres de direitos |  Shutterstock">
            <a:extLst>
              <a:ext uri="{FF2B5EF4-FFF2-40B4-BE49-F238E27FC236}">
                <a16:creationId xmlns:a16="http://schemas.microsoft.com/office/drawing/2014/main" id="{3098565D-67D3-5820-397B-98157A4371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5317" y="4460630"/>
            <a:ext cx="879021" cy="946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3308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228FC-2D67-9F9D-E3FE-7C0649C65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43330A4-D154-B01B-C7CD-9905B6E9CC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546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542ED33-F66F-B895-52CD-A6D5662FA58E}"/>
              </a:ext>
            </a:extLst>
          </p:cNvPr>
          <p:cNvSpPr txBox="1"/>
          <p:nvPr/>
        </p:nvSpPr>
        <p:spPr>
          <a:xfrm>
            <a:off x="4287898" y="180011"/>
            <a:ext cx="36162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Comando</a:t>
            </a:r>
            <a:r>
              <a:rPr lang="en-US" sz="3600" dirty="0"/>
              <a:t> REVOKE</a:t>
            </a:r>
            <a:endParaRPr lang="pt-BR" sz="36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4D406CB-5E29-7055-4FCF-A498AC8D8BD0}"/>
              </a:ext>
            </a:extLst>
          </p:cNvPr>
          <p:cNvSpPr txBox="1"/>
          <p:nvPr/>
        </p:nvSpPr>
        <p:spPr>
          <a:xfrm>
            <a:off x="756138" y="1086650"/>
            <a:ext cx="109552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/>
              <a:t>Revoga</a:t>
            </a:r>
            <a:r>
              <a:rPr lang="en-US" sz="2000" dirty="0"/>
              <a:t>/remove </a:t>
            </a:r>
            <a:r>
              <a:rPr lang="en-US" sz="2000" dirty="0" err="1"/>
              <a:t>certos</a:t>
            </a:r>
            <a:r>
              <a:rPr lang="en-US" sz="2000" dirty="0"/>
              <a:t> </a:t>
            </a:r>
            <a:r>
              <a:rPr lang="en-US" sz="2000" u="sng" dirty="0" err="1"/>
              <a:t>privilégios</a:t>
            </a:r>
            <a:r>
              <a:rPr lang="en-US" sz="2000" dirty="0"/>
              <a:t> de um </a:t>
            </a:r>
            <a:r>
              <a:rPr lang="en-US" sz="2000" dirty="0" err="1"/>
              <a:t>usuário</a:t>
            </a:r>
            <a:r>
              <a:rPr lang="en-US" sz="2000" dirty="0"/>
              <a:t> </a:t>
            </a:r>
            <a:r>
              <a:rPr lang="en-US" sz="2000" dirty="0" err="1"/>
              <a:t>especificado</a:t>
            </a:r>
            <a:r>
              <a:rPr lang="en-US" sz="2000" dirty="0"/>
              <a:t>, é claro que é </a:t>
            </a:r>
            <a:r>
              <a:rPr lang="en-US" sz="2000" dirty="0" err="1"/>
              <a:t>necessária</a:t>
            </a:r>
            <a:r>
              <a:rPr lang="en-US" sz="2000" dirty="0"/>
              <a:t> a </a:t>
            </a:r>
            <a:r>
              <a:rPr lang="en-US" sz="2000" dirty="0" err="1"/>
              <a:t>existência</a:t>
            </a:r>
            <a:r>
              <a:rPr lang="en-US" sz="2000" dirty="0"/>
              <a:t> </a:t>
            </a:r>
            <a:r>
              <a:rPr lang="en-US" sz="2000" dirty="0" err="1"/>
              <a:t>desse</a:t>
            </a:r>
            <a:r>
              <a:rPr lang="en-US" sz="2000" dirty="0"/>
              <a:t> </a:t>
            </a:r>
            <a:r>
              <a:rPr lang="en-US" sz="2000" dirty="0" err="1"/>
              <a:t>usuário</a:t>
            </a:r>
            <a:r>
              <a:rPr lang="en-US" sz="2000" dirty="0"/>
              <a:t> </a:t>
            </a:r>
            <a:r>
              <a:rPr lang="en-US" sz="2000" dirty="0" err="1"/>
              <a:t>previamente</a:t>
            </a:r>
            <a:r>
              <a:rPr lang="en-US" sz="2000" dirty="0"/>
              <a:t> para o </a:t>
            </a:r>
            <a:r>
              <a:rPr lang="en-US" sz="2000" dirty="0" err="1"/>
              <a:t>comando</a:t>
            </a:r>
            <a:r>
              <a:rPr lang="en-US" sz="2000" dirty="0"/>
              <a:t> </a:t>
            </a:r>
            <a:r>
              <a:rPr lang="en-US" sz="2000" dirty="0" err="1"/>
              <a:t>funcionar</a:t>
            </a:r>
            <a:r>
              <a:rPr lang="en-US" sz="2000" dirty="0"/>
              <a:t> </a:t>
            </a:r>
            <a:r>
              <a:rPr lang="en-US" sz="2000" dirty="0" err="1"/>
              <a:t>corretamente</a:t>
            </a:r>
            <a:r>
              <a:rPr lang="en-US" sz="2000" dirty="0"/>
              <a:t>.</a:t>
            </a:r>
          </a:p>
          <a:p>
            <a:endParaRPr lang="en-US" sz="2000" u="sng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46D8C06-8875-7D5E-7726-60F8FC1DBE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799" y="2903942"/>
            <a:ext cx="10548399" cy="1922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776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A4F8E-4AD2-C185-D666-CC31AEC60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1B911DC-D2E4-9AA3-526C-C93A62642A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D72916B-B297-72D2-D443-82BBF0F5E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755" y="952154"/>
            <a:ext cx="11212490" cy="495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921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545A1-7630-5BC7-F46A-98B9C47FC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B10DA72-9327-3BAA-CA49-3834917DD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546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1BFA5564-D17C-FC1C-7B8A-925DF9D58BA9}"/>
              </a:ext>
            </a:extLst>
          </p:cNvPr>
          <p:cNvSpPr txBox="1"/>
          <p:nvPr/>
        </p:nvSpPr>
        <p:spPr>
          <a:xfrm>
            <a:off x="4806553" y="220160"/>
            <a:ext cx="2455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Role (Papel)</a:t>
            </a:r>
            <a:endParaRPr lang="pt-BR" sz="36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547DC9D-5758-48D8-5349-0A0F2CDC9034}"/>
              </a:ext>
            </a:extLst>
          </p:cNvPr>
          <p:cNvSpPr txBox="1"/>
          <p:nvPr/>
        </p:nvSpPr>
        <p:spPr>
          <a:xfrm>
            <a:off x="756138" y="1086650"/>
            <a:ext cx="109552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/>
              <a:t>Conjuntos nomeados de privilégios que funcionam como "</a:t>
            </a:r>
            <a:r>
              <a:rPr lang="pt-BR" sz="2000" dirty="0" err="1"/>
              <a:t>templates</a:t>
            </a:r>
            <a:r>
              <a:rPr lang="pt-BR" sz="2000" dirty="0"/>
              <a:t>" de acesso, facilitando a gestão de permissões em larga escala</a:t>
            </a:r>
            <a:endParaRPr lang="en-US" sz="2000" u="sng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162F623-78D7-D8DA-B284-88FE05B7A6BC}"/>
              </a:ext>
            </a:extLst>
          </p:cNvPr>
          <p:cNvSpPr txBox="1"/>
          <p:nvPr/>
        </p:nvSpPr>
        <p:spPr>
          <a:xfrm>
            <a:off x="958362" y="2180492"/>
            <a:ext cx="1055076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CREATE ROLE ‘</a:t>
            </a:r>
            <a:r>
              <a:rPr lang="pt-BR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nomeRole</a:t>
            </a:r>
            <a:r>
              <a:rPr lang="pt-B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’;</a:t>
            </a:r>
          </a:p>
          <a:p>
            <a:pPr algn="ctr"/>
            <a:endParaRPr lang="pt-BR" sz="2800" dirty="0"/>
          </a:p>
          <a:p>
            <a:pPr algn="ctr"/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GRANT [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comandos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] ON [database].[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tabela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] TO ‘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nomeRole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’;</a:t>
            </a:r>
          </a:p>
          <a:p>
            <a:pPr algn="ctr"/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CREATE USER ‘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nomeUsuario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’@’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’ IDENTIFIED BY ‘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senha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’;</a:t>
            </a:r>
          </a:p>
          <a:p>
            <a:pPr algn="ctr"/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it-IT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GRANT ‘nomeRole’ TO ‘nomeUsuario’@’ip’;</a:t>
            </a:r>
          </a:p>
          <a:p>
            <a:pPr algn="ctr"/>
            <a:endParaRPr lang="it-IT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pt-B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SET DEFAULT ROLE ‘</a:t>
            </a:r>
            <a:r>
              <a:rPr lang="pt-BR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nomeRole</a:t>
            </a:r>
            <a:r>
              <a:rPr lang="pt-B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’ TO ‘</a:t>
            </a:r>
            <a:r>
              <a:rPr lang="pt-BR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nomeUsuario</a:t>
            </a:r>
            <a:r>
              <a:rPr lang="pt-B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’@’</a:t>
            </a:r>
            <a:r>
              <a:rPr lang="pt-BR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</a:t>
            </a:r>
            <a:r>
              <a:rPr lang="pt-B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’;</a:t>
            </a:r>
          </a:p>
        </p:txBody>
      </p:sp>
    </p:spTree>
    <p:extLst>
      <p:ext uri="{BB962C8B-B14F-4D97-AF65-F5344CB8AC3E}">
        <p14:creationId xmlns:p14="http://schemas.microsoft.com/office/powerpoint/2010/main" val="1917684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0AFE3-AFDB-FB3C-8060-D0D2A21EC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76C80C5-396F-5BA6-0DA5-12676872AA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546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B2D60D24-EBAB-3AE5-E399-B5F4B17851EA}"/>
              </a:ext>
            </a:extLst>
          </p:cNvPr>
          <p:cNvSpPr txBox="1"/>
          <p:nvPr/>
        </p:nvSpPr>
        <p:spPr>
          <a:xfrm>
            <a:off x="4806553" y="220160"/>
            <a:ext cx="2455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Role (Papel)</a:t>
            </a:r>
            <a:endParaRPr lang="pt-BR" sz="36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9E4D481-119D-650F-85C9-AC003E110667}"/>
              </a:ext>
            </a:extLst>
          </p:cNvPr>
          <p:cNvSpPr txBox="1"/>
          <p:nvPr/>
        </p:nvSpPr>
        <p:spPr>
          <a:xfrm>
            <a:off x="5294800" y="1231104"/>
            <a:ext cx="14793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/>
              <a:t>Criação</a:t>
            </a:r>
            <a:endParaRPr lang="en-US" sz="32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0F6C80D-EE8E-969C-FD1D-30EC24868AD3}"/>
              </a:ext>
            </a:extLst>
          </p:cNvPr>
          <p:cNvSpPr txBox="1"/>
          <p:nvPr/>
        </p:nvSpPr>
        <p:spPr>
          <a:xfrm>
            <a:off x="958362" y="2180492"/>
            <a:ext cx="1055076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rgbClr val="0070C0"/>
                </a:solidFill>
              </a:rPr>
              <a:t>CREATE ROLE ‘</a:t>
            </a:r>
            <a:r>
              <a:rPr lang="pt-BR" sz="2800" dirty="0" err="1">
                <a:solidFill>
                  <a:srgbClr val="0070C0"/>
                </a:solidFill>
              </a:rPr>
              <a:t>nomeRole</a:t>
            </a:r>
            <a:r>
              <a:rPr lang="pt-BR" sz="2800" dirty="0">
                <a:solidFill>
                  <a:srgbClr val="0070C0"/>
                </a:solidFill>
              </a:rPr>
              <a:t>’;</a:t>
            </a:r>
          </a:p>
          <a:p>
            <a:pPr algn="ctr"/>
            <a:endParaRPr lang="pt-BR" sz="2800" dirty="0"/>
          </a:p>
          <a:p>
            <a:pPr algn="ctr"/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GRANT [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comandos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] ON [database].[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tabela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] TO ‘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nomeRole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’;</a:t>
            </a:r>
          </a:p>
          <a:p>
            <a:pPr algn="ctr"/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CREATE USER ‘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nomeUsuario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’@’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’ IDENTIFIED BY ‘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senha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’;</a:t>
            </a:r>
          </a:p>
          <a:p>
            <a:pPr algn="ctr"/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it-IT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GRANT ‘nomeRole’ TO ‘nomeUsuario’@’ip’;</a:t>
            </a:r>
          </a:p>
          <a:p>
            <a:pPr algn="ctr"/>
            <a:endParaRPr lang="it-IT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pt-B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SET DEFAULT ROLE ‘</a:t>
            </a:r>
            <a:r>
              <a:rPr lang="pt-BR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nomeRole</a:t>
            </a:r>
            <a:r>
              <a:rPr lang="pt-B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’ TO ‘</a:t>
            </a:r>
            <a:r>
              <a:rPr lang="pt-BR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nomeUsuario</a:t>
            </a:r>
            <a:r>
              <a:rPr lang="pt-B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’@’</a:t>
            </a:r>
            <a:r>
              <a:rPr lang="pt-BR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</a:t>
            </a:r>
            <a:r>
              <a:rPr lang="pt-B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’;</a:t>
            </a:r>
          </a:p>
        </p:txBody>
      </p:sp>
    </p:spTree>
    <p:extLst>
      <p:ext uri="{BB962C8B-B14F-4D97-AF65-F5344CB8AC3E}">
        <p14:creationId xmlns:p14="http://schemas.microsoft.com/office/powerpoint/2010/main" val="2905956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A9C5C-7460-1911-8D85-9479E4C00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D9D92A1-A196-5AD4-73CF-1631399675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546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1C5FC81F-EF5A-6A9B-8A3E-B1F7A0987524}"/>
              </a:ext>
            </a:extLst>
          </p:cNvPr>
          <p:cNvSpPr txBox="1"/>
          <p:nvPr/>
        </p:nvSpPr>
        <p:spPr>
          <a:xfrm>
            <a:off x="4806553" y="220160"/>
            <a:ext cx="2455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Role (Papel)</a:t>
            </a:r>
            <a:endParaRPr lang="pt-BR" sz="36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3790DA6-D00F-455A-3DBA-6F27E986B358}"/>
              </a:ext>
            </a:extLst>
          </p:cNvPr>
          <p:cNvSpPr txBox="1"/>
          <p:nvPr/>
        </p:nvSpPr>
        <p:spPr>
          <a:xfrm>
            <a:off x="4148503" y="1231104"/>
            <a:ext cx="38949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/>
              <a:t>Garantia</a:t>
            </a:r>
            <a:r>
              <a:rPr lang="en-US" sz="3200" dirty="0"/>
              <a:t> de </a:t>
            </a:r>
            <a:r>
              <a:rPr lang="en-US" sz="3200" dirty="0" err="1"/>
              <a:t>Privilégios</a:t>
            </a:r>
            <a:endParaRPr lang="en-US" sz="32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1256FC3-04CF-297B-13FD-85672E1EEA7B}"/>
              </a:ext>
            </a:extLst>
          </p:cNvPr>
          <p:cNvSpPr txBox="1"/>
          <p:nvPr/>
        </p:nvSpPr>
        <p:spPr>
          <a:xfrm>
            <a:off x="958362" y="2180492"/>
            <a:ext cx="1055076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CREATE ROLE ‘</a:t>
            </a:r>
            <a:r>
              <a:rPr lang="pt-BR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nomeRole</a:t>
            </a:r>
            <a:r>
              <a:rPr lang="pt-B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’;</a:t>
            </a:r>
          </a:p>
          <a:p>
            <a:pPr algn="ctr"/>
            <a:endParaRPr lang="pt-BR" sz="2800" dirty="0"/>
          </a:p>
          <a:p>
            <a:pPr algn="ctr"/>
            <a:r>
              <a:rPr lang="en-US" sz="2800" dirty="0">
                <a:solidFill>
                  <a:srgbClr val="0070C0"/>
                </a:solidFill>
              </a:rPr>
              <a:t>GRANT [</a:t>
            </a:r>
            <a:r>
              <a:rPr lang="en-US" sz="2800" dirty="0" err="1">
                <a:solidFill>
                  <a:srgbClr val="0070C0"/>
                </a:solidFill>
              </a:rPr>
              <a:t>comandos</a:t>
            </a:r>
            <a:r>
              <a:rPr lang="en-US" sz="2800" dirty="0">
                <a:solidFill>
                  <a:srgbClr val="0070C0"/>
                </a:solidFill>
              </a:rPr>
              <a:t>] ON [database].[</a:t>
            </a:r>
            <a:r>
              <a:rPr lang="en-US" sz="2800" dirty="0" err="1">
                <a:solidFill>
                  <a:srgbClr val="0070C0"/>
                </a:solidFill>
              </a:rPr>
              <a:t>tabela</a:t>
            </a:r>
            <a:r>
              <a:rPr lang="en-US" sz="2800" dirty="0">
                <a:solidFill>
                  <a:srgbClr val="0070C0"/>
                </a:solidFill>
              </a:rPr>
              <a:t>] TO ‘</a:t>
            </a:r>
            <a:r>
              <a:rPr lang="en-US" sz="2800" dirty="0" err="1">
                <a:solidFill>
                  <a:srgbClr val="0070C0"/>
                </a:solidFill>
              </a:rPr>
              <a:t>nomeRole</a:t>
            </a:r>
            <a:r>
              <a:rPr lang="en-US" sz="2800" dirty="0">
                <a:solidFill>
                  <a:srgbClr val="0070C0"/>
                </a:solidFill>
              </a:rPr>
              <a:t>’;</a:t>
            </a:r>
          </a:p>
          <a:p>
            <a:pPr algn="ctr"/>
            <a:endParaRPr lang="en-US" sz="2800" dirty="0"/>
          </a:p>
          <a:p>
            <a:pPr algn="ctr"/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CREATE USER ‘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nomeUsuario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’@’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’ IDENTIFIED BY ‘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senha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’;</a:t>
            </a:r>
          </a:p>
          <a:p>
            <a:pPr algn="ctr"/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it-IT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GRANT ‘nomeRole’ TO ‘nomeUsuario’@’ip’;</a:t>
            </a:r>
          </a:p>
          <a:p>
            <a:pPr algn="ctr"/>
            <a:endParaRPr lang="it-IT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pt-B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SET DEFAULT ROLE ‘</a:t>
            </a:r>
            <a:r>
              <a:rPr lang="pt-BR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nomeRole</a:t>
            </a:r>
            <a:r>
              <a:rPr lang="pt-B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’ TO ‘</a:t>
            </a:r>
            <a:r>
              <a:rPr lang="pt-BR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nomeUsuario</a:t>
            </a:r>
            <a:r>
              <a:rPr lang="pt-B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’@’</a:t>
            </a:r>
            <a:r>
              <a:rPr lang="pt-BR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</a:t>
            </a:r>
            <a:r>
              <a:rPr lang="pt-B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’;</a:t>
            </a:r>
          </a:p>
        </p:txBody>
      </p:sp>
    </p:spTree>
    <p:extLst>
      <p:ext uri="{BB962C8B-B14F-4D97-AF65-F5344CB8AC3E}">
        <p14:creationId xmlns:p14="http://schemas.microsoft.com/office/powerpoint/2010/main" val="553166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7CEBB-0C8E-B46E-4A13-9DB3F8F5C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D568E7C-1744-DAD7-0E7B-682E7D2939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546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B77ADC6B-1D24-7F4F-D65C-0B20118DFC8A}"/>
              </a:ext>
            </a:extLst>
          </p:cNvPr>
          <p:cNvSpPr txBox="1"/>
          <p:nvPr/>
        </p:nvSpPr>
        <p:spPr>
          <a:xfrm>
            <a:off x="4806553" y="220160"/>
            <a:ext cx="2455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Role (Papel)</a:t>
            </a:r>
            <a:endParaRPr lang="pt-BR" sz="36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FA66A75-51EA-C486-A6E2-DC297CC6BF43}"/>
              </a:ext>
            </a:extLst>
          </p:cNvPr>
          <p:cNvSpPr txBox="1"/>
          <p:nvPr/>
        </p:nvSpPr>
        <p:spPr>
          <a:xfrm>
            <a:off x="2623038" y="1231104"/>
            <a:ext cx="69459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/>
              <a:t>Criação</a:t>
            </a:r>
            <a:r>
              <a:rPr lang="en-US" sz="3200" dirty="0"/>
              <a:t> do </a:t>
            </a:r>
            <a:r>
              <a:rPr lang="en-US" sz="3200" dirty="0" err="1"/>
              <a:t>Usuário</a:t>
            </a:r>
            <a:r>
              <a:rPr lang="en-US" sz="3200" dirty="0"/>
              <a:t> (Pode ser </a:t>
            </a:r>
            <a:r>
              <a:rPr lang="en-US" sz="3200" dirty="0" err="1"/>
              <a:t>feita</a:t>
            </a:r>
            <a:r>
              <a:rPr lang="en-US" sz="3200" dirty="0"/>
              <a:t> antes)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DC9C14B-96BC-F34B-63DF-0C85F8D9E310}"/>
              </a:ext>
            </a:extLst>
          </p:cNvPr>
          <p:cNvSpPr txBox="1"/>
          <p:nvPr/>
        </p:nvSpPr>
        <p:spPr>
          <a:xfrm>
            <a:off x="958362" y="2180492"/>
            <a:ext cx="1055076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CREATE ROLE ‘</a:t>
            </a:r>
            <a:r>
              <a:rPr lang="pt-BR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nomeRole</a:t>
            </a:r>
            <a:r>
              <a:rPr lang="pt-B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’;</a:t>
            </a:r>
          </a:p>
          <a:p>
            <a:pPr algn="ctr"/>
            <a:endParaRPr lang="pt-BR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GRANT [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comandos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] ON [database].[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tabela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] TO ‘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nomeRole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’;</a:t>
            </a:r>
          </a:p>
          <a:p>
            <a:pPr algn="ctr"/>
            <a:endParaRPr lang="en-US" sz="2800" dirty="0"/>
          </a:p>
          <a:p>
            <a:pPr algn="ctr"/>
            <a:r>
              <a:rPr lang="en-US" sz="2800" dirty="0">
                <a:solidFill>
                  <a:srgbClr val="0070C0"/>
                </a:solidFill>
              </a:rPr>
              <a:t>CREATE USER ‘</a:t>
            </a:r>
            <a:r>
              <a:rPr lang="en-US" sz="2800" dirty="0" err="1">
                <a:solidFill>
                  <a:srgbClr val="0070C0"/>
                </a:solidFill>
              </a:rPr>
              <a:t>nomeUsuario</a:t>
            </a:r>
            <a:r>
              <a:rPr lang="en-US" sz="2800" dirty="0">
                <a:solidFill>
                  <a:srgbClr val="0070C0"/>
                </a:solidFill>
              </a:rPr>
              <a:t>’@’</a:t>
            </a:r>
            <a:r>
              <a:rPr lang="en-US" sz="2800" dirty="0" err="1">
                <a:solidFill>
                  <a:srgbClr val="0070C0"/>
                </a:solidFill>
              </a:rPr>
              <a:t>ip</a:t>
            </a:r>
            <a:r>
              <a:rPr lang="en-US" sz="2800" dirty="0">
                <a:solidFill>
                  <a:srgbClr val="0070C0"/>
                </a:solidFill>
              </a:rPr>
              <a:t>’ IDENTIFIED BY ‘</a:t>
            </a:r>
            <a:r>
              <a:rPr lang="en-US" sz="2800" dirty="0" err="1">
                <a:solidFill>
                  <a:srgbClr val="0070C0"/>
                </a:solidFill>
              </a:rPr>
              <a:t>senha</a:t>
            </a:r>
            <a:r>
              <a:rPr lang="en-US" sz="2800" dirty="0">
                <a:solidFill>
                  <a:srgbClr val="0070C0"/>
                </a:solidFill>
              </a:rPr>
              <a:t>’;</a:t>
            </a:r>
          </a:p>
          <a:p>
            <a:pPr algn="ctr"/>
            <a:endParaRPr lang="en-US" sz="2800" dirty="0"/>
          </a:p>
          <a:p>
            <a:pPr algn="ctr"/>
            <a:r>
              <a:rPr lang="it-IT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GRANT ‘nomeRole’ TO ‘nomeUsuario’@’ip’;</a:t>
            </a:r>
          </a:p>
          <a:p>
            <a:pPr algn="ctr"/>
            <a:endParaRPr lang="it-IT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pt-B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SET DEFAULT ROLE ‘</a:t>
            </a:r>
            <a:r>
              <a:rPr lang="pt-BR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nomeRole</a:t>
            </a:r>
            <a:r>
              <a:rPr lang="pt-B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’ TO ‘</a:t>
            </a:r>
            <a:r>
              <a:rPr lang="pt-BR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nomeUsuario</a:t>
            </a:r>
            <a:r>
              <a:rPr lang="pt-B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’@’</a:t>
            </a:r>
            <a:r>
              <a:rPr lang="pt-BR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</a:t>
            </a:r>
            <a:r>
              <a:rPr lang="pt-B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’;</a:t>
            </a:r>
          </a:p>
        </p:txBody>
      </p:sp>
    </p:spTree>
    <p:extLst>
      <p:ext uri="{BB962C8B-B14F-4D97-AF65-F5344CB8AC3E}">
        <p14:creationId xmlns:p14="http://schemas.microsoft.com/office/powerpoint/2010/main" val="1682615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52CE3-FFAA-EDB7-3945-B60351316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AE126FF-5C87-956F-62B6-461A3E4B1C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546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41BE82BB-9E97-489B-5916-586B1B49BB81}"/>
              </a:ext>
            </a:extLst>
          </p:cNvPr>
          <p:cNvSpPr txBox="1"/>
          <p:nvPr/>
        </p:nvSpPr>
        <p:spPr>
          <a:xfrm>
            <a:off x="4806553" y="220160"/>
            <a:ext cx="2455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Role (Papel)</a:t>
            </a:r>
            <a:endParaRPr lang="pt-BR" sz="36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CA56568-B99E-17BD-B877-A0B2024B18C7}"/>
              </a:ext>
            </a:extLst>
          </p:cNvPr>
          <p:cNvSpPr txBox="1"/>
          <p:nvPr/>
        </p:nvSpPr>
        <p:spPr>
          <a:xfrm>
            <a:off x="3489079" y="1231104"/>
            <a:ext cx="50907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/>
              <a:t>Associação</a:t>
            </a:r>
            <a:r>
              <a:rPr lang="en-US" sz="3200" dirty="0"/>
              <a:t> do </a:t>
            </a:r>
            <a:r>
              <a:rPr lang="en-US" sz="3200" dirty="0" err="1"/>
              <a:t>Usuário</a:t>
            </a:r>
            <a:r>
              <a:rPr lang="en-US" sz="3200" dirty="0"/>
              <a:t> à Role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24872A9-94AA-52D6-D2AD-A38B2DB86F3D}"/>
              </a:ext>
            </a:extLst>
          </p:cNvPr>
          <p:cNvSpPr txBox="1"/>
          <p:nvPr/>
        </p:nvSpPr>
        <p:spPr>
          <a:xfrm>
            <a:off x="958362" y="2180492"/>
            <a:ext cx="1055076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CREATE ROLE ‘</a:t>
            </a:r>
            <a:r>
              <a:rPr lang="pt-BR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nomeRole</a:t>
            </a:r>
            <a:r>
              <a:rPr lang="pt-B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’;</a:t>
            </a:r>
          </a:p>
          <a:p>
            <a:pPr algn="ctr"/>
            <a:endParaRPr lang="pt-BR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GRANT [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comandos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] ON [database].[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tabela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] TO ‘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nomeRole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’;</a:t>
            </a:r>
          </a:p>
          <a:p>
            <a:pPr algn="ctr"/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CREATE USER ‘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nomeUsuario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’@’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’ IDENTIFIED BY ‘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senha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’;</a:t>
            </a:r>
          </a:p>
          <a:p>
            <a:pPr algn="ctr"/>
            <a:endParaRPr lang="en-US" sz="2800" dirty="0"/>
          </a:p>
          <a:p>
            <a:pPr algn="ctr"/>
            <a:r>
              <a:rPr lang="it-IT" sz="2800" dirty="0">
                <a:solidFill>
                  <a:srgbClr val="0070C0"/>
                </a:solidFill>
              </a:rPr>
              <a:t>GRANT ‘nomeRole’ TO ‘nomeUsuario’@’ip’;</a:t>
            </a:r>
          </a:p>
          <a:p>
            <a:pPr algn="ctr"/>
            <a:endParaRPr lang="it-IT" sz="2800" dirty="0"/>
          </a:p>
          <a:p>
            <a:pPr algn="ctr"/>
            <a:r>
              <a:rPr lang="pt-B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SET DEFAULT ROLE ‘</a:t>
            </a:r>
            <a:r>
              <a:rPr lang="pt-BR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nomeRole</a:t>
            </a:r>
            <a:r>
              <a:rPr lang="pt-B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’ TO ‘</a:t>
            </a:r>
            <a:r>
              <a:rPr lang="pt-BR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nomeUsuario</a:t>
            </a:r>
            <a:r>
              <a:rPr lang="pt-B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’@’</a:t>
            </a:r>
            <a:r>
              <a:rPr lang="pt-BR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</a:t>
            </a:r>
            <a:r>
              <a:rPr lang="pt-B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’;</a:t>
            </a:r>
          </a:p>
        </p:txBody>
      </p:sp>
    </p:spTree>
    <p:extLst>
      <p:ext uri="{BB962C8B-B14F-4D97-AF65-F5344CB8AC3E}">
        <p14:creationId xmlns:p14="http://schemas.microsoft.com/office/powerpoint/2010/main" val="24313957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2C12F-71A8-8151-2DF3-B49CBFC09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7541C9A-D5F6-A353-650A-E0151F4138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546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42572A47-60FE-AD19-7676-EE935C7D51CB}"/>
              </a:ext>
            </a:extLst>
          </p:cNvPr>
          <p:cNvSpPr txBox="1"/>
          <p:nvPr/>
        </p:nvSpPr>
        <p:spPr>
          <a:xfrm>
            <a:off x="4806553" y="220160"/>
            <a:ext cx="2455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Role (Papel)</a:t>
            </a:r>
            <a:endParaRPr lang="pt-BR" sz="36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8AD5291-14C8-B893-0DE9-B885558E0AC9}"/>
              </a:ext>
            </a:extLst>
          </p:cNvPr>
          <p:cNvSpPr txBox="1"/>
          <p:nvPr/>
        </p:nvSpPr>
        <p:spPr>
          <a:xfrm>
            <a:off x="618392" y="1231104"/>
            <a:ext cx="109552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/>
              <a:t>Definição</a:t>
            </a:r>
            <a:r>
              <a:rPr lang="en-US" sz="3200" dirty="0"/>
              <a:t> da Role </a:t>
            </a:r>
            <a:r>
              <a:rPr lang="en-US" sz="3200" dirty="0" err="1"/>
              <a:t>Padrão</a:t>
            </a:r>
            <a:r>
              <a:rPr lang="en-US" sz="3200" dirty="0"/>
              <a:t> para </a:t>
            </a:r>
            <a:r>
              <a:rPr lang="en-US" sz="3200" dirty="0" err="1"/>
              <a:t>evitar</a:t>
            </a:r>
            <a:r>
              <a:rPr lang="en-US" sz="3200" dirty="0"/>
              <a:t> </a:t>
            </a:r>
            <a:r>
              <a:rPr lang="en-US" sz="3200" dirty="0" err="1"/>
              <a:t>erros</a:t>
            </a:r>
            <a:endParaRPr lang="en-US" sz="32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26B775B-08EF-D5DB-C26D-46931395FB38}"/>
              </a:ext>
            </a:extLst>
          </p:cNvPr>
          <p:cNvSpPr txBox="1"/>
          <p:nvPr/>
        </p:nvSpPr>
        <p:spPr>
          <a:xfrm>
            <a:off x="958362" y="2180492"/>
            <a:ext cx="1055076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CREATE ROLE ‘</a:t>
            </a:r>
            <a:r>
              <a:rPr lang="pt-BR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nomeRole</a:t>
            </a:r>
            <a:r>
              <a:rPr lang="pt-B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’;</a:t>
            </a:r>
          </a:p>
          <a:p>
            <a:pPr algn="ctr"/>
            <a:endParaRPr lang="pt-BR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GRANT [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comandos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] ON [database].[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tabela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] TO ‘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nomeRole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’;</a:t>
            </a:r>
          </a:p>
          <a:p>
            <a:pPr algn="ctr"/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CREATE USER ‘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nomeUsuario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’@’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’ IDENTIFIED BY ‘</a:t>
            </a:r>
            <a:r>
              <a:rPr lang="en-US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senha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’;</a:t>
            </a:r>
          </a:p>
          <a:p>
            <a:pPr algn="ctr"/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it-IT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GRANT ‘nomeRole’ TO ‘nomeUsuario’@’ip’;</a:t>
            </a:r>
          </a:p>
          <a:p>
            <a:pPr algn="ctr"/>
            <a:endParaRPr lang="it-IT" sz="2800" dirty="0"/>
          </a:p>
          <a:p>
            <a:pPr algn="ctr"/>
            <a:r>
              <a:rPr lang="pt-BR" sz="2800" dirty="0">
                <a:solidFill>
                  <a:srgbClr val="0070C0"/>
                </a:solidFill>
              </a:rPr>
              <a:t>SET DEFAULT ROLE ‘</a:t>
            </a:r>
            <a:r>
              <a:rPr lang="pt-BR" sz="2800" dirty="0" err="1">
                <a:solidFill>
                  <a:srgbClr val="0070C0"/>
                </a:solidFill>
              </a:rPr>
              <a:t>nomeRole</a:t>
            </a:r>
            <a:r>
              <a:rPr lang="pt-BR" sz="2800" dirty="0">
                <a:solidFill>
                  <a:srgbClr val="0070C0"/>
                </a:solidFill>
              </a:rPr>
              <a:t>’ TO ‘</a:t>
            </a:r>
            <a:r>
              <a:rPr lang="pt-BR" sz="2800" dirty="0" err="1">
                <a:solidFill>
                  <a:srgbClr val="0070C0"/>
                </a:solidFill>
              </a:rPr>
              <a:t>nomeUsuario</a:t>
            </a:r>
            <a:r>
              <a:rPr lang="pt-BR" sz="2800" dirty="0">
                <a:solidFill>
                  <a:srgbClr val="0070C0"/>
                </a:solidFill>
              </a:rPr>
              <a:t>’@’</a:t>
            </a:r>
            <a:r>
              <a:rPr lang="pt-BR" sz="2800" dirty="0" err="1">
                <a:solidFill>
                  <a:srgbClr val="0070C0"/>
                </a:solidFill>
              </a:rPr>
              <a:t>ip</a:t>
            </a:r>
            <a:r>
              <a:rPr lang="pt-BR" sz="2800" dirty="0">
                <a:solidFill>
                  <a:srgbClr val="0070C0"/>
                </a:solidFill>
              </a:rPr>
              <a:t>’;</a:t>
            </a:r>
          </a:p>
        </p:txBody>
      </p:sp>
    </p:spTree>
    <p:extLst>
      <p:ext uri="{BB962C8B-B14F-4D97-AF65-F5344CB8AC3E}">
        <p14:creationId xmlns:p14="http://schemas.microsoft.com/office/powerpoint/2010/main" val="37417379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51228-7393-0AED-D026-1C1B31BEF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626665B-3842-854D-4353-602031C8FB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546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4F5B659-D243-D9F8-6773-3F41AD3C8D37}"/>
              </a:ext>
            </a:extLst>
          </p:cNvPr>
          <p:cNvSpPr txBox="1"/>
          <p:nvPr/>
        </p:nvSpPr>
        <p:spPr>
          <a:xfrm>
            <a:off x="5241770" y="225637"/>
            <a:ext cx="1708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Relação</a:t>
            </a:r>
            <a:endParaRPr lang="pt-BR" sz="3600" dirty="0"/>
          </a:p>
        </p:txBody>
      </p:sp>
      <p:pic>
        <p:nvPicPr>
          <p:cNvPr id="1030" name="Picture 6" descr="Design PNG E SVG De Ícone De Curso Da Ponte 09 Para Camisetas">
            <a:extLst>
              <a:ext uri="{FF2B5EF4-FFF2-40B4-BE49-F238E27FC236}">
                <a16:creationId xmlns:a16="http://schemas.microsoft.com/office/drawing/2014/main" id="{1801145F-1C91-FD76-BC32-BA894C84A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9181" y="1456592"/>
            <a:ext cx="3613638" cy="3613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O perfil completo de um DBA - Administrador de Banco de Dados!">
            <a:extLst>
              <a:ext uri="{FF2B5EF4-FFF2-40B4-BE49-F238E27FC236}">
                <a16:creationId xmlns:a16="http://schemas.microsoft.com/office/drawing/2014/main" id="{093E9181-4EDF-9980-E09D-371077970B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522" y="2537680"/>
            <a:ext cx="3422229" cy="1782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ícone Da Equipe De Segurança Ilustração do Vetor - Ilustração de equipe,  protetor: 274945186">
            <a:extLst>
              <a:ext uri="{FF2B5EF4-FFF2-40B4-BE49-F238E27FC236}">
                <a16:creationId xmlns:a16="http://schemas.microsoft.com/office/drawing/2014/main" id="{D4FB4C17-E6B2-9434-FCC2-AB33DD80E6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137" y="2169319"/>
            <a:ext cx="2519362" cy="2519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5982AA7-38E6-54C2-BD25-BE3AC0F6A423}"/>
              </a:ext>
            </a:extLst>
          </p:cNvPr>
          <p:cNvSpPr txBox="1"/>
          <p:nvPr/>
        </p:nvSpPr>
        <p:spPr>
          <a:xfrm>
            <a:off x="483577" y="4320320"/>
            <a:ext cx="31124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Equipe de Segurança da Informação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F2FB9E0-34B6-4D84-60A1-E6D78B0F7256}"/>
              </a:ext>
            </a:extLst>
          </p:cNvPr>
          <p:cNvSpPr txBox="1"/>
          <p:nvPr/>
        </p:nvSpPr>
        <p:spPr>
          <a:xfrm>
            <a:off x="9708905" y="4458819"/>
            <a:ext cx="615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DBA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C3166C6F-5A0B-44E9-2F0C-D6E30F0CE2C7}"/>
              </a:ext>
            </a:extLst>
          </p:cNvPr>
          <p:cNvCxnSpPr/>
          <p:nvPr/>
        </p:nvCxnSpPr>
        <p:spPr>
          <a:xfrm>
            <a:off x="2039815" y="4966651"/>
            <a:ext cx="0" cy="818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639AB5B-1501-D07B-8B9B-FE0DBDB781B7}"/>
              </a:ext>
            </a:extLst>
          </p:cNvPr>
          <p:cNvSpPr txBox="1"/>
          <p:nvPr/>
        </p:nvSpPr>
        <p:spPr>
          <a:xfrm>
            <a:off x="764931" y="5978769"/>
            <a:ext cx="25321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Define quem pode acessar</a:t>
            </a: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AA450CA0-8B6C-10F2-3959-E337302670C2}"/>
              </a:ext>
            </a:extLst>
          </p:cNvPr>
          <p:cNvCxnSpPr>
            <a:stCxn id="7" idx="2"/>
          </p:cNvCxnSpPr>
          <p:nvPr/>
        </p:nvCxnSpPr>
        <p:spPr>
          <a:xfrm>
            <a:off x="10016636" y="4828151"/>
            <a:ext cx="6595" cy="957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8EFC988-1686-CA77-8F3D-4010F37C430A}"/>
              </a:ext>
            </a:extLst>
          </p:cNvPr>
          <p:cNvSpPr txBox="1"/>
          <p:nvPr/>
        </p:nvSpPr>
        <p:spPr>
          <a:xfrm>
            <a:off x="9219835" y="5831504"/>
            <a:ext cx="1606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Usa os comandos DCL</a:t>
            </a:r>
          </a:p>
        </p:txBody>
      </p:sp>
    </p:spTree>
    <p:extLst>
      <p:ext uri="{BB962C8B-B14F-4D97-AF65-F5344CB8AC3E}">
        <p14:creationId xmlns:p14="http://schemas.microsoft.com/office/powerpoint/2010/main" val="8888383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3B772-D3DF-293E-F478-83752B56E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AF32267-F020-1340-2460-DA57BB1A53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546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9300A1D6-2EB4-CD0E-3C4B-32296BE5B095}"/>
              </a:ext>
            </a:extLst>
          </p:cNvPr>
          <p:cNvSpPr txBox="1"/>
          <p:nvPr/>
        </p:nvSpPr>
        <p:spPr>
          <a:xfrm>
            <a:off x="2873275" y="250093"/>
            <a:ext cx="6445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/>
              <a:t>Máscara</a:t>
            </a:r>
            <a:r>
              <a:rPr lang="en-US" sz="3600" dirty="0"/>
              <a:t> de Dados e Auditoria</a:t>
            </a:r>
            <a:endParaRPr lang="pt-BR" sz="36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E56FBF3-E67A-BD78-9884-D5F93EECD1D1}"/>
              </a:ext>
            </a:extLst>
          </p:cNvPr>
          <p:cNvSpPr txBox="1"/>
          <p:nvPr/>
        </p:nvSpPr>
        <p:spPr>
          <a:xfrm>
            <a:off x="2385192" y="5179958"/>
            <a:ext cx="1492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Data </a:t>
            </a:r>
            <a:r>
              <a:rPr lang="pt-BR" dirty="0" err="1"/>
              <a:t>Masking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24BC821-9AEA-D6AF-7C88-1AA079CFC008}"/>
              </a:ext>
            </a:extLst>
          </p:cNvPr>
          <p:cNvSpPr txBox="1"/>
          <p:nvPr/>
        </p:nvSpPr>
        <p:spPr>
          <a:xfrm>
            <a:off x="7473306" y="5179958"/>
            <a:ext cx="2523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Auditoria DCL – Audit.log</a:t>
            </a:r>
          </a:p>
        </p:txBody>
      </p:sp>
      <p:pic>
        <p:nvPicPr>
          <p:cNvPr id="2050" name="Picture 2" descr="What is Data Masking">
            <a:extLst>
              <a:ext uri="{FF2B5EF4-FFF2-40B4-BE49-F238E27FC236}">
                <a16:creationId xmlns:a16="http://schemas.microsoft.com/office/drawing/2014/main" id="{9B6189EB-89B4-829A-846D-697A3C2B1A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695" y="2201382"/>
            <a:ext cx="5273060" cy="2646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lustração de personagem de desenho vetorial gráfico de auditoria | Vetor  Premium">
            <a:extLst>
              <a:ext uri="{FF2B5EF4-FFF2-40B4-BE49-F238E27FC236}">
                <a16:creationId xmlns:a16="http://schemas.microsoft.com/office/drawing/2014/main" id="{068A1B3E-4EC7-F294-D919-A2C6B72D6F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8550" y="1872395"/>
            <a:ext cx="3113210" cy="3113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47431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E7AEA-3DDD-6D7B-F26B-1A656BFC2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7643823-9693-7AF1-9E06-4DEFF57D3E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546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04852F72-A595-2FD8-EA2D-F81CCEB5F826}"/>
              </a:ext>
            </a:extLst>
          </p:cNvPr>
          <p:cNvSpPr txBox="1"/>
          <p:nvPr/>
        </p:nvSpPr>
        <p:spPr>
          <a:xfrm>
            <a:off x="4258969" y="221775"/>
            <a:ext cx="30175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RDBMS + LGPD</a:t>
            </a:r>
            <a:endParaRPr lang="pt-BR" sz="36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30FEC87-42D6-952A-14D6-F40D05520E91}"/>
              </a:ext>
            </a:extLst>
          </p:cNvPr>
          <p:cNvSpPr txBox="1"/>
          <p:nvPr/>
        </p:nvSpPr>
        <p:spPr>
          <a:xfrm>
            <a:off x="703385" y="1257300"/>
            <a:ext cx="7086600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/>
              <a:t>Criptografia</a:t>
            </a:r>
          </a:p>
          <a:p>
            <a:endParaRPr lang="pt-BR" sz="3200" dirty="0"/>
          </a:p>
          <a:p>
            <a:pPr algn="ctr"/>
            <a:r>
              <a:rPr lang="pt-BR" sz="2000" dirty="0"/>
              <a:t>Segurança das Informações por manipulação de dados e backups</a:t>
            </a:r>
          </a:p>
          <a:p>
            <a:pPr marL="342900" indent="-342900">
              <a:buFontTx/>
              <a:buChar char="-"/>
            </a:pPr>
            <a:endParaRPr lang="pt-BR" sz="2000" dirty="0"/>
          </a:p>
          <a:p>
            <a:r>
              <a:rPr lang="pt-BR" sz="2400" dirty="0"/>
              <a:t>Tipos de Criptografia</a:t>
            </a:r>
          </a:p>
          <a:p>
            <a:endParaRPr lang="pt-BR" sz="2400" dirty="0"/>
          </a:p>
          <a:p>
            <a:pPr marL="342900" indent="-342900">
              <a:buFontTx/>
              <a:buChar char="-"/>
            </a:pPr>
            <a:r>
              <a:rPr lang="pt-BR" sz="2400" dirty="0"/>
              <a:t>At </a:t>
            </a:r>
            <a:r>
              <a:rPr lang="pt-BR" sz="2400" dirty="0" err="1"/>
              <a:t>Rest</a:t>
            </a:r>
            <a:r>
              <a:rPr lang="pt-BR" sz="2400" dirty="0"/>
              <a:t>: </a:t>
            </a:r>
            <a:r>
              <a:rPr lang="pt-BR" dirty="0"/>
              <a:t>Proteção de dados físicos (como arquivos MySQL) por meio da conversão deles em um código ilegível;</a:t>
            </a:r>
            <a:endParaRPr lang="pt-BR" sz="2400" dirty="0"/>
          </a:p>
          <a:p>
            <a:pPr marL="342900" indent="-342900">
              <a:buFontTx/>
              <a:buChar char="-"/>
            </a:pPr>
            <a:endParaRPr lang="pt-BR" sz="2400" dirty="0"/>
          </a:p>
          <a:p>
            <a:pPr marL="342900" indent="-342900">
              <a:buFontTx/>
              <a:buChar char="-"/>
            </a:pPr>
            <a:r>
              <a:rPr lang="pt-BR" sz="2400" dirty="0"/>
              <a:t>In Transit: </a:t>
            </a:r>
            <a:r>
              <a:rPr lang="pt-BR" dirty="0"/>
              <a:t>Proteção de dados enquanto são transferidos entre redes, dispositivos ou servidores , utilizando protocolos como SSL/TLS para impedir interceptação.</a:t>
            </a:r>
            <a:endParaRPr lang="pt-BR" sz="2400" dirty="0"/>
          </a:p>
        </p:txBody>
      </p:sp>
      <p:pic>
        <p:nvPicPr>
          <p:cNvPr id="3074" name="Picture 2" descr="Compreendendo a Criptografia de Dados: Dados em Repouso, Em Trânsito, Em Uso">
            <a:extLst>
              <a:ext uri="{FF2B5EF4-FFF2-40B4-BE49-F238E27FC236}">
                <a16:creationId xmlns:a16="http://schemas.microsoft.com/office/drawing/2014/main" id="{3BB80873-F3B7-2EEC-0358-47E55F75B7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2708" y="4041561"/>
            <a:ext cx="3555023" cy="198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O que é Criptografia de Dados? Definição, Tipos e Práticas Recomendadas -  Kinsta®">
            <a:extLst>
              <a:ext uri="{FF2B5EF4-FFF2-40B4-BE49-F238E27FC236}">
                <a16:creationId xmlns:a16="http://schemas.microsoft.com/office/drawing/2014/main" id="{FFCA994E-0D56-8953-7D83-D3A739CCA9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9985" y="1653522"/>
            <a:ext cx="3946645" cy="1759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80780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50C98-6F1C-7C70-6881-B02A00988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17052D6-932C-5B21-EC00-B89D65EB89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546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06CC69D8-AEDF-90CB-2AA4-75372D12C35A}"/>
              </a:ext>
            </a:extLst>
          </p:cNvPr>
          <p:cNvSpPr txBox="1"/>
          <p:nvPr/>
        </p:nvSpPr>
        <p:spPr>
          <a:xfrm>
            <a:off x="4172230" y="183832"/>
            <a:ext cx="38475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USER x ROLE x DBA</a:t>
            </a:r>
            <a:endParaRPr lang="pt-BR" sz="36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1419E76-BEA4-4941-892F-46BCEAC4DE6F}"/>
              </a:ext>
            </a:extLst>
          </p:cNvPr>
          <p:cNvSpPr txBox="1"/>
          <p:nvPr/>
        </p:nvSpPr>
        <p:spPr>
          <a:xfrm>
            <a:off x="703385" y="1257300"/>
            <a:ext cx="599427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/>
              <a:t>User (Usuário)</a:t>
            </a:r>
          </a:p>
          <a:p>
            <a:pPr marL="285750" indent="-285750">
              <a:buFontTx/>
              <a:buChar char="-"/>
            </a:pPr>
            <a:r>
              <a:rPr lang="pt-BR" dirty="0"/>
              <a:t>Representa a conta de acesso (Identidade);</a:t>
            </a:r>
          </a:p>
          <a:p>
            <a:pPr marL="285750" indent="-285750">
              <a:buFontTx/>
              <a:buChar char="-"/>
            </a:pPr>
            <a:r>
              <a:rPr lang="pt-BR" dirty="0"/>
              <a:t>Função: Identificar a pessoa/sistema.</a:t>
            </a:r>
          </a:p>
          <a:p>
            <a:pPr marL="285750" indent="-285750">
              <a:buFontTx/>
              <a:buChar char="-"/>
            </a:pPr>
            <a:endParaRPr lang="pt-BR" sz="2400" dirty="0"/>
          </a:p>
          <a:p>
            <a:pPr marL="285750" indent="-285750">
              <a:buFontTx/>
              <a:buChar char="-"/>
            </a:pPr>
            <a:endParaRPr lang="pt-BR" sz="2400" dirty="0"/>
          </a:p>
          <a:p>
            <a:r>
              <a:rPr lang="pt-BR" sz="3200" dirty="0"/>
              <a:t>Role (Função)</a:t>
            </a:r>
          </a:p>
          <a:p>
            <a:pPr marL="285750" indent="-285750">
              <a:buFontTx/>
              <a:buChar char="-"/>
            </a:pPr>
            <a:r>
              <a:rPr lang="pt-BR" dirty="0"/>
              <a:t>Representa o “contêiner” de permissões dos usuários;</a:t>
            </a:r>
          </a:p>
          <a:p>
            <a:pPr marL="285750" indent="-285750">
              <a:buFontTx/>
              <a:buChar char="-"/>
            </a:pPr>
            <a:r>
              <a:rPr lang="pt-BR" dirty="0"/>
              <a:t>Função: Organizar permissões por cargo;</a:t>
            </a:r>
          </a:p>
          <a:p>
            <a:pPr marL="285750" indent="-285750">
              <a:buFontTx/>
              <a:buChar char="-"/>
            </a:pPr>
            <a:r>
              <a:rPr lang="pt-BR" dirty="0"/>
              <a:t>Usuários em comum fazem parte de um papel em comum.</a:t>
            </a:r>
          </a:p>
          <a:p>
            <a:pPr marL="285750" indent="-285750">
              <a:buFontTx/>
              <a:buChar char="-"/>
            </a:pPr>
            <a:endParaRPr lang="pt-BR" dirty="0"/>
          </a:p>
          <a:p>
            <a:pPr marL="285750" indent="-285750">
              <a:buFontTx/>
              <a:buChar char="-"/>
            </a:pPr>
            <a:endParaRPr lang="pt-BR" dirty="0"/>
          </a:p>
          <a:p>
            <a:r>
              <a:rPr lang="pt-BR" sz="3200" dirty="0"/>
              <a:t>DBA (</a:t>
            </a:r>
            <a:r>
              <a:rPr lang="pt-BR" sz="3200" dirty="0" err="1"/>
              <a:t>Database</a:t>
            </a:r>
            <a:r>
              <a:rPr lang="pt-BR" sz="3200" dirty="0"/>
              <a:t> Admin)</a:t>
            </a:r>
          </a:p>
          <a:p>
            <a:pPr marL="285750" indent="-285750">
              <a:buFontTx/>
              <a:buChar char="-"/>
            </a:pPr>
            <a:r>
              <a:rPr lang="pt-BR" dirty="0"/>
              <a:t>É mais do que simplesmente um usuário, representa o profissional por trás do gerenciamento do Banco de dados como um todo;</a:t>
            </a:r>
          </a:p>
          <a:p>
            <a:pPr marL="285750" indent="-285750">
              <a:buFontTx/>
              <a:buChar char="-"/>
            </a:pPr>
            <a:r>
              <a:rPr lang="pt-BR" dirty="0"/>
              <a:t>Função: Administrar a infraestrutura e segurança.</a:t>
            </a:r>
          </a:p>
          <a:p>
            <a:endParaRPr lang="pt-BR" dirty="0"/>
          </a:p>
        </p:txBody>
      </p:sp>
      <p:pic>
        <p:nvPicPr>
          <p:cNvPr id="4098" name="Picture 2" descr="Você sabe qual a importância de um DBA em seu projeto? - Arbit">
            <a:extLst>
              <a:ext uri="{FF2B5EF4-FFF2-40B4-BE49-F238E27FC236}">
                <a16:creationId xmlns:a16="http://schemas.microsoft.com/office/drawing/2014/main" id="{2B7C63E5-ACAE-8D66-FB9C-C47BA22F77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6423" y="4988419"/>
            <a:ext cx="2955070" cy="1664177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SQL Developer Job Description: Role, Skills, Salary &amp; More - CoderPad">
            <a:extLst>
              <a:ext uri="{FF2B5EF4-FFF2-40B4-BE49-F238E27FC236}">
                <a16:creationId xmlns:a16="http://schemas.microsoft.com/office/drawing/2014/main" id="{0490DE8A-25FA-51B3-85CB-96AD675AC0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9123" y="2832620"/>
            <a:ext cx="2816469" cy="1878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4CB75E83-1403-5F5E-907F-AE29F18A797C}"/>
              </a:ext>
            </a:extLst>
          </p:cNvPr>
          <p:cNvCxnSpPr/>
          <p:nvPr/>
        </p:nvCxnSpPr>
        <p:spPr>
          <a:xfrm>
            <a:off x="703385" y="2734408"/>
            <a:ext cx="1089366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232B4880-0DD4-764F-B9F7-FD8E7DEA25B9}"/>
              </a:ext>
            </a:extLst>
          </p:cNvPr>
          <p:cNvCxnSpPr/>
          <p:nvPr/>
        </p:nvCxnSpPr>
        <p:spPr>
          <a:xfrm>
            <a:off x="703385" y="4783015"/>
            <a:ext cx="1089366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02" name="Picture 6" descr="3.000+ Cientista De Dados Ilustração de stock, gráficos vetoriais e clipart  royalty-free - iStock">
            <a:extLst>
              <a:ext uri="{FF2B5EF4-FFF2-40B4-BE49-F238E27FC236}">
                <a16:creationId xmlns:a16="http://schemas.microsoft.com/office/drawing/2014/main" id="{3FB4BF8E-008C-1EC7-7386-AFEF1B3EAB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4195" y="1063159"/>
            <a:ext cx="4001397" cy="1582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41421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2D139-FCA3-7A77-170A-9C7BD6F09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35B40CF-27D2-5913-E42F-18006945F7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m 3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FC82F101-46D0-6AFC-72F6-2E9AECB00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901" y="331795"/>
            <a:ext cx="2870600" cy="2152950"/>
          </a:xfrm>
          <a:prstGeom prst="rect">
            <a:avLst/>
          </a:prstGeom>
        </p:spPr>
      </p:pic>
      <p:pic>
        <p:nvPicPr>
          <p:cNvPr id="7" name="Imagem 6" descr="Tabela&#10;&#10;O conteúdo gerado por IA pode estar incorreto.">
            <a:extLst>
              <a:ext uri="{FF2B5EF4-FFF2-40B4-BE49-F238E27FC236}">
                <a16:creationId xmlns:a16="http://schemas.microsoft.com/office/drawing/2014/main" id="{7B76D030-F957-6AEC-A976-EBD91BFF1A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901" y="3812049"/>
            <a:ext cx="2838846" cy="2152950"/>
          </a:xfrm>
          <a:prstGeom prst="rect">
            <a:avLst/>
          </a:prstGeom>
        </p:spPr>
      </p:pic>
      <p:pic>
        <p:nvPicPr>
          <p:cNvPr id="9" name="Imagem 8" descr="Interface gráfica do usuário, Texto, Aplicativo, Email&#10;&#10;O conteúdo gerado por IA pode estar incorreto.">
            <a:extLst>
              <a:ext uri="{FF2B5EF4-FFF2-40B4-BE49-F238E27FC236}">
                <a16:creationId xmlns:a16="http://schemas.microsoft.com/office/drawing/2014/main" id="{2D401DA5-AE98-01C4-4556-A99BC22558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4402" y="1564511"/>
            <a:ext cx="6375347" cy="3728977"/>
          </a:xfrm>
          <a:prstGeom prst="rect">
            <a:avLst/>
          </a:prstGeom>
        </p:spPr>
      </p:pic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5D3D6BF2-05FB-B581-144B-1B79375C1B63}"/>
              </a:ext>
            </a:extLst>
          </p:cNvPr>
          <p:cNvSpPr/>
          <p:nvPr/>
        </p:nvSpPr>
        <p:spPr>
          <a:xfrm>
            <a:off x="1301262" y="1204546"/>
            <a:ext cx="2004646" cy="325316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B338F0C-9321-CC9E-AB82-B33302CA6C1D}"/>
              </a:ext>
            </a:extLst>
          </p:cNvPr>
          <p:cNvSpPr/>
          <p:nvPr/>
        </p:nvSpPr>
        <p:spPr>
          <a:xfrm>
            <a:off x="1186032" y="5521569"/>
            <a:ext cx="2119876" cy="263769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F2E96E51-6609-462F-226F-ABF13AAA66BA}"/>
              </a:ext>
            </a:extLst>
          </p:cNvPr>
          <p:cNvSpPr/>
          <p:nvPr/>
        </p:nvSpPr>
        <p:spPr>
          <a:xfrm>
            <a:off x="7411915" y="1758462"/>
            <a:ext cx="967154" cy="193430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20273D6-B8B2-C003-160A-EF87F75D45C0}"/>
              </a:ext>
            </a:extLst>
          </p:cNvPr>
          <p:cNvSpPr txBox="1"/>
          <p:nvPr/>
        </p:nvSpPr>
        <p:spPr>
          <a:xfrm>
            <a:off x="6009280" y="489868"/>
            <a:ext cx="45255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/>
              <a:t>Visualização dos Usuários</a:t>
            </a:r>
          </a:p>
        </p:txBody>
      </p:sp>
    </p:spTree>
    <p:extLst>
      <p:ext uri="{BB962C8B-B14F-4D97-AF65-F5344CB8AC3E}">
        <p14:creationId xmlns:p14="http://schemas.microsoft.com/office/powerpoint/2010/main" val="22665462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A10E2-91E7-2CA5-10D1-A503A4400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F8F9171-963C-9D10-213C-2AF85B59BC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m 2" descr="Interface gráfica do usuário, Texto, Aplicativo, Email&#10;&#10;O conteúdo gerado por IA pode estar incorreto.">
            <a:extLst>
              <a:ext uri="{FF2B5EF4-FFF2-40B4-BE49-F238E27FC236}">
                <a16:creationId xmlns:a16="http://schemas.microsoft.com/office/drawing/2014/main" id="{6928AEB7-DE03-15B3-9857-8AD37D13D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203" y="647312"/>
            <a:ext cx="9983593" cy="556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847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5E472-551B-D9DD-2520-A32CBA430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197F6E7-07D1-05B5-89CE-F019D2FB9F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40B8863B-03C1-B480-A27A-28CEB6D93B9A}"/>
              </a:ext>
            </a:extLst>
          </p:cNvPr>
          <p:cNvSpPr txBox="1"/>
          <p:nvPr/>
        </p:nvSpPr>
        <p:spPr>
          <a:xfrm>
            <a:off x="5186740" y="197595"/>
            <a:ext cx="1818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Exercício</a:t>
            </a:r>
            <a:endParaRPr lang="pt-BR" sz="36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D7452A5-67B3-1276-9540-7946C46CF78B}"/>
              </a:ext>
            </a:extLst>
          </p:cNvPr>
          <p:cNvSpPr txBox="1"/>
          <p:nvPr/>
        </p:nvSpPr>
        <p:spPr>
          <a:xfrm>
            <a:off x="712177" y="1318846"/>
            <a:ext cx="688437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Voc</a:t>
            </a:r>
            <a:r>
              <a:rPr lang="pt-BR" dirty="0"/>
              <a:t>ê foi contratado para garantir a segurança do banco de dados de uma loja virtual. Considere a Tabela a Seguir:</a:t>
            </a:r>
          </a:p>
          <a:p>
            <a:pPr algn="ctr"/>
            <a:endParaRPr lang="pt-BR" dirty="0"/>
          </a:p>
          <a:p>
            <a:pPr algn="ctr"/>
            <a:r>
              <a:rPr lang="pt-BR" dirty="0"/>
              <a:t>Parte 1</a:t>
            </a:r>
          </a:p>
          <a:p>
            <a:endParaRPr lang="pt-BR" dirty="0"/>
          </a:p>
          <a:p>
            <a:r>
              <a:rPr lang="pt-BR" dirty="0"/>
              <a:t>a) Crie um usuário chamado </a:t>
            </a:r>
            <a:r>
              <a:rPr lang="pt-BR" dirty="0" err="1"/>
              <a:t>dev_junior</a:t>
            </a:r>
            <a:r>
              <a:rPr lang="pt-BR" dirty="0"/>
              <a:t> que possa acessar o banco de qualquer lugar;</a:t>
            </a:r>
          </a:p>
          <a:p>
            <a:r>
              <a:rPr lang="pt-BR" dirty="0"/>
              <a:t>b) Dê a ele a permissão de apenas leitura (</a:t>
            </a:r>
            <a:r>
              <a:rPr lang="pt-BR" dirty="0" err="1"/>
              <a:t>Select</a:t>
            </a:r>
            <a:r>
              <a:rPr lang="pt-BR" dirty="0"/>
              <a:t>) em todas as tabelas do banco ‘ecommerce’;</a:t>
            </a:r>
          </a:p>
          <a:p>
            <a:r>
              <a:rPr lang="pt-BR" dirty="0"/>
              <a:t>c) O </a:t>
            </a:r>
            <a:r>
              <a:rPr lang="pt-BR" dirty="0" err="1"/>
              <a:t>dev_junior</a:t>
            </a:r>
            <a:r>
              <a:rPr lang="pt-BR" dirty="0"/>
              <a:t> acabou sendo promovido. Dessa forma, ele agora pode inserir os dados na tabela produtos, mas não pode deletar nenhum registro;</a:t>
            </a:r>
          </a:p>
          <a:p>
            <a:r>
              <a:rPr lang="pt-BR" dirty="0"/>
              <a:t>d) Remova todas as permissões de </a:t>
            </a:r>
            <a:r>
              <a:rPr lang="pt-BR" dirty="0" err="1"/>
              <a:t>Insert</a:t>
            </a:r>
            <a:r>
              <a:rPr lang="pt-BR" dirty="0"/>
              <a:t> desse usuário;</a:t>
            </a:r>
            <a:endParaRPr lang="en-US" dirty="0"/>
          </a:p>
        </p:txBody>
      </p:sp>
      <p:pic>
        <p:nvPicPr>
          <p:cNvPr id="8" name="Picture 2" descr="Ilustração de desenhos animados de venda de compras on-line | Vetor Premium">
            <a:extLst>
              <a:ext uri="{FF2B5EF4-FFF2-40B4-BE49-F238E27FC236}">
                <a16:creationId xmlns:a16="http://schemas.microsoft.com/office/drawing/2014/main" id="{7E40F4D0-6CCB-EE1A-02D8-3303020734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7498" y="1889614"/>
            <a:ext cx="3215787" cy="3215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AAD18C0C-AF24-D0A9-A1C0-84E6648A21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0576" y="5100294"/>
            <a:ext cx="4887578" cy="1669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5587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A1AD0-752D-264F-EE88-613973DB9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8373FC8-0B19-38D9-E05C-4B8941B41A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FD7DC62D-9B7B-E220-2205-7D7840E6B6D4}"/>
              </a:ext>
            </a:extLst>
          </p:cNvPr>
          <p:cNvSpPr txBox="1"/>
          <p:nvPr/>
        </p:nvSpPr>
        <p:spPr>
          <a:xfrm>
            <a:off x="5186740" y="197595"/>
            <a:ext cx="1818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Exercício</a:t>
            </a:r>
            <a:endParaRPr lang="pt-BR" sz="3600" dirty="0"/>
          </a:p>
        </p:txBody>
      </p:sp>
      <p:pic>
        <p:nvPicPr>
          <p:cNvPr id="5122" name="Picture 2" descr="Ilustração de desenhos animados de venda de compras on-line | Vetor Premium">
            <a:extLst>
              <a:ext uri="{FF2B5EF4-FFF2-40B4-BE49-F238E27FC236}">
                <a16:creationId xmlns:a16="http://schemas.microsoft.com/office/drawing/2014/main" id="{43DD45D0-2C3B-008F-B728-33CB15B4D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7498" y="1889614"/>
            <a:ext cx="3215787" cy="3215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348F046C-54FA-578F-065B-65CDE4210C2E}"/>
              </a:ext>
            </a:extLst>
          </p:cNvPr>
          <p:cNvSpPr txBox="1"/>
          <p:nvPr/>
        </p:nvSpPr>
        <p:spPr>
          <a:xfrm>
            <a:off x="712177" y="1318846"/>
            <a:ext cx="688437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Houve</a:t>
            </a:r>
            <a:r>
              <a:rPr lang="en-US" dirty="0"/>
              <a:t> um </a:t>
            </a:r>
            <a:r>
              <a:rPr lang="en-US" dirty="0" err="1"/>
              <a:t>crescimento</a:t>
            </a:r>
            <a:r>
              <a:rPr lang="en-US" dirty="0"/>
              <a:t> </a:t>
            </a:r>
            <a:r>
              <a:rPr lang="en-US" dirty="0" err="1"/>
              <a:t>exponencial</a:t>
            </a:r>
            <a:r>
              <a:rPr lang="en-US" dirty="0"/>
              <a:t> da </a:t>
            </a:r>
            <a:r>
              <a:rPr lang="en-US" dirty="0" err="1"/>
              <a:t>empresa</a:t>
            </a:r>
            <a:r>
              <a:rPr lang="en-US" dirty="0"/>
              <a:t> e o </a:t>
            </a:r>
            <a:r>
              <a:rPr lang="en-US" dirty="0" err="1"/>
              <a:t>gerenciamento</a:t>
            </a:r>
            <a:r>
              <a:rPr lang="en-US" dirty="0"/>
              <a:t> individual se </a:t>
            </a:r>
            <a:r>
              <a:rPr lang="en-US" dirty="0" err="1"/>
              <a:t>tornou</a:t>
            </a:r>
            <a:r>
              <a:rPr lang="en-US" dirty="0"/>
              <a:t> </a:t>
            </a:r>
            <a:r>
              <a:rPr lang="en-US" dirty="0" err="1"/>
              <a:t>impossível</a:t>
            </a:r>
            <a:endParaRPr lang="pt-BR" dirty="0"/>
          </a:p>
          <a:p>
            <a:endParaRPr lang="pt-BR" dirty="0"/>
          </a:p>
          <a:p>
            <a:pPr algn="ctr"/>
            <a:r>
              <a:rPr lang="pt-BR" dirty="0"/>
              <a:t>Parte 2</a:t>
            </a:r>
          </a:p>
          <a:p>
            <a:endParaRPr lang="pt-BR" dirty="0"/>
          </a:p>
          <a:p>
            <a:r>
              <a:rPr lang="pt-BR" dirty="0"/>
              <a:t>a) Crie um papel (Role) chamado </a:t>
            </a:r>
            <a:r>
              <a:rPr lang="pt-BR" dirty="0" err="1"/>
              <a:t>role_vendas</a:t>
            </a:r>
            <a:r>
              <a:rPr lang="pt-BR" dirty="0"/>
              <a:t>;</a:t>
            </a:r>
          </a:p>
          <a:p>
            <a:endParaRPr lang="pt-BR" dirty="0"/>
          </a:p>
          <a:p>
            <a:r>
              <a:rPr lang="pt-BR" dirty="0"/>
              <a:t>b) Atribua a essa Role a permissão de ver apenas as colunas ‘nome’ e ‘</a:t>
            </a:r>
            <a:r>
              <a:rPr lang="pt-BR" dirty="0" err="1"/>
              <a:t>preco</a:t>
            </a:r>
            <a:r>
              <a:rPr lang="pt-BR" dirty="0"/>
              <a:t>’ da tabela produtos;</a:t>
            </a:r>
          </a:p>
          <a:p>
            <a:endParaRPr lang="pt-BR" dirty="0"/>
          </a:p>
          <a:p>
            <a:r>
              <a:rPr lang="pt-BR" dirty="0"/>
              <a:t>c) Crie o usuário vendedor_1 e atribua a ele a Role criada;</a:t>
            </a:r>
          </a:p>
          <a:p>
            <a:endParaRPr lang="pt-BR" dirty="0"/>
          </a:p>
          <a:p>
            <a:r>
              <a:rPr lang="pt-BR" dirty="0"/>
              <a:t>d) Supondo que este usuário tente consultar os produtos. O que acontece se ele tentar dar um ‘</a:t>
            </a:r>
            <a:r>
              <a:rPr lang="pt-BR" dirty="0" err="1"/>
              <a:t>Select</a:t>
            </a:r>
            <a:r>
              <a:rPr lang="pt-BR" dirty="0"/>
              <a:t> *’ 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8544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73D6E-FC32-50DA-1CBC-9FDC465B1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33F163-C736-9349-5711-22D353FEF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625611-E7FA-1D72-494A-0AFBC3CF9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43371B3-3339-12F0-DD89-453EBF0A0E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C30338DA-9061-D8D4-B5A5-66A14A047FD4}"/>
              </a:ext>
            </a:extLst>
          </p:cNvPr>
          <p:cNvSpPr txBox="1"/>
          <p:nvPr/>
        </p:nvSpPr>
        <p:spPr>
          <a:xfrm>
            <a:off x="3924300" y="2413337"/>
            <a:ext cx="4343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accent5">
                    <a:lumMod val="75000"/>
                  </a:schemeClr>
                </a:solidFill>
              </a:rPr>
              <a:t>AULA CONCLUÍDA!</a:t>
            </a:r>
            <a:endParaRPr lang="pt-BR" sz="60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28466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828</TotalTime>
  <Words>994</Words>
  <Application>Microsoft Office PowerPoint</Application>
  <PresentationFormat>Widescreen</PresentationFormat>
  <Paragraphs>155</Paragraphs>
  <Slides>23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Felipe Reis</dc:creator>
  <cp:lastModifiedBy>Felipe Tagawa</cp:lastModifiedBy>
  <cp:revision>11</cp:revision>
  <dcterms:created xsi:type="dcterms:W3CDTF">2025-07-21T23:50:22Z</dcterms:created>
  <dcterms:modified xsi:type="dcterms:W3CDTF">2026-03-19T01:38:43Z</dcterms:modified>
</cp:coreProperties>
</file>