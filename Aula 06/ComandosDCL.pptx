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58" r:id="rId4"/>
    <p:sldId id="264" r:id="rId5"/>
    <p:sldId id="265" r:id="rId6"/>
    <p:sldId id="278" r:id="rId7"/>
    <p:sldId id="266" r:id="rId8"/>
    <p:sldId id="267" r:id="rId9"/>
    <p:sldId id="285" r:id="rId10"/>
    <p:sldId id="290" r:id="rId11"/>
    <p:sldId id="286" r:id="rId12"/>
    <p:sldId id="287" r:id="rId13"/>
    <p:sldId id="288" r:id="rId14"/>
    <p:sldId id="289" r:id="rId15"/>
    <p:sldId id="279" r:id="rId16"/>
    <p:sldId id="280" r:id="rId17"/>
    <p:sldId id="281" r:id="rId18"/>
    <p:sldId id="282" r:id="rId19"/>
    <p:sldId id="276" r:id="rId20"/>
    <p:sldId id="277" r:id="rId21"/>
    <p:sldId id="268" r:id="rId22"/>
    <p:sldId id="283" r:id="rId23"/>
    <p:sldId id="275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AFD3D-5E5C-5D88-B6C2-DA51E7C0B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825BEC-725B-E641-56F1-D366A41E5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9432CE-240D-1626-7181-8AE1556A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18E989-45C5-2F74-BBC1-F2FD3AA6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68C76A-5D5B-1E94-63F3-F2C30BD71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015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E3A3-5EE2-93CC-BB3C-E96FCF39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30406-EC8C-1B5B-97E7-C811C168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3A84D-FEC1-35D5-EE1C-84CB86CE6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B6AA3-9681-9E95-0962-9250EBC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1EDFD7-60BB-E081-DC1F-E4E05095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9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EBB08-8F33-7BB7-2FF9-C217D67CD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0D464D-9649-0082-9D22-D4D4A151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C7BBC0-0070-C63A-8BEF-017008160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2DF584-3EF7-EDFB-C69B-A539C17B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E84B92-1D87-EF5F-DD04-6A4C849C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E866-3F62-EBBA-616A-C4507816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540260-C4D4-0EFD-9DDE-778F38122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AAE333E-E600-C020-B4B7-7481FEE0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384696-6679-1B02-E3A4-49B3E488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F2BB447-1405-1FF5-0F58-0AC59357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4196A0-B5DD-024D-23C4-3CE11649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62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1AF8F-0981-458E-495B-60EE0FDA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21A503-A629-D035-23DB-7CD79A438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94F35E-68BB-7D99-1292-B3D9509C3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7143544-646F-B258-AB3F-DA27D4CD1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D9F6A4-CDFB-EEC3-3255-6997E750E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7383249-A01E-E7B8-2AF8-BB022D8C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5AFA9CB-D56C-61DF-1A38-8827F8BD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66A94A8-8842-6397-51E0-CF08D40C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93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BC45F-7F7A-C05E-EADC-9F2477FA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A5B3852-E703-0613-811E-92EB2455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0C07406-8EC1-949B-7A4F-E686E1B6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1F3A2B2-DA7D-3514-11EE-7D64B628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5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6345807-90F3-75D6-EBDC-ED270E57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68E66C-978E-1BA2-E3BF-3E53F70F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9D3CD5-A59B-93AA-53EA-DDB5AB11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19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0289A-F32F-CDE4-3821-DF653F4E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F81B7-EAE0-1215-7E4C-E4B3D182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345A6D-11B7-6DDB-CC45-CE9B2A842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03CAD-D112-20E8-F844-8E18A19C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BA2081-0935-1AA3-2F87-0CB1CED2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F87E06-5CA6-943D-CE7F-D45A1FEA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931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BD5A2-682F-9418-0A0A-D5930CE9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F7DC9F-0BDF-0D40-02DE-D36F3A0EF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76CD42-BFD6-E771-B3FA-1A90C20A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1D9E123-83B2-64A2-3FCD-345F0773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2C9211-EBD5-8DE7-8010-3FB4FF8A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399E9B-7BF8-7C59-2C75-2F9EB2F4A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1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D330BD-9560-1351-0F96-827127D61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F81799-7699-6E8D-4902-39023CB2D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F019AC-4472-DE2D-52F1-FAAE97025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3ED61E-20DB-8387-544E-6FBA8C8B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6C012A5-4B41-B501-A959-B5F7494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797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65998B9-9270-88D0-03F1-7E0B0D1C3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0E1009-6087-12FE-7C7A-E230330B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C3BC4-0A82-879C-548D-C047E5D5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681762-DD5D-5A15-0A5F-1296D06D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8C9EE6-5928-C69A-834F-FBCDBBD7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73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FA7065-F71C-185A-4EDC-242854C8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49F5A6-80E4-AF16-8A1C-F0049747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EB7169-006A-B840-5DC1-4A1CFE3A1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5F205-BC06-4923-AE40-F9637F79EC90}" type="datetimeFigureOut">
              <a:rPr lang="pt-BR" smtClean="0"/>
              <a:t>16/04/2026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48B4A-6EEA-63AA-BE32-B090EFD19F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0E522E-4B0B-F9B0-783D-DA971BB8D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8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DCL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5978767" y="342899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5978767" y="38090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9DFB4-8ED3-3215-A90B-FE15AF324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37D4BD6-6E9D-BC94-4B09-41EDDFEBB365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Comandos DCL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5EE2593-6BF0-FC60-1497-3F7C0682EA10}"/>
              </a:ext>
            </a:extLst>
          </p:cNvPr>
          <p:cNvSpPr txBox="1"/>
          <p:nvPr/>
        </p:nvSpPr>
        <p:spPr>
          <a:xfrm>
            <a:off x="756138" y="1086650"/>
            <a:ext cx="109552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u="sng" dirty="0"/>
              <a:t>DCL (Data Control Language)</a:t>
            </a:r>
            <a:r>
              <a:rPr lang="en-US" sz="2800" dirty="0"/>
              <a:t> é o conjunto de </a:t>
            </a:r>
            <a:r>
              <a:rPr lang="en-US" sz="2800" dirty="0" err="1"/>
              <a:t>comandos</a:t>
            </a:r>
            <a:r>
              <a:rPr lang="en-US" sz="2800" dirty="0"/>
              <a:t> </a:t>
            </a:r>
            <a:r>
              <a:rPr lang="en-US" sz="2800" dirty="0" err="1"/>
              <a:t>responsáveis</a:t>
            </a:r>
            <a:r>
              <a:rPr lang="en-US" sz="2800" dirty="0"/>
              <a:t> </a:t>
            </a:r>
            <a:r>
              <a:rPr lang="en-US" sz="2800" dirty="0" err="1"/>
              <a:t>por</a:t>
            </a:r>
            <a:r>
              <a:rPr lang="en-US" sz="2800" dirty="0"/>
              <a:t> </a:t>
            </a:r>
            <a:r>
              <a:rPr lang="en-US" sz="2800" dirty="0" err="1"/>
              <a:t>garantir</a:t>
            </a:r>
            <a:r>
              <a:rPr lang="en-US" sz="2800" dirty="0"/>
              <a:t> o </a:t>
            </a:r>
            <a:r>
              <a:rPr lang="en-US" sz="2800" dirty="0" err="1"/>
              <a:t>controle</a:t>
            </a:r>
            <a:r>
              <a:rPr lang="en-US" sz="2800" dirty="0"/>
              <a:t> de </a:t>
            </a:r>
            <a:r>
              <a:rPr lang="en-US" sz="2800" dirty="0" err="1"/>
              <a:t>acesso</a:t>
            </a:r>
            <a:r>
              <a:rPr lang="en-US" sz="2800" dirty="0"/>
              <a:t> </a:t>
            </a:r>
            <a:r>
              <a:rPr lang="en-US" sz="2800" dirty="0" err="1"/>
              <a:t>ao</a:t>
            </a:r>
            <a:r>
              <a:rPr lang="en-US" sz="2800" dirty="0"/>
              <a:t> banco de dados </a:t>
            </a:r>
            <a:endParaRPr lang="pt-BR" sz="28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3B4F7E-72A5-CB9C-6D1E-63E177506939}"/>
              </a:ext>
            </a:extLst>
          </p:cNvPr>
          <p:cNvSpPr txBox="1"/>
          <p:nvPr/>
        </p:nvSpPr>
        <p:spPr>
          <a:xfrm>
            <a:off x="756138" y="2525774"/>
            <a:ext cx="203981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Comandos:</a:t>
            </a:r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GRANT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REVOKE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4056721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A2FC-9E81-B68A-E687-04EC51BD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B4D158-B3F3-63A6-624C-34CD33358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34FBBEA-A621-DD22-64F6-B27667FBF209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GRANT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6AE71E-B61B-D8D1-E1A6-DD85F59618C7}"/>
              </a:ext>
            </a:extLst>
          </p:cNvPr>
          <p:cNvSpPr txBox="1"/>
          <p:nvPr/>
        </p:nvSpPr>
        <p:spPr>
          <a:xfrm>
            <a:off x="756138" y="1086650"/>
            <a:ext cx="109552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Concede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a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 É</a:t>
            </a:r>
            <a:r>
              <a:rPr lang="en-US" sz="2000" b="1" dirty="0"/>
              <a:t> </a:t>
            </a:r>
            <a:r>
              <a:rPr lang="en-US" sz="2000" b="1" dirty="0" err="1"/>
              <a:t>necessário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informemos</a:t>
            </a:r>
            <a:r>
              <a:rPr lang="en-US" sz="2000" dirty="0"/>
              <a:t> qual o </a:t>
            </a:r>
            <a:r>
              <a:rPr lang="en-US" sz="2000" dirty="0" err="1"/>
              <a:t>endereço</a:t>
            </a:r>
            <a:r>
              <a:rPr lang="en-US" sz="2000" dirty="0"/>
              <a:t> IP </a:t>
            </a:r>
            <a:r>
              <a:rPr lang="en-US" sz="2000" dirty="0" err="1"/>
              <a:t>poderá</a:t>
            </a:r>
            <a:r>
              <a:rPr lang="en-US" sz="2000" dirty="0"/>
              <a:t> </a:t>
            </a:r>
            <a:r>
              <a:rPr lang="en-US" sz="2000" dirty="0" err="1"/>
              <a:t>acessar</a:t>
            </a:r>
            <a:r>
              <a:rPr lang="en-US" sz="2000" dirty="0"/>
              <a:t> (‘@’%’, ‘@’localhost’ </a:t>
            </a:r>
            <a:r>
              <a:rPr lang="en-US" sz="2000" dirty="0" err="1"/>
              <a:t>ou</a:t>
            </a:r>
            <a:r>
              <a:rPr lang="en-US" sz="2000" dirty="0"/>
              <a:t> ‘@’</a:t>
            </a:r>
            <a:r>
              <a:rPr lang="en-US" sz="2000" dirty="0" err="1"/>
              <a:t>EndereçoIP</a:t>
            </a:r>
            <a:r>
              <a:rPr lang="en-US" sz="2000" dirty="0"/>
              <a:t>’ </a:t>
            </a:r>
            <a:r>
              <a:rPr lang="en-US" sz="2000" dirty="0" err="1"/>
              <a:t>após</a:t>
            </a:r>
            <a:r>
              <a:rPr lang="en-US" sz="2000" dirty="0"/>
              <a:t> o </a:t>
            </a:r>
            <a:r>
              <a:rPr lang="en-US" sz="2000" dirty="0" err="1"/>
              <a:t>nome</a:t>
            </a:r>
            <a:r>
              <a:rPr lang="en-US" sz="2000" dirty="0"/>
              <a:t>).</a:t>
            </a:r>
          </a:p>
          <a:p>
            <a:endParaRPr lang="en-US" sz="2000" dirty="0"/>
          </a:p>
          <a:p>
            <a:r>
              <a:rPr lang="en-US" sz="2000" dirty="0" err="1"/>
              <a:t>Privilégios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ALL PRIVILEGES –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privilégios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o GRANT;</a:t>
            </a:r>
          </a:p>
          <a:p>
            <a:r>
              <a:rPr lang="en-US" sz="2000" dirty="0"/>
              <a:t>CREATE, ALTER e DROP – DDL</a:t>
            </a:r>
          </a:p>
          <a:p>
            <a:r>
              <a:rPr lang="en-US" sz="2000" dirty="0"/>
              <a:t>SELECT, INSERT, UPDATE E DELETE – DQL e DML</a:t>
            </a:r>
            <a:endParaRPr lang="pt-BR" sz="20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F1FAE06D-BC0D-B9AE-5994-259E06641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9397" y="4160300"/>
            <a:ext cx="7668695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05544-BA6B-0383-93FA-15FC7670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04D1D90-4EA9-855A-1056-D0C7D6924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0A96E23-B8CB-E563-4803-281B03243143}"/>
              </a:ext>
            </a:extLst>
          </p:cNvPr>
          <p:cNvSpPr txBox="1"/>
          <p:nvPr/>
        </p:nvSpPr>
        <p:spPr>
          <a:xfrm>
            <a:off x="3747171" y="211328"/>
            <a:ext cx="4697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Hierarquia</a:t>
            </a:r>
            <a:r>
              <a:rPr lang="en-US" sz="3600" dirty="0"/>
              <a:t> de </a:t>
            </a:r>
            <a:r>
              <a:rPr lang="en-US" sz="3600" dirty="0" err="1"/>
              <a:t>Privilégios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9A6E76-8667-D92A-96E5-ECF6B707B003}"/>
              </a:ext>
            </a:extLst>
          </p:cNvPr>
          <p:cNvSpPr txBox="1"/>
          <p:nvPr/>
        </p:nvSpPr>
        <p:spPr>
          <a:xfrm>
            <a:off x="756138" y="1086650"/>
            <a:ext cx="10955215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Os privilégios podem ser aplicados em diferentes níveis.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Global: GRANT ALL ON *.* (Todo o </a:t>
            </a:r>
            <a:r>
              <a:rPr lang="en-US" sz="2800" dirty="0" err="1"/>
              <a:t>servidor</a:t>
            </a:r>
            <a:r>
              <a:rPr lang="en-US" sz="2800" dirty="0"/>
              <a:t>);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Database: GRANT ALL ON </a:t>
            </a:r>
            <a:r>
              <a:rPr lang="en-US" sz="2800" dirty="0" err="1"/>
              <a:t>bd_exemplo</a:t>
            </a:r>
            <a:r>
              <a:rPr lang="en-US" sz="2800" dirty="0"/>
              <a:t>.*;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de </a:t>
            </a:r>
            <a:r>
              <a:rPr lang="en-US" sz="2800" dirty="0" err="1"/>
              <a:t>Tabela</a:t>
            </a:r>
            <a:r>
              <a:rPr lang="en-US" sz="2800" dirty="0"/>
              <a:t>: GRANT SELECT ON </a:t>
            </a:r>
            <a:r>
              <a:rPr lang="en-US" sz="2800" dirty="0" err="1"/>
              <a:t>bd_exemplo.Musica</a:t>
            </a:r>
            <a:r>
              <a:rPr lang="en-US" sz="2800" dirty="0"/>
              <a:t>.</a:t>
            </a:r>
          </a:p>
          <a:p>
            <a:endParaRPr lang="en-US" sz="2800" dirty="0"/>
          </a:p>
          <a:p>
            <a:pPr algn="ctr"/>
            <a:r>
              <a:rPr lang="en-US" sz="3600" dirty="0"/>
              <a:t>FLUSH PRIVILEGES</a:t>
            </a:r>
          </a:p>
          <a:p>
            <a:pPr algn="ctr"/>
            <a:endParaRPr lang="en-US" sz="2800" dirty="0"/>
          </a:p>
          <a:p>
            <a:r>
              <a:rPr lang="en-US" sz="2800" dirty="0"/>
              <a:t>- </a:t>
            </a:r>
            <a:r>
              <a:rPr lang="en-US" sz="2800" dirty="0" err="1"/>
              <a:t>Atualiza</a:t>
            </a:r>
            <a:r>
              <a:rPr lang="en-US" sz="2800" dirty="0"/>
              <a:t> a </a:t>
            </a:r>
            <a:r>
              <a:rPr lang="en-US" sz="2800" dirty="0" err="1"/>
              <a:t>tabela</a:t>
            </a:r>
            <a:r>
              <a:rPr lang="en-US" sz="2800" dirty="0"/>
              <a:t> de </a:t>
            </a:r>
            <a:r>
              <a:rPr lang="en-US" sz="2800" dirty="0" err="1"/>
              <a:t>acessos</a:t>
            </a:r>
            <a:r>
              <a:rPr lang="en-US" sz="2800" dirty="0"/>
              <a:t> </a:t>
            </a:r>
            <a:r>
              <a:rPr lang="en-US" sz="2800" dirty="0" err="1"/>
              <a:t>imediatamente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memória</a:t>
            </a:r>
            <a:r>
              <a:rPr lang="en-US" sz="2800" dirty="0"/>
              <a:t>, </a:t>
            </a:r>
            <a:r>
              <a:rPr lang="en-US" sz="2800" dirty="0" err="1"/>
              <a:t>garantindo</a:t>
            </a:r>
            <a:r>
              <a:rPr lang="en-US" sz="2800" dirty="0"/>
              <a:t> </a:t>
            </a:r>
            <a:r>
              <a:rPr lang="en-US" sz="2800" dirty="0" err="1"/>
              <a:t>que</a:t>
            </a:r>
            <a:r>
              <a:rPr lang="en-US" sz="2800" dirty="0"/>
              <a:t> as </a:t>
            </a:r>
            <a:r>
              <a:rPr lang="en-US" sz="2800" dirty="0" err="1"/>
              <a:t>alterações</a:t>
            </a:r>
            <a:r>
              <a:rPr lang="en-US" sz="2800" dirty="0"/>
              <a:t> </a:t>
            </a:r>
            <a:r>
              <a:rPr lang="en-US" sz="2800" dirty="0" err="1"/>
              <a:t>entrem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vigor </a:t>
            </a:r>
            <a:r>
              <a:rPr lang="en-US" sz="2800" dirty="0" err="1"/>
              <a:t>na</a:t>
            </a:r>
            <a:r>
              <a:rPr lang="en-US" sz="2800" dirty="0"/>
              <a:t> hora.</a:t>
            </a:r>
          </a:p>
        </p:txBody>
      </p:sp>
      <p:pic>
        <p:nvPicPr>
          <p:cNvPr id="1028" name="Picture 4" descr="F5 button: 282 imagens, fotos e ilustrações stock livres de direitos |  Shutterstock">
            <a:extLst>
              <a:ext uri="{FF2B5EF4-FFF2-40B4-BE49-F238E27FC236}">
                <a16:creationId xmlns:a16="http://schemas.microsoft.com/office/drawing/2014/main" id="{3098565D-67D3-5820-397B-98157A4371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317" y="4460630"/>
            <a:ext cx="879021" cy="946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3308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28FC-2D67-9F9D-E3FE-7C0649C6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43330A4-D154-B01B-C7CD-9905B6E9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542ED33-F66F-B895-52CD-A6D5662FA58E}"/>
              </a:ext>
            </a:extLst>
          </p:cNvPr>
          <p:cNvSpPr txBox="1"/>
          <p:nvPr/>
        </p:nvSpPr>
        <p:spPr>
          <a:xfrm>
            <a:off x="4287898" y="180011"/>
            <a:ext cx="3616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REVOKE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406CB-5E29-7055-4FCF-A498AC8D8BD0}"/>
              </a:ext>
            </a:extLst>
          </p:cNvPr>
          <p:cNvSpPr txBox="1"/>
          <p:nvPr/>
        </p:nvSpPr>
        <p:spPr>
          <a:xfrm>
            <a:off x="756138" y="1086650"/>
            <a:ext cx="109552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Revoga</a:t>
            </a:r>
            <a:r>
              <a:rPr lang="en-US" sz="2000" dirty="0"/>
              <a:t>/remove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de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claro que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</a:t>
            </a:r>
          </a:p>
          <a:p>
            <a:endParaRPr lang="en-US" sz="2000" u="sng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6D8C06-8875-7D5E-7726-60F8FC1D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99" y="2903942"/>
            <a:ext cx="10548399" cy="192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76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4F8E-4AD2-C185-D666-CC31AEC6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B911DC-D2E4-9AA3-526C-C93A62642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D72916B-B297-72D2-D443-82BBF0F5E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5" y="952154"/>
            <a:ext cx="11212490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545A1-7630-5BC7-F46A-98B9C47FC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B10DA72-9327-3BAA-CA49-3834917DD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BFA5564-D17C-FC1C-7B8A-925DF9D58BA9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547DC9D-5758-48D8-5349-0A0F2CDC9034}"/>
              </a:ext>
            </a:extLst>
          </p:cNvPr>
          <p:cNvSpPr txBox="1"/>
          <p:nvPr/>
        </p:nvSpPr>
        <p:spPr>
          <a:xfrm>
            <a:off x="756138" y="1086650"/>
            <a:ext cx="109552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Conjuntos nomeados de privilégios que funcionam como "</a:t>
            </a:r>
            <a:r>
              <a:rPr lang="pt-BR" sz="2000" dirty="0" err="1"/>
              <a:t>templates</a:t>
            </a:r>
            <a:r>
              <a:rPr lang="pt-BR" sz="2000" dirty="0"/>
              <a:t>" de acesso, facilitando a gestão de permissões em larga escala</a:t>
            </a:r>
            <a:endParaRPr lang="en-US" sz="2000" u="sng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162F623-78D7-D8DA-B284-88FE05B7A6BC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pt-BR" sz="2800" dirty="0"/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comandos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ON [database].[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tabela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TO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USER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IDENTIFIED BY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senha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it-IT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‘nomeRole’ TO ‘nomeUsuario’@’ip’;</a:t>
            </a:r>
          </a:p>
          <a:p>
            <a:pPr algn="ctr"/>
            <a:endParaRPr lang="it-IT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SET DEFAULT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TO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1917684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AFE3-AFDB-FB3C-8060-D0D2A21EC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76C80C5-396F-5BA6-0DA5-12676872A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2D60D24-EBAB-3AE5-E399-B5F4B17851EA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9E4D481-119D-650F-85C9-AC003E110667}"/>
              </a:ext>
            </a:extLst>
          </p:cNvPr>
          <p:cNvSpPr txBox="1"/>
          <p:nvPr/>
        </p:nvSpPr>
        <p:spPr>
          <a:xfrm>
            <a:off x="5294800" y="1231104"/>
            <a:ext cx="14793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Criação</a:t>
            </a:r>
            <a:endParaRPr lang="en-US" sz="3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50F6C80D-EE8E-969C-FD1D-30EC24868AD3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rgbClr val="0070C0"/>
                </a:solidFill>
              </a:rPr>
              <a:t>CREATE ROLE ‘</a:t>
            </a:r>
            <a:r>
              <a:rPr lang="pt-BR" sz="2800" dirty="0" err="1">
                <a:solidFill>
                  <a:srgbClr val="0070C0"/>
                </a:solidFill>
              </a:rPr>
              <a:t>nomeRole</a:t>
            </a:r>
            <a:r>
              <a:rPr lang="pt-BR" sz="2800" dirty="0">
                <a:solidFill>
                  <a:srgbClr val="0070C0"/>
                </a:solidFill>
              </a:rPr>
              <a:t>’;</a:t>
            </a:r>
          </a:p>
          <a:p>
            <a:pPr algn="ctr"/>
            <a:endParaRPr lang="pt-BR" sz="2800" dirty="0"/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comandos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ON [database].[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tabela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TO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USER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IDENTIFIED BY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senha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it-IT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‘nomeRole’ TO ‘nomeUsuario’@’ip’;</a:t>
            </a:r>
          </a:p>
          <a:p>
            <a:pPr algn="ctr"/>
            <a:endParaRPr lang="it-IT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SET DEFAULT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TO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2905956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9C5C-7460-1911-8D85-9479E4C00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D9D92A1-A196-5AD4-73CF-1631399675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C5FC81F-EF5A-6A9B-8A3E-B1F7A0987524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3790DA6-D00F-455A-3DBA-6F27E986B358}"/>
              </a:ext>
            </a:extLst>
          </p:cNvPr>
          <p:cNvSpPr txBox="1"/>
          <p:nvPr/>
        </p:nvSpPr>
        <p:spPr>
          <a:xfrm>
            <a:off x="4148503" y="1231104"/>
            <a:ext cx="38949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Garantia</a:t>
            </a:r>
            <a:r>
              <a:rPr lang="en-US" sz="3200" dirty="0"/>
              <a:t> de </a:t>
            </a:r>
            <a:r>
              <a:rPr lang="en-US" sz="3200" dirty="0" err="1"/>
              <a:t>Privilégios</a:t>
            </a:r>
            <a:endParaRPr lang="en-US" sz="3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1256FC3-04CF-297B-13FD-85672E1EEA7B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pt-BR" sz="2800" dirty="0"/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GRANT [</a:t>
            </a:r>
            <a:r>
              <a:rPr lang="en-US" sz="2800" dirty="0" err="1">
                <a:solidFill>
                  <a:srgbClr val="0070C0"/>
                </a:solidFill>
              </a:rPr>
              <a:t>comandos</a:t>
            </a:r>
            <a:r>
              <a:rPr lang="en-US" sz="2800" dirty="0">
                <a:solidFill>
                  <a:srgbClr val="0070C0"/>
                </a:solidFill>
              </a:rPr>
              <a:t>] ON [database].[</a:t>
            </a:r>
            <a:r>
              <a:rPr lang="en-US" sz="2800" dirty="0" err="1">
                <a:solidFill>
                  <a:srgbClr val="0070C0"/>
                </a:solidFill>
              </a:rPr>
              <a:t>tabela</a:t>
            </a:r>
            <a:r>
              <a:rPr lang="en-US" sz="2800" dirty="0">
                <a:solidFill>
                  <a:srgbClr val="0070C0"/>
                </a:solidFill>
              </a:rPr>
              <a:t>] TO ‘</a:t>
            </a:r>
            <a:r>
              <a:rPr lang="en-US" sz="2800" dirty="0" err="1">
                <a:solidFill>
                  <a:srgbClr val="0070C0"/>
                </a:solidFill>
              </a:rPr>
              <a:t>nomeRole</a:t>
            </a:r>
            <a:r>
              <a:rPr lang="en-US" sz="2800" dirty="0">
                <a:solidFill>
                  <a:srgbClr val="0070C0"/>
                </a:solidFill>
              </a:rPr>
              <a:t>’;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USER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IDENTIFIED BY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senha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it-IT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‘nomeRole’ TO ‘nomeUsuario’@’ip’;</a:t>
            </a:r>
          </a:p>
          <a:p>
            <a:pPr algn="ctr"/>
            <a:endParaRPr lang="it-IT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SET DEFAULT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TO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5531664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7CEBB-0C8E-B46E-4A13-9DB3F8F5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D568E7C-1744-DAD7-0E7B-682E7D293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77ADC6B-1D24-7F4F-D65C-0B20118DFC8A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FA66A75-51EA-C486-A6E2-DC297CC6BF43}"/>
              </a:ext>
            </a:extLst>
          </p:cNvPr>
          <p:cNvSpPr txBox="1"/>
          <p:nvPr/>
        </p:nvSpPr>
        <p:spPr>
          <a:xfrm>
            <a:off x="2623038" y="1231104"/>
            <a:ext cx="69459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Criação</a:t>
            </a:r>
            <a:r>
              <a:rPr lang="en-US" sz="3200" dirty="0"/>
              <a:t> do </a:t>
            </a:r>
            <a:r>
              <a:rPr lang="en-US" sz="3200" dirty="0" err="1"/>
              <a:t>Usuário</a:t>
            </a:r>
            <a:r>
              <a:rPr lang="en-US" sz="3200" dirty="0"/>
              <a:t> (Pode ser </a:t>
            </a:r>
            <a:r>
              <a:rPr lang="en-US" sz="3200" dirty="0" err="1"/>
              <a:t>feita</a:t>
            </a:r>
            <a:r>
              <a:rPr lang="en-US" sz="3200" dirty="0"/>
              <a:t> antes)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DC9C14B-96BC-F34B-63DF-0C85F8D9E310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pt-B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comandos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ON [database].[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tabela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TO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>
                <a:solidFill>
                  <a:srgbClr val="0070C0"/>
                </a:solidFill>
              </a:rPr>
              <a:t>CREATE USER ‘</a:t>
            </a:r>
            <a:r>
              <a:rPr lang="en-US" sz="2800" dirty="0" err="1">
                <a:solidFill>
                  <a:srgbClr val="0070C0"/>
                </a:solidFill>
              </a:rPr>
              <a:t>nomeUsuario</a:t>
            </a:r>
            <a:r>
              <a:rPr lang="en-US" sz="2800" dirty="0">
                <a:solidFill>
                  <a:srgbClr val="0070C0"/>
                </a:solidFill>
              </a:rPr>
              <a:t>’@’</a:t>
            </a:r>
            <a:r>
              <a:rPr lang="en-US" sz="2800" dirty="0" err="1">
                <a:solidFill>
                  <a:srgbClr val="0070C0"/>
                </a:solidFill>
              </a:rPr>
              <a:t>ip</a:t>
            </a:r>
            <a:r>
              <a:rPr lang="en-US" sz="2800" dirty="0">
                <a:solidFill>
                  <a:srgbClr val="0070C0"/>
                </a:solidFill>
              </a:rPr>
              <a:t>’ IDENTIFIED BY ‘</a:t>
            </a:r>
            <a:r>
              <a:rPr lang="en-US" sz="2800" dirty="0" err="1">
                <a:solidFill>
                  <a:srgbClr val="0070C0"/>
                </a:solidFill>
              </a:rPr>
              <a:t>senha</a:t>
            </a:r>
            <a:r>
              <a:rPr lang="en-US" sz="2800" dirty="0">
                <a:solidFill>
                  <a:srgbClr val="0070C0"/>
                </a:solidFill>
              </a:rPr>
              <a:t>’;</a:t>
            </a:r>
          </a:p>
          <a:p>
            <a:pPr algn="ctr"/>
            <a:endParaRPr lang="en-US" sz="2800" dirty="0"/>
          </a:p>
          <a:p>
            <a:pPr algn="ctr"/>
            <a:r>
              <a:rPr lang="it-IT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‘nomeRole’ TO ‘nomeUsuario’@’ip’;</a:t>
            </a:r>
          </a:p>
          <a:p>
            <a:pPr algn="ctr"/>
            <a:endParaRPr lang="it-IT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SET DEFAULT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TO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1682615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52CE3-FFAA-EDB7-3945-B60351316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AE126FF-5C87-956F-62B6-461A3E4B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1BE82BB-9E97-489B-5916-586B1B49BB81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A56568-B99E-17BD-B877-A0B2024B18C7}"/>
              </a:ext>
            </a:extLst>
          </p:cNvPr>
          <p:cNvSpPr txBox="1"/>
          <p:nvPr/>
        </p:nvSpPr>
        <p:spPr>
          <a:xfrm>
            <a:off x="3489079" y="1231104"/>
            <a:ext cx="50907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Associação</a:t>
            </a:r>
            <a:r>
              <a:rPr lang="en-US" sz="3200" dirty="0"/>
              <a:t> do </a:t>
            </a:r>
            <a:r>
              <a:rPr lang="en-US" sz="3200" dirty="0" err="1"/>
              <a:t>Usuário</a:t>
            </a:r>
            <a:r>
              <a:rPr lang="en-US" sz="3200" dirty="0"/>
              <a:t> à Role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824872A9-94AA-52D6-D2AD-A38B2DB86F3D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pt-B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comandos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ON [database].[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tabela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TO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USER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IDENTIFIED BY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senha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/>
          </a:p>
          <a:p>
            <a:pPr algn="ctr"/>
            <a:r>
              <a:rPr lang="it-IT" sz="2800" dirty="0">
                <a:solidFill>
                  <a:srgbClr val="0070C0"/>
                </a:solidFill>
              </a:rPr>
              <a:t>GRANT ‘nomeRole’ TO ‘nomeUsuario’@’ip’;</a:t>
            </a:r>
          </a:p>
          <a:p>
            <a:pPr algn="ctr"/>
            <a:endParaRPr lang="it-IT" sz="2800" dirty="0"/>
          </a:p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SET DEFAULT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TO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2431395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2C12F-71A8-8151-2DF3-B49CBFC09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7541C9A-D5F6-A353-650A-E0151F4138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2572A47-60FE-AD19-7676-EE935C7D51CB}"/>
              </a:ext>
            </a:extLst>
          </p:cNvPr>
          <p:cNvSpPr txBox="1"/>
          <p:nvPr/>
        </p:nvSpPr>
        <p:spPr>
          <a:xfrm>
            <a:off x="4806553" y="220160"/>
            <a:ext cx="2455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Role (Papel)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8AD5291-14C8-B893-0DE9-B885558E0AC9}"/>
              </a:ext>
            </a:extLst>
          </p:cNvPr>
          <p:cNvSpPr txBox="1"/>
          <p:nvPr/>
        </p:nvSpPr>
        <p:spPr>
          <a:xfrm>
            <a:off x="618392" y="1231104"/>
            <a:ext cx="109552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Definição</a:t>
            </a:r>
            <a:r>
              <a:rPr lang="en-US" sz="3200" dirty="0"/>
              <a:t> da Role </a:t>
            </a:r>
            <a:r>
              <a:rPr lang="en-US" sz="3200" dirty="0" err="1"/>
              <a:t>Padrão</a:t>
            </a:r>
            <a:r>
              <a:rPr lang="en-US" sz="3200" dirty="0"/>
              <a:t> para </a:t>
            </a:r>
            <a:r>
              <a:rPr lang="en-US" sz="3200" dirty="0" err="1"/>
              <a:t>evitar</a:t>
            </a:r>
            <a:r>
              <a:rPr lang="en-US" sz="3200" dirty="0"/>
              <a:t> </a:t>
            </a:r>
            <a:r>
              <a:rPr lang="en-US" sz="3200" dirty="0" err="1"/>
              <a:t>erros</a:t>
            </a:r>
            <a:endParaRPr lang="en-US" sz="32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E26B775B-08EF-D5DB-C26D-46931395FB38}"/>
              </a:ext>
            </a:extLst>
          </p:cNvPr>
          <p:cNvSpPr txBox="1"/>
          <p:nvPr/>
        </p:nvSpPr>
        <p:spPr>
          <a:xfrm>
            <a:off x="958362" y="2180492"/>
            <a:ext cx="1055076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ROLE ‘</a:t>
            </a:r>
            <a:r>
              <a:rPr lang="pt-BR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pt-BR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pt-BR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comandos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ON [database].[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tabela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] TO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nomeRole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CREATE USER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nomeUsuario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’@’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ip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 IDENTIFIED BY ‘</a:t>
            </a:r>
            <a:r>
              <a:rPr lang="en-US" sz="2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senha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’;</a:t>
            </a:r>
          </a:p>
          <a:p>
            <a:pPr algn="ctr"/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it-IT" sz="2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GRANT ‘nomeRole’ TO ‘nomeUsuario’@’ip’;</a:t>
            </a:r>
          </a:p>
          <a:p>
            <a:pPr algn="ctr"/>
            <a:endParaRPr lang="it-IT" sz="2800" dirty="0"/>
          </a:p>
          <a:p>
            <a:pPr algn="ctr"/>
            <a:r>
              <a:rPr lang="pt-BR" sz="2800" dirty="0">
                <a:solidFill>
                  <a:srgbClr val="0070C0"/>
                </a:solidFill>
              </a:rPr>
              <a:t>SET DEFAULT ROLE ‘</a:t>
            </a:r>
            <a:r>
              <a:rPr lang="pt-BR" sz="2800" dirty="0" err="1">
                <a:solidFill>
                  <a:srgbClr val="0070C0"/>
                </a:solidFill>
              </a:rPr>
              <a:t>nomeRole</a:t>
            </a:r>
            <a:r>
              <a:rPr lang="pt-BR" sz="2800" dirty="0">
                <a:solidFill>
                  <a:srgbClr val="0070C0"/>
                </a:solidFill>
              </a:rPr>
              <a:t>’ TO ‘</a:t>
            </a:r>
            <a:r>
              <a:rPr lang="pt-BR" sz="2800" dirty="0" err="1">
                <a:solidFill>
                  <a:srgbClr val="0070C0"/>
                </a:solidFill>
              </a:rPr>
              <a:t>nomeUsuario</a:t>
            </a:r>
            <a:r>
              <a:rPr lang="pt-BR" sz="2800" dirty="0">
                <a:solidFill>
                  <a:srgbClr val="0070C0"/>
                </a:solidFill>
              </a:rPr>
              <a:t>’@’</a:t>
            </a:r>
            <a:r>
              <a:rPr lang="pt-BR" sz="2800" dirty="0" err="1">
                <a:solidFill>
                  <a:srgbClr val="0070C0"/>
                </a:solidFill>
              </a:rPr>
              <a:t>ip</a:t>
            </a:r>
            <a:r>
              <a:rPr lang="pt-BR" sz="2800" dirty="0">
                <a:solidFill>
                  <a:srgbClr val="0070C0"/>
                </a:solidFill>
              </a:rPr>
              <a:t>’;</a:t>
            </a:r>
          </a:p>
        </p:txBody>
      </p:sp>
    </p:spTree>
    <p:extLst>
      <p:ext uri="{BB962C8B-B14F-4D97-AF65-F5344CB8AC3E}">
        <p14:creationId xmlns:p14="http://schemas.microsoft.com/office/powerpoint/2010/main" val="3741737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1228-7393-0AED-D026-1C1B31BEF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626665B-3842-854D-4353-602031C8F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4F5B659-D243-D9F8-6773-3F41AD3C8D37}"/>
              </a:ext>
            </a:extLst>
          </p:cNvPr>
          <p:cNvSpPr txBox="1"/>
          <p:nvPr/>
        </p:nvSpPr>
        <p:spPr>
          <a:xfrm>
            <a:off x="5241770" y="225637"/>
            <a:ext cx="17084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Relação</a:t>
            </a:r>
            <a:endParaRPr lang="pt-BR" sz="3600" dirty="0"/>
          </a:p>
        </p:txBody>
      </p:sp>
      <p:pic>
        <p:nvPicPr>
          <p:cNvPr id="1030" name="Picture 6" descr="Design PNG E SVG De Ícone De Curso Da Ponte 09 Para Camisetas">
            <a:extLst>
              <a:ext uri="{FF2B5EF4-FFF2-40B4-BE49-F238E27FC236}">
                <a16:creationId xmlns:a16="http://schemas.microsoft.com/office/drawing/2014/main" id="{1801145F-1C91-FD76-BC32-BA894C84A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9181" y="1456592"/>
            <a:ext cx="3613638" cy="361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O perfil completo de um DBA - Administrador de Banco de Dados!">
            <a:extLst>
              <a:ext uri="{FF2B5EF4-FFF2-40B4-BE49-F238E27FC236}">
                <a16:creationId xmlns:a16="http://schemas.microsoft.com/office/drawing/2014/main" id="{093E9181-4EDF-9980-E09D-371077970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522" y="2537680"/>
            <a:ext cx="3422229" cy="178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ícone Da Equipe De Segurança Ilustração do Vetor - Ilustração de equipe,  protetor: 274945186">
            <a:extLst>
              <a:ext uri="{FF2B5EF4-FFF2-40B4-BE49-F238E27FC236}">
                <a16:creationId xmlns:a16="http://schemas.microsoft.com/office/drawing/2014/main" id="{D4FB4C17-E6B2-9434-FCC2-AB33DD80E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137" y="2169319"/>
            <a:ext cx="2519362" cy="2519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5982AA7-38E6-54C2-BD25-BE3AC0F6A423}"/>
              </a:ext>
            </a:extLst>
          </p:cNvPr>
          <p:cNvSpPr txBox="1"/>
          <p:nvPr/>
        </p:nvSpPr>
        <p:spPr>
          <a:xfrm>
            <a:off x="483577" y="4320320"/>
            <a:ext cx="3112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Equipe de Segurança da Informação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F2FB9E0-34B6-4D84-60A1-E6D78B0F7256}"/>
              </a:ext>
            </a:extLst>
          </p:cNvPr>
          <p:cNvSpPr txBox="1"/>
          <p:nvPr/>
        </p:nvSpPr>
        <p:spPr>
          <a:xfrm>
            <a:off x="9708905" y="4458819"/>
            <a:ext cx="615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DBA</a:t>
            </a: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3166C6F-5A0B-44E9-2F0C-D6E30F0CE2C7}"/>
              </a:ext>
            </a:extLst>
          </p:cNvPr>
          <p:cNvCxnSpPr/>
          <p:nvPr/>
        </p:nvCxnSpPr>
        <p:spPr>
          <a:xfrm>
            <a:off x="2039815" y="4966651"/>
            <a:ext cx="0" cy="818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639AB5B-1501-D07B-8B9B-FE0DBDB781B7}"/>
              </a:ext>
            </a:extLst>
          </p:cNvPr>
          <p:cNvSpPr txBox="1"/>
          <p:nvPr/>
        </p:nvSpPr>
        <p:spPr>
          <a:xfrm>
            <a:off x="764931" y="5978769"/>
            <a:ext cx="253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Define quem pode acessar</a:t>
            </a:r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AA450CA0-8B6C-10F2-3959-E337302670C2}"/>
              </a:ext>
            </a:extLst>
          </p:cNvPr>
          <p:cNvCxnSpPr>
            <a:stCxn id="7" idx="2"/>
          </p:cNvCxnSpPr>
          <p:nvPr/>
        </p:nvCxnSpPr>
        <p:spPr>
          <a:xfrm>
            <a:off x="10016636" y="4828151"/>
            <a:ext cx="6595" cy="957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8EFC988-1686-CA77-8F3D-4010F37C430A}"/>
              </a:ext>
            </a:extLst>
          </p:cNvPr>
          <p:cNvSpPr txBox="1"/>
          <p:nvPr/>
        </p:nvSpPr>
        <p:spPr>
          <a:xfrm>
            <a:off x="9219835" y="5831504"/>
            <a:ext cx="1606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Usa os comandos DCL</a:t>
            </a:r>
          </a:p>
        </p:txBody>
      </p:sp>
    </p:spTree>
    <p:extLst>
      <p:ext uri="{BB962C8B-B14F-4D97-AF65-F5344CB8AC3E}">
        <p14:creationId xmlns:p14="http://schemas.microsoft.com/office/powerpoint/2010/main" val="8888383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772-D3DF-293E-F478-83752B56E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AF32267-F020-1340-2460-DA57BB1A53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00A1D6-2EB4-CD0E-3C4B-32296BE5B095}"/>
              </a:ext>
            </a:extLst>
          </p:cNvPr>
          <p:cNvSpPr txBox="1"/>
          <p:nvPr/>
        </p:nvSpPr>
        <p:spPr>
          <a:xfrm>
            <a:off x="2873275" y="250093"/>
            <a:ext cx="64454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err="1"/>
              <a:t>Máscara</a:t>
            </a:r>
            <a:r>
              <a:rPr lang="en-US" sz="3600" dirty="0"/>
              <a:t> de Dados e Auditoria</a:t>
            </a:r>
            <a:endParaRPr lang="pt-BR" sz="36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E56FBF3-E67A-BD78-9884-D5F93EECD1D1}"/>
              </a:ext>
            </a:extLst>
          </p:cNvPr>
          <p:cNvSpPr txBox="1"/>
          <p:nvPr/>
        </p:nvSpPr>
        <p:spPr>
          <a:xfrm>
            <a:off x="2385192" y="5179958"/>
            <a:ext cx="1492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Data </a:t>
            </a:r>
            <a:r>
              <a:rPr lang="pt-BR" dirty="0" err="1"/>
              <a:t>Masking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24BC821-9AEA-D6AF-7C88-1AA079CFC008}"/>
              </a:ext>
            </a:extLst>
          </p:cNvPr>
          <p:cNvSpPr txBox="1"/>
          <p:nvPr/>
        </p:nvSpPr>
        <p:spPr>
          <a:xfrm>
            <a:off x="7473306" y="5179958"/>
            <a:ext cx="2523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Auditoria DCL – Audit.log</a:t>
            </a:r>
          </a:p>
        </p:txBody>
      </p:sp>
      <p:pic>
        <p:nvPicPr>
          <p:cNvPr id="2050" name="Picture 2" descr="What is Data Masking">
            <a:extLst>
              <a:ext uri="{FF2B5EF4-FFF2-40B4-BE49-F238E27FC236}">
                <a16:creationId xmlns:a16="http://schemas.microsoft.com/office/drawing/2014/main" id="{9B6189EB-89B4-829A-846D-697A3C2B1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695" y="2201382"/>
            <a:ext cx="5273060" cy="2646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Ilustração de personagem de desenho vetorial gráfico de auditoria | Vetor  Premium">
            <a:extLst>
              <a:ext uri="{FF2B5EF4-FFF2-40B4-BE49-F238E27FC236}">
                <a16:creationId xmlns:a16="http://schemas.microsoft.com/office/drawing/2014/main" id="{068A1B3E-4EC7-F294-D919-A2C6B72D6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8550" y="1872395"/>
            <a:ext cx="3113210" cy="3113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47431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E7AEA-3DDD-6D7B-F26B-1A656BF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7643823-9693-7AF1-9E06-4DEFF57D3E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4852F72-A595-2FD8-EA2D-F81CCEB5F826}"/>
              </a:ext>
            </a:extLst>
          </p:cNvPr>
          <p:cNvSpPr txBox="1"/>
          <p:nvPr/>
        </p:nvSpPr>
        <p:spPr>
          <a:xfrm>
            <a:off x="4258969" y="221775"/>
            <a:ext cx="30175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RDBMS + LGPD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30FEC87-42D6-952A-14D6-F40D05520E91}"/>
              </a:ext>
            </a:extLst>
          </p:cNvPr>
          <p:cNvSpPr txBox="1"/>
          <p:nvPr/>
        </p:nvSpPr>
        <p:spPr>
          <a:xfrm>
            <a:off x="703385" y="1257300"/>
            <a:ext cx="708660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/>
              <a:t>Criptografia</a:t>
            </a:r>
          </a:p>
          <a:p>
            <a:endParaRPr lang="pt-BR" sz="3200" dirty="0"/>
          </a:p>
          <a:p>
            <a:pPr algn="ctr"/>
            <a:r>
              <a:rPr lang="pt-BR" sz="2000" dirty="0"/>
              <a:t>Segurança das Informações por manipulação de dados e backups</a:t>
            </a:r>
          </a:p>
          <a:p>
            <a:pPr marL="342900" indent="-342900">
              <a:buFontTx/>
              <a:buChar char="-"/>
            </a:pPr>
            <a:endParaRPr lang="pt-BR" sz="2000" dirty="0"/>
          </a:p>
          <a:p>
            <a:r>
              <a:rPr lang="pt-BR" sz="2400" dirty="0"/>
              <a:t>Tipos de Criptografia</a:t>
            </a:r>
          </a:p>
          <a:p>
            <a:endParaRPr lang="pt-BR" sz="2400" dirty="0"/>
          </a:p>
          <a:p>
            <a:pPr marL="342900" indent="-342900">
              <a:buFontTx/>
              <a:buChar char="-"/>
            </a:pPr>
            <a:r>
              <a:rPr lang="pt-BR" sz="2400" dirty="0"/>
              <a:t>At </a:t>
            </a:r>
            <a:r>
              <a:rPr lang="pt-BR" sz="2400" dirty="0" err="1"/>
              <a:t>Rest</a:t>
            </a:r>
            <a:r>
              <a:rPr lang="pt-BR" sz="2400" dirty="0"/>
              <a:t>: </a:t>
            </a:r>
            <a:r>
              <a:rPr lang="pt-BR" dirty="0"/>
              <a:t>Proteção de dados físicos (como arquivos MySQL) por meio da conversão deles em um código ilegível;</a:t>
            </a:r>
            <a:endParaRPr lang="pt-BR" sz="2400" dirty="0"/>
          </a:p>
          <a:p>
            <a:pPr marL="342900" indent="-342900">
              <a:buFontTx/>
              <a:buChar char="-"/>
            </a:pPr>
            <a:endParaRPr lang="pt-BR" sz="2400" dirty="0"/>
          </a:p>
          <a:p>
            <a:pPr marL="342900" indent="-342900">
              <a:buFontTx/>
              <a:buChar char="-"/>
            </a:pPr>
            <a:r>
              <a:rPr lang="pt-BR" sz="2400" dirty="0"/>
              <a:t>In Transit: </a:t>
            </a:r>
            <a:r>
              <a:rPr lang="pt-BR" dirty="0"/>
              <a:t>Proteção de dados enquanto são transferidos entre redes, dispositivos ou servidores , utilizando protocolos como SSL/TLS para impedir interceptação.</a:t>
            </a:r>
            <a:endParaRPr lang="pt-BR" sz="2400" dirty="0"/>
          </a:p>
        </p:txBody>
      </p:sp>
      <p:pic>
        <p:nvPicPr>
          <p:cNvPr id="3074" name="Picture 2" descr="Compreendendo a Criptografia de Dados: Dados em Repouso, Em Trânsito, Em Uso">
            <a:extLst>
              <a:ext uri="{FF2B5EF4-FFF2-40B4-BE49-F238E27FC236}">
                <a16:creationId xmlns:a16="http://schemas.microsoft.com/office/drawing/2014/main" id="{3BB80873-F3B7-2EEC-0358-47E55F75B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708" y="4041561"/>
            <a:ext cx="3555023" cy="1986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O que é Criptografia de Dados? Definição, Tipos e Práticas Recomendadas -  Kinsta®">
            <a:extLst>
              <a:ext uri="{FF2B5EF4-FFF2-40B4-BE49-F238E27FC236}">
                <a16:creationId xmlns:a16="http://schemas.microsoft.com/office/drawing/2014/main" id="{FFCA994E-0D56-8953-7D83-D3A739CCA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985" y="1653522"/>
            <a:ext cx="3946645" cy="1759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8078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50C98-6F1C-7C70-6881-B02A0098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7052D6-932C-5B21-EC00-B89D65EB89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6CC69D8-AEDF-90CB-2AA4-75372D12C35A}"/>
              </a:ext>
            </a:extLst>
          </p:cNvPr>
          <p:cNvSpPr txBox="1"/>
          <p:nvPr/>
        </p:nvSpPr>
        <p:spPr>
          <a:xfrm>
            <a:off x="4172230" y="183832"/>
            <a:ext cx="3847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USER x ROLE x DBA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1419E76-BEA4-4941-892F-46BCEAC4DE6F}"/>
              </a:ext>
            </a:extLst>
          </p:cNvPr>
          <p:cNvSpPr txBox="1"/>
          <p:nvPr/>
        </p:nvSpPr>
        <p:spPr>
          <a:xfrm>
            <a:off x="703385" y="1257300"/>
            <a:ext cx="599427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/>
              <a:t>User (Usuário)</a:t>
            </a:r>
          </a:p>
          <a:p>
            <a:pPr marL="285750" indent="-285750">
              <a:buFontTx/>
              <a:buChar char="-"/>
            </a:pPr>
            <a:r>
              <a:rPr lang="pt-BR" dirty="0"/>
              <a:t>Representa a conta de acesso (Identidade);</a:t>
            </a:r>
          </a:p>
          <a:p>
            <a:pPr marL="285750" indent="-285750">
              <a:buFontTx/>
              <a:buChar char="-"/>
            </a:pPr>
            <a:r>
              <a:rPr lang="pt-BR" dirty="0"/>
              <a:t>Função: Identificar a pessoa/sistema.</a:t>
            </a:r>
          </a:p>
          <a:p>
            <a:pPr marL="285750" indent="-285750">
              <a:buFontTx/>
              <a:buChar char="-"/>
            </a:pPr>
            <a:endParaRPr lang="pt-BR" sz="2400" dirty="0"/>
          </a:p>
          <a:p>
            <a:pPr marL="285750" indent="-285750">
              <a:buFontTx/>
              <a:buChar char="-"/>
            </a:pPr>
            <a:endParaRPr lang="pt-BR" sz="2400" dirty="0"/>
          </a:p>
          <a:p>
            <a:r>
              <a:rPr lang="pt-BR" sz="3200" dirty="0"/>
              <a:t>Role (Função)</a:t>
            </a:r>
          </a:p>
          <a:p>
            <a:pPr marL="285750" indent="-285750">
              <a:buFontTx/>
              <a:buChar char="-"/>
            </a:pPr>
            <a:r>
              <a:rPr lang="pt-BR" dirty="0"/>
              <a:t>Representa o “contêiner” de permissões dos usuários;</a:t>
            </a:r>
          </a:p>
          <a:p>
            <a:pPr marL="285750" indent="-285750">
              <a:buFontTx/>
              <a:buChar char="-"/>
            </a:pPr>
            <a:r>
              <a:rPr lang="pt-BR" dirty="0"/>
              <a:t>Função: Organizar permissões por cargo;</a:t>
            </a:r>
          </a:p>
          <a:p>
            <a:pPr marL="285750" indent="-285750">
              <a:buFontTx/>
              <a:buChar char="-"/>
            </a:pPr>
            <a:r>
              <a:rPr lang="pt-BR" dirty="0"/>
              <a:t>Usuários em comum fazem parte de um papel em comum.</a:t>
            </a:r>
          </a:p>
          <a:p>
            <a:pPr marL="285750" indent="-285750">
              <a:buFontTx/>
              <a:buChar char="-"/>
            </a:pPr>
            <a:endParaRPr lang="pt-BR" dirty="0"/>
          </a:p>
          <a:p>
            <a:pPr marL="285750" indent="-285750">
              <a:buFontTx/>
              <a:buChar char="-"/>
            </a:pPr>
            <a:endParaRPr lang="pt-BR" dirty="0"/>
          </a:p>
          <a:p>
            <a:r>
              <a:rPr lang="pt-BR" sz="3200" dirty="0"/>
              <a:t>DBA (</a:t>
            </a:r>
            <a:r>
              <a:rPr lang="pt-BR" sz="3200" dirty="0" err="1"/>
              <a:t>Database</a:t>
            </a:r>
            <a:r>
              <a:rPr lang="pt-BR" sz="3200" dirty="0"/>
              <a:t> Admin)</a:t>
            </a:r>
          </a:p>
          <a:p>
            <a:pPr marL="285750" indent="-285750">
              <a:buFontTx/>
              <a:buChar char="-"/>
            </a:pPr>
            <a:r>
              <a:rPr lang="pt-BR" dirty="0"/>
              <a:t>É mais do que simplesmente um usuário, representa o profissional por trás do gerenciamento do Banco de dados como um todo;</a:t>
            </a:r>
          </a:p>
          <a:p>
            <a:pPr marL="285750" indent="-285750">
              <a:buFontTx/>
              <a:buChar char="-"/>
            </a:pPr>
            <a:r>
              <a:rPr lang="pt-BR" dirty="0"/>
              <a:t>Função: Administrar a infraestrutura e segurança.</a:t>
            </a:r>
          </a:p>
          <a:p>
            <a:endParaRPr lang="pt-BR" dirty="0"/>
          </a:p>
        </p:txBody>
      </p:sp>
      <p:pic>
        <p:nvPicPr>
          <p:cNvPr id="4098" name="Picture 2" descr="Você sabe qual a importância de um DBA em seu projeto? - Arbit">
            <a:extLst>
              <a:ext uri="{FF2B5EF4-FFF2-40B4-BE49-F238E27FC236}">
                <a16:creationId xmlns:a16="http://schemas.microsoft.com/office/drawing/2014/main" id="{2B7C63E5-ACAE-8D66-FB9C-C47BA22F7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6423" y="4988419"/>
            <a:ext cx="2955070" cy="1664177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100" name="Picture 4" descr="SQL Developer Job Description: Role, Skills, Salary &amp; More - CoderPad">
            <a:extLst>
              <a:ext uri="{FF2B5EF4-FFF2-40B4-BE49-F238E27FC236}">
                <a16:creationId xmlns:a16="http://schemas.microsoft.com/office/drawing/2014/main" id="{0490DE8A-25FA-51B3-85CB-96AD675AC0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9123" y="2832620"/>
            <a:ext cx="2816469" cy="1878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CB75E83-1403-5F5E-907F-AE29F18A797C}"/>
              </a:ext>
            </a:extLst>
          </p:cNvPr>
          <p:cNvCxnSpPr/>
          <p:nvPr/>
        </p:nvCxnSpPr>
        <p:spPr>
          <a:xfrm>
            <a:off x="703385" y="2734408"/>
            <a:ext cx="10893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232B4880-0DD4-764F-B9F7-FD8E7DEA25B9}"/>
              </a:ext>
            </a:extLst>
          </p:cNvPr>
          <p:cNvCxnSpPr/>
          <p:nvPr/>
        </p:nvCxnSpPr>
        <p:spPr>
          <a:xfrm>
            <a:off x="703385" y="4783015"/>
            <a:ext cx="1089366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02" name="Picture 6" descr="3.000+ Cientista De Dados Ilustração de stock, gráficos vetoriais e clipart  royalty-free - iStock">
            <a:extLst>
              <a:ext uri="{FF2B5EF4-FFF2-40B4-BE49-F238E27FC236}">
                <a16:creationId xmlns:a16="http://schemas.microsoft.com/office/drawing/2014/main" id="{3FB4BF8E-008C-1EC7-7386-AFEF1B3E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4195" y="1063159"/>
            <a:ext cx="4001397" cy="1582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414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D139-FCA3-7A77-170A-9C7BD6F09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35B40CF-27D2-5913-E42F-18006945F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C82F101-46D0-6AFC-72F6-2E9AECB0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01" y="331795"/>
            <a:ext cx="2870600" cy="2152950"/>
          </a:xfrm>
          <a:prstGeom prst="rect">
            <a:avLst/>
          </a:prstGeom>
        </p:spPr>
      </p:pic>
      <p:pic>
        <p:nvPicPr>
          <p:cNvPr id="7" name="Imagem 6" descr="Tabela&#10;&#10;O conteúdo gerado por IA pode estar incorreto.">
            <a:extLst>
              <a:ext uri="{FF2B5EF4-FFF2-40B4-BE49-F238E27FC236}">
                <a16:creationId xmlns:a16="http://schemas.microsoft.com/office/drawing/2014/main" id="{7B76D030-F957-6AEC-A976-EBD91BFF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1" y="3812049"/>
            <a:ext cx="2838846" cy="2152950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2D401DA5-AE98-01C4-4556-A99BC2255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402" y="1564511"/>
            <a:ext cx="6375347" cy="3728977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D3D6BF2-05FB-B581-144B-1B79375C1B63}"/>
              </a:ext>
            </a:extLst>
          </p:cNvPr>
          <p:cNvSpPr/>
          <p:nvPr/>
        </p:nvSpPr>
        <p:spPr>
          <a:xfrm>
            <a:off x="1301262" y="1204546"/>
            <a:ext cx="2004646" cy="325316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338F0C-9321-CC9E-AB82-B33302CA6C1D}"/>
              </a:ext>
            </a:extLst>
          </p:cNvPr>
          <p:cNvSpPr/>
          <p:nvPr/>
        </p:nvSpPr>
        <p:spPr>
          <a:xfrm>
            <a:off x="1186032" y="5521569"/>
            <a:ext cx="2119876" cy="26376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2E96E51-6609-462F-226F-ABF13AAA66BA}"/>
              </a:ext>
            </a:extLst>
          </p:cNvPr>
          <p:cNvSpPr/>
          <p:nvPr/>
        </p:nvSpPr>
        <p:spPr>
          <a:xfrm>
            <a:off x="7411915" y="1758462"/>
            <a:ext cx="967154" cy="193430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20273D6-B8B2-C003-160A-EF87F75D45C0}"/>
              </a:ext>
            </a:extLst>
          </p:cNvPr>
          <p:cNvSpPr txBox="1"/>
          <p:nvPr/>
        </p:nvSpPr>
        <p:spPr>
          <a:xfrm>
            <a:off x="6009280" y="489868"/>
            <a:ext cx="45255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dirty="0"/>
              <a:t>Visualização dos Usuários</a:t>
            </a:r>
          </a:p>
        </p:txBody>
      </p:sp>
    </p:spTree>
    <p:extLst>
      <p:ext uri="{BB962C8B-B14F-4D97-AF65-F5344CB8AC3E}">
        <p14:creationId xmlns:p14="http://schemas.microsoft.com/office/powerpoint/2010/main" val="2266546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10E2-91E7-2CA5-10D1-A503A440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F8F9171-963C-9D10-213C-2AF85B59B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6928AEB7-DE03-15B3-9857-8AD37D13D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203" y="647312"/>
            <a:ext cx="9983593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4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472-551B-D9DD-2520-A32CBA43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197F6E7-07D1-05B5-89CE-F019D2FB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0B8863B-03C1-B480-A27A-28CEB6D93B9A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D7452A5-67B3-1276-9540-7946C46CF78B}"/>
              </a:ext>
            </a:extLst>
          </p:cNvPr>
          <p:cNvSpPr txBox="1"/>
          <p:nvPr/>
        </p:nvSpPr>
        <p:spPr>
          <a:xfrm>
            <a:off x="712177" y="1318846"/>
            <a:ext cx="68843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Voc</a:t>
            </a:r>
            <a:r>
              <a:rPr lang="pt-BR" dirty="0"/>
              <a:t>ê foi contratado para garantir a segurança do banco de dados de uma loja virtual. Considere a Tabela a Seguir:</a:t>
            </a:r>
          </a:p>
          <a:p>
            <a:pPr algn="ctr"/>
            <a:endParaRPr lang="pt-BR" dirty="0"/>
          </a:p>
          <a:p>
            <a:pPr algn="ctr"/>
            <a:r>
              <a:rPr lang="pt-BR" dirty="0"/>
              <a:t>Parte 1</a:t>
            </a:r>
          </a:p>
          <a:p>
            <a:endParaRPr lang="pt-BR" dirty="0"/>
          </a:p>
          <a:p>
            <a:r>
              <a:rPr lang="pt-BR" dirty="0"/>
              <a:t>a) Crie um usuário chamado </a:t>
            </a:r>
            <a:r>
              <a:rPr lang="pt-BR" dirty="0" err="1"/>
              <a:t>dev_junior</a:t>
            </a:r>
            <a:r>
              <a:rPr lang="pt-BR" dirty="0"/>
              <a:t> que possa acessar o banco de qualquer lugar;</a:t>
            </a:r>
          </a:p>
          <a:p>
            <a:r>
              <a:rPr lang="pt-BR" dirty="0"/>
              <a:t>b) Dê a ele a permissão de apenas leitura (</a:t>
            </a:r>
            <a:r>
              <a:rPr lang="pt-BR" dirty="0" err="1"/>
              <a:t>Select</a:t>
            </a:r>
            <a:r>
              <a:rPr lang="pt-BR" dirty="0"/>
              <a:t>) em todas as tabelas do banco ‘ecommerce’;</a:t>
            </a:r>
          </a:p>
          <a:p>
            <a:r>
              <a:rPr lang="pt-BR" dirty="0"/>
              <a:t>c) O </a:t>
            </a:r>
            <a:r>
              <a:rPr lang="pt-BR" dirty="0" err="1"/>
              <a:t>dev_junior</a:t>
            </a:r>
            <a:r>
              <a:rPr lang="pt-BR" dirty="0"/>
              <a:t> acabou sendo promovido. Dessa forma, ele agora pode inserir os dados na tabela produtos, mas não pode deletar nenhum registro;</a:t>
            </a:r>
          </a:p>
          <a:p>
            <a:r>
              <a:rPr lang="pt-BR" dirty="0"/>
              <a:t>d) Remova todas as permissões de </a:t>
            </a:r>
            <a:r>
              <a:rPr lang="pt-BR" dirty="0" err="1"/>
              <a:t>Insert</a:t>
            </a:r>
            <a:r>
              <a:rPr lang="pt-BR" dirty="0"/>
              <a:t> desse usuário;</a:t>
            </a:r>
            <a:endParaRPr lang="en-US" dirty="0"/>
          </a:p>
        </p:txBody>
      </p:sp>
      <p:pic>
        <p:nvPicPr>
          <p:cNvPr id="8" name="Picture 2" descr="Ilustração de desenhos animados de venda de compras on-line | Vetor Premium">
            <a:extLst>
              <a:ext uri="{FF2B5EF4-FFF2-40B4-BE49-F238E27FC236}">
                <a16:creationId xmlns:a16="http://schemas.microsoft.com/office/drawing/2014/main" id="{7E40F4D0-6CCB-EE1A-02D8-330302073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498" y="1889614"/>
            <a:ext cx="3215787" cy="3215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AD18C0C-AF24-D0A9-A1C0-84E6648A2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0576" y="5100294"/>
            <a:ext cx="4887578" cy="16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5587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A1AD0-752D-264F-EE88-613973DB9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8373FC8-0B19-38D9-E05C-4B8941B41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D7DC62D-9B7B-E220-2205-7D7840E6B6D4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pic>
        <p:nvPicPr>
          <p:cNvPr id="5122" name="Picture 2" descr="Ilustração de desenhos animados de venda de compras on-line | Vetor Premium">
            <a:extLst>
              <a:ext uri="{FF2B5EF4-FFF2-40B4-BE49-F238E27FC236}">
                <a16:creationId xmlns:a16="http://schemas.microsoft.com/office/drawing/2014/main" id="{43DD45D0-2C3B-008F-B728-33CB15B4DC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498" y="1889614"/>
            <a:ext cx="3215787" cy="3215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48F046C-54FA-578F-065B-65CDE4210C2E}"/>
              </a:ext>
            </a:extLst>
          </p:cNvPr>
          <p:cNvSpPr txBox="1"/>
          <p:nvPr/>
        </p:nvSpPr>
        <p:spPr>
          <a:xfrm>
            <a:off x="712177" y="1318846"/>
            <a:ext cx="68843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Houve</a:t>
            </a:r>
            <a:r>
              <a:rPr lang="en-US" dirty="0"/>
              <a:t> um </a:t>
            </a:r>
            <a:r>
              <a:rPr lang="en-US" dirty="0" err="1"/>
              <a:t>crescimento</a:t>
            </a:r>
            <a:r>
              <a:rPr lang="en-US" dirty="0"/>
              <a:t> </a:t>
            </a:r>
            <a:r>
              <a:rPr lang="en-US" dirty="0" err="1"/>
              <a:t>exponencial</a:t>
            </a:r>
            <a:r>
              <a:rPr lang="en-US" dirty="0"/>
              <a:t> da </a:t>
            </a:r>
            <a:r>
              <a:rPr lang="en-US" dirty="0" err="1"/>
              <a:t>empresa</a:t>
            </a:r>
            <a:r>
              <a:rPr lang="en-US" dirty="0"/>
              <a:t> e o </a:t>
            </a:r>
            <a:r>
              <a:rPr lang="en-US" dirty="0" err="1"/>
              <a:t>gerenciamento</a:t>
            </a:r>
            <a:r>
              <a:rPr lang="en-US" dirty="0"/>
              <a:t> individual se </a:t>
            </a:r>
            <a:r>
              <a:rPr lang="en-US" dirty="0" err="1"/>
              <a:t>tornou</a:t>
            </a:r>
            <a:r>
              <a:rPr lang="en-US" dirty="0"/>
              <a:t> </a:t>
            </a:r>
            <a:r>
              <a:rPr lang="en-US" dirty="0" err="1"/>
              <a:t>impossível</a:t>
            </a:r>
            <a:endParaRPr lang="pt-BR" dirty="0"/>
          </a:p>
          <a:p>
            <a:endParaRPr lang="pt-BR" dirty="0"/>
          </a:p>
          <a:p>
            <a:pPr algn="ctr"/>
            <a:r>
              <a:rPr lang="pt-BR" dirty="0"/>
              <a:t>Parte 2</a:t>
            </a:r>
          </a:p>
          <a:p>
            <a:endParaRPr lang="pt-BR" dirty="0"/>
          </a:p>
          <a:p>
            <a:r>
              <a:rPr lang="pt-BR" dirty="0"/>
              <a:t>a) Crie um papel (Role) chamado </a:t>
            </a:r>
            <a:r>
              <a:rPr lang="pt-BR" dirty="0" err="1"/>
              <a:t>role_vendas</a:t>
            </a:r>
            <a:r>
              <a:rPr lang="pt-BR" dirty="0"/>
              <a:t>;</a:t>
            </a:r>
          </a:p>
          <a:p>
            <a:endParaRPr lang="pt-BR" dirty="0"/>
          </a:p>
          <a:p>
            <a:r>
              <a:rPr lang="pt-BR" dirty="0"/>
              <a:t>b) Atribua a essa Role a permissão de ver apenas as colunas ‘nome’ e ‘</a:t>
            </a:r>
            <a:r>
              <a:rPr lang="pt-BR" dirty="0" err="1"/>
              <a:t>preco</a:t>
            </a:r>
            <a:r>
              <a:rPr lang="pt-BR" dirty="0"/>
              <a:t>’ da tabela produtos;</a:t>
            </a:r>
          </a:p>
          <a:p>
            <a:endParaRPr lang="pt-BR" dirty="0"/>
          </a:p>
          <a:p>
            <a:r>
              <a:rPr lang="pt-BR" dirty="0"/>
              <a:t>c) Crie o usuário vendedor_1 e atribua a ele a Role criada;</a:t>
            </a:r>
          </a:p>
          <a:p>
            <a:endParaRPr lang="pt-BR" dirty="0"/>
          </a:p>
          <a:p>
            <a:r>
              <a:rPr lang="pt-BR" dirty="0"/>
              <a:t>d) Supondo que este usuário tente consultar os produtos. O que acontece se ele tentar dar um ‘</a:t>
            </a:r>
            <a:r>
              <a:rPr lang="pt-BR" dirty="0" err="1"/>
              <a:t>Select</a:t>
            </a:r>
            <a:r>
              <a:rPr lang="pt-BR" dirty="0"/>
              <a:t> *’ 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8544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</TotalTime>
  <Words>994</Words>
  <Application>Microsoft Office PowerPoint</Application>
  <PresentationFormat>Widescreen</PresentationFormat>
  <Paragraphs>155</Paragraphs>
  <Slides>23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12</cp:revision>
  <dcterms:created xsi:type="dcterms:W3CDTF">2025-07-21T23:50:22Z</dcterms:created>
  <dcterms:modified xsi:type="dcterms:W3CDTF">2026-04-16T04:31:44Z</dcterms:modified>
</cp:coreProperties>
</file>