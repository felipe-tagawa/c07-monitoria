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3" r:id="rId3"/>
    <p:sldId id="258" r:id="rId4"/>
    <p:sldId id="276" r:id="rId5"/>
    <p:sldId id="260" r:id="rId6"/>
    <p:sldId id="264" r:id="rId7"/>
    <p:sldId id="259" r:id="rId8"/>
    <p:sldId id="261" r:id="rId9"/>
    <p:sldId id="262" r:id="rId10"/>
    <p:sldId id="278" r:id="rId11"/>
    <p:sldId id="280" r:id="rId12"/>
    <p:sldId id="279" r:id="rId13"/>
    <p:sldId id="281" r:id="rId14"/>
    <p:sldId id="265" r:id="rId15"/>
    <p:sldId id="282" r:id="rId16"/>
    <p:sldId id="275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605CAA-4793-AB79-5A17-B1C52CEFC7E8}" v="1546" dt="2026-08-14T01:04:33.467"/>
    <p1510:client id="{AE7C63E3-1D4A-B7E6-FF92-F1D6697CFDE3}" v="80" dt="2026-08-14T00:02:39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23:09:00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23713,'5613'0'0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23:09:21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23713,'2741'0'0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23:09:36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23713,'3393'0'0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23:04:17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24145,'2590'0'0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22:53:27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23949,'6977'0'0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22:55:16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23949,'4618'0'0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22:55:51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23949,'4618'0'0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88FEF-F436-4522-91D9-3FBB4B3CDA67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532B0-B003-473B-9208-A2E213C2D0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049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2E039-2C2B-455F-97AD-3DF3B59C34C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681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936EA-EDCE-E395-A3E8-3B2553530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DB4B34-F732-5ACA-6C64-CED1D90FC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0857D1-B367-B814-EB98-03A99F1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45AAC5-EA2D-166D-3500-ABB01AE0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5D0B9-E2E2-DB70-C689-7F79AFF1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497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2275C-1CE0-37A1-A0F3-1B6AFA70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5F4C68-467D-983C-74F1-D5AB78224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15F145-D4D9-9519-40B5-847ABEF84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320868-5273-EA97-185C-AFABF5A7D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577338-6DA6-1C93-707E-C0538EE5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941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43FE9-E8BA-CCB6-9A8A-65A43F16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8C63ED-48FC-5189-9E33-145A2ECC2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7E829B-FB38-1C71-36FE-9F7CC388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2FA988-7822-0A2A-A085-6E9CB9E30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AD0A9E-D6CA-A6F9-75F9-8827D85C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462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7C781-785B-137D-989A-7D979D4C9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AABEAD-EBF0-E3C3-2EED-DC7FAAB06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AFE13E-692D-C8D6-6BC2-2E77A8B08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7AEEC0-4DF7-46B1-E6C8-D6B39002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D2D2BC-F1F2-E327-6161-1E02C31A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02263B-1BEB-A007-DB23-9D3756597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45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2F793-4DA6-BFF2-7FC7-9E6DC55E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BE7B32-DB6E-AEC8-9F1A-B3CC133FB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F77343-E9FC-15D1-D7E4-AE32381DC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CF0CB81-11F6-08C1-FBC4-3574A79C1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878FC7-B946-534C-278B-4AF49E94D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39F3ACE-AC93-8885-1C19-0E0E5FDF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DF5604-31E6-42E1-EBA2-53EC7DCD4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3CF9D0-E687-62D8-A172-619849E4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96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A493C-DDF2-EEF4-03EE-673453A9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35FD19-D95E-C04E-FFAC-1D2860CB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A639466-8599-4EDF-4D25-214154F3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76BE16-EC65-B64D-5603-6145B510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274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D1F7C1-363E-CA07-3901-4ACE7ADF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083D0BD-BCE7-8367-19E6-8D231BE98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17531C-D1B9-1DB7-4A9D-3F1B9BA2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3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3E8EE-BC9B-43B1-E826-34541631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FA0916-0B97-2E29-CF1E-4C5914F68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3E8EF7-4BF1-C3F0-E4A1-2FE127D77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5DECFD-BE3C-AD54-F9C9-4882D6438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8B860C-46C7-515E-14B4-D55944E16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C1B3ED-FCFC-3A46-8D2E-582D0A07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514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8FA00-90BA-966E-6A29-4ED50ED3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16D27F3-3175-5174-61EB-42D8CBC76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9A38C8-0F8D-9E70-9A78-FA6C49AFB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54D4CC-95EE-108A-3A59-AEC31AB3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56F36D-1B0A-AF43-E75E-5DE08168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A3A6A6E-B119-B59C-5632-66E0FA6E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02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687EC-2FEA-BC90-D23C-270FBAAE2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16177C-80D8-4A0B-304D-1ABD56BA2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4CBAFD-3824-CD6F-8DEC-C50F51B98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86DC45-DB64-0507-6ED8-3A7D1B5D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74F945-38A2-F849-3C34-CF311E2E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5287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FE493D-BDF8-AA72-B71F-6681AA2362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004253-4DC3-5D09-A175-05901F3C6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EC77F8-F88B-7BBA-8C73-C36A5CB6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325517-ED4A-69ED-A0E2-864A1353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BC8591-79BB-C3CD-D7EC-502B066B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33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9E6E89-3B11-68A4-2DA2-B8FB90D5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53AA82-BC41-C118-C2DC-9DEEC2A8A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84F65B-1D61-FE33-D1D7-CD35F437C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EC918-6A4C-437B-AF1C-9622FE800873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FC38E8-EBE4-6922-D320-4CEECB956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8AE9D3-CE56-1A26-2C9B-5A3E79B5C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05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9.png"/><Relationship Id="rId4" Type="http://schemas.openxmlformats.org/officeDocument/2006/relationships/customXml" Target="../ink/ink1.xml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15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754681D-DBF5-8273-C23C-0299FB464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BCE7230-F407-9EF5-8E18-0586494E95F1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3CC7D12-D3BF-9337-7D0C-D2B1685C85F8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E590A6B-DA49-9159-AD12-07097EA653E5}"/>
              </a:ext>
            </a:extLst>
          </p:cNvPr>
          <p:cNvSpPr txBox="1"/>
          <p:nvPr/>
        </p:nvSpPr>
        <p:spPr>
          <a:xfrm>
            <a:off x="105508" y="6035814"/>
            <a:ext cx="3358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Comandos DDL</a:t>
            </a:r>
          </a:p>
        </p:txBody>
      </p:sp>
    </p:spTree>
    <p:extLst>
      <p:ext uri="{BB962C8B-B14F-4D97-AF65-F5344CB8AC3E}">
        <p14:creationId xmlns:p14="http://schemas.microsoft.com/office/powerpoint/2010/main" val="239161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168834C-13B9-6CB3-5318-985EEE39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Types of SQL Commands. - Learnomate Technologies">
            <a:extLst>
              <a:ext uri="{FF2B5EF4-FFF2-40B4-BE49-F238E27FC236}">
                <a16:creationId xmlns:a16="http://schemas.microsoft.com/office/drawing/2014/main" id="{2BE99228-959E-AC6D-4561-CD3DF5B2D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941A8B2-D380-DC77-7419-374815BF0369}"/>
              </a:ext>
            </a:extLst>
          </p:cNvPr>
          <p:cNvSpPr txBox="1"/>
          <p:nvPr/>
        </p:nvSpPr>
        <p:spPr>
          <a:xfrm>
            <a:off x="4588119" y="188803"/>
            <a:ext cx="3015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Linguagem</a:t>
            </a:r>
            <a:r>
              <a:rPr lang="en-US" sz="3600" dirty="0"/>
              <a:t> SQL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77636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113F-A1BD-AB7E-5C05-BD73BE93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20B5AB8-0114-3359-FC84-630E6C7F1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3E29DD7-F91D-7787-FE3B-123FF3FEFD57}"/>
              </a:ext>
            </a:extLst>
          </p:cNvPr>
          <p:cNvSpPr txBox="1"/>
          <p:nvPr/>
        </p:nvSpPr>
        <p:spPr>
          <a:xfrm>
            <a:off x="4798402" y="180011"/>
            <a:ext cx="2595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Aula de </a:t>
            </a:r>
            <a:r>
              <a:rPr lang="en-US" sz="3600" dirty="0" err="1"/>
              <a:t>Hoje</a:t>
            </a:r>
            <a:endParaRPr lang="pt-BR" sz="3600" dirty="0"/>
          </a:p>
        </p:txBody>
      </p:sp>
      <p:pic>
        <p:nvPicPr>
          <p:cNvPr id="3" name="Picture 2" descr="Types of SQL Commands. - Learnomate Technologies">
            <a:extLst>
              <a:ext uri="{FF2B5EF4-FFF2-40B4-BE49-F238E27FC236}">
                <a16:creationId xmlns:a16="http://schemas.microsoft.com/office/drawing/2014/main" id="{AAE9AD72-B988-9CA1-92D2-AFAE815E1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CDAE331-760E-0B2B-E687-90DE10150262}"/>
              </a:ext>
            </a:extLst>
          </p:cNvPr>
          <p:cNvSpPr/>
          <p:nvPr/>
        </p:nvSpPr>
        <p:spPr>
          <a:xfrm flipH="1">
            <a:off x="2857498" y="2711666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1C933C8-ABC8-9C19-5FE1-2E679453A02A}"/>
              </a:ext>
            </a:extLst>
          </p:cNvPr>
          <p:cNvSpPr/>
          <p:nvPr/>
        </p:nvSpPr>
        <p:spPr>
          <a:xfrm flipH="1">
            <a:off x="2857498" y="3041145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7A2CE3F9-1D8A-FD32-1BCF-37A3DFD7E346}"/>
              </a:ext>
            </a:extLst>
          </p:cNvPr>
          <p:cNvSpPr/>
          <p:nvPr/>
        </p:nvSpPr>
        <p:spPr>
          <a:xfrm flipH="1">
            <a:off x="3182814" y="3297115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5C7BCAF4-BD4C-0798-192A-479758143CFC}"/>
              </a:ext>
            </a:extLst>
          </p:cNvPr>
          <p:cNvSpPr/>
          <p:nvPr/>
        </p:nvSpPr>
        <p:spPr>
          <a:xfrm flipH="1">
            <a:off x="2971798" y="2404991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30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78719FF-F7CE-4325-97A0-FF41192BC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9BBF6BF-6C28-843E-8D7C-54E5E79316A6}"/>
              </a:ext>
            </a:extLst>
          </p:cNvPr>
          <p:cNvSpPr txBox="1"/>
          <p:nvPr/>
        </p:nvSpPr>
        <p:spPr>
          <a:xfrm>
            <a:off x="4279106" y="162426"/>
            <a:ext cx="363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Comando CREATE</a:t>
            </a:r>
            <a:endParaRPr lang="pt-BR" sz="3600" dirty="0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2ADEBE6-B192-E25D-FBDE-E8F8065A0A74}"/>
              </a:ext>
            </a:extLst>
          </p:cNvPr>
          <p:cNvCxnSpPr>
            <a:cxnSpLocks/>
          </p:cNvCxnSpPr>
          <p:nvPr/>
        </p:nvCxnSpPr>
        <p:spPr>
          <a:xfrm flipH="1">
            <a:off x="1441938" y="4086612"/>
            <a:ext cx="266006" cy="68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3727BA92-63A0-F1BC-74DE-05A5AF25B4D7}"/>
              </a:ext>
            </a:extLst>
          </p:cNvPr>
          <p:cNvCxnSpPr>
            <a:cxnSpLocks/>
          </p:cNvCxnSpPr>
          <p:nvPr/>
        </p:nvCxnSpPr>
        <p:spPr>
          <a:xfrm>
            <a:off x="3017648" y="3972532"/>
            <a:ext cx="209129" cy="1042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B7DCBB4D-2820-209B-44C8-5BE88C126B99}"/>
              </a:ext>
            </a:extLst>
          </p:cNvPr>
          <p:cNvCxnSpPr>
            <a:cxnSpLocks/>
          </p:cNvCxnSpPr>
          <p:nvPr/>
        </p:nvCxnSpPr>
        <p:spPr>
          <a:xfrm>
            <a:off x="4279106" y="4018085"/>
            <a:ext cx="284102" cy="997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A129D181-5AFE-1228-DF99-673156D75A82}"/>
              </a:ext>
            </a:extLst>
          </p:cNvPr>
          <p:cNvCxnSpPr>
            <a:cxnSpLocks/>
          </p:cNvCxnSpPr>
          <p:nvPr/>
        </p:nvCxnSpPr>
        <p:spPr>
          <a:xfrm>
            <a:off x="6638193" y="4086612"/>
            <a:ext cx="0" cy="928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74CC7A68-586D-A3BF-4331-42C01F368DFB}"/>
              </a:ext>
            </a:extLst>
          </p:cNvPr>
          <p:cNvCxnSpPr>
            <a:cxnSpLocks/>
          </p:cNvCxnSpPr>
          <p:nvPr/>
        </p:nvCxnSpPr>
        <p:spPr>
          <a:xfrm>
            <a:off x="9336734" y="4018085"/>
            <a:ext cx="0" cy="997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E55AD1B-D3AD-923B-0703-62D260DDE8C4}"/>
              </a:ext>
            </a:extLst>
          </p:cNvPr>
          <p:cNvSpPr txBox="1"/>
          <p:nvPr/>
        </p:nvSpPr>
        <p:spPr>
          <a:xfrm>
            <a:off x="647233" y="4849323"/>
            <a:ext cx="1060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Nome do </a:t>
            </a:r>
            <a:r>
              <a:rPr lang="en-US" dirty="0" err="1"/>
              <a:t>Atributo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775F0BE-8064-6993-10C1-38805A4389C3}"/>
              </a:ext>
            </a:extLst>
          </p:cNvPr>
          <p:cNvSpPr txBox="1"/>
          <p:nvPr/>
        </p:nvSpPr>
        <p:spPr>
          <a:xfrm>
            <a:off x="2696421" y="5146111"/>
            <a:ext cx="1060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Tipo do </a:t>
            </a:r>
            <a:r>
              <a:rPr lang="en-US" dirty="0" err="1"/>
              <a:t>Atributo</a:t>
            </a:r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73AE8B8-376E-7DB2-EB08-98211C63B96E}"/>
              </a:ext>
            </a:extLst>
          </p:cNvPr>
          <p:cNvSpPr txBox="1"/>
          <p:nvPr/>
        </p:nvSpPr>
        <p:spPr>
          <a:xfrm>
            <a:off x="3947746" y="5172488"/>
            <a:ext cx="13715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Indica que o </a:t>
            </a:r>
            <a:r>
              <a:rPr lang="en-US" dirty="0" err="1"/>
              <a:t>Atributo</a:t>
            </a:r>
            <a:r>
              <a:rPr lang="en-US" dirty="0"/>
              <a:t> </a:t>
            </a:r>
            <a:r>
              <a:rPr lang="en-US" u="sng" dirty="0" err="1"/>
              <a:t>não</a:t>
            </a:r>
            <a:r>
              <a:rPr lang="en-US" u="sng" dirty="0"/>
              <a:t> </a:t>
            </a:r>
            <a:r>
              <a:rPr lang="en-US" u="sng" dirty="0" err="1"/>
              <a:t>pode</a:t>
            </a:r>
            <a:r>
              <a:rPr lang="en-US" u="sng" dirty="0"/>
              <a:t> ser </a:t>
            </a:r>
            <a:r>
              <a:rPr lang="en-US" u="sng" dirty="0" err="1"/>
              <a:t>nulo</a:t>
            </a:r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D911C3A-F14B-D6C5-5E59-858CCEC673FE}"/>
              </a:ext>
            </a:extLst>
          </p:cNvPr>
          <p:cNvSpPr txBox="1"/>
          <p:nvPr/>
        </p:nvSpPr>
        <p:spPr>
          <a:xfrm>
            <a:off x="5459965" y="5103674"/>
            <a:ext cx="25145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Para </a:t>
            </a:r>
            <a:r>
              <a:rPr lang="en-US" dirty="0" err="1"/>
              <a:t>Atributos</a:t>
            </a:r>
            <a:r>
              <a:rPr lang="en-US" dirty="0"/>
              <a:t> </a:t>
            </a:r>
            <a:r>
              <a:rPr lang="en-US" dirty="0" err="1"/>
              <a:t>numéricos</a:t>
            </a:r>
            <a:r>
              <a:rPr lang="en-US" dirty="0"/>
              <a:t>,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modificador</a:t>
            </a:r>
            <a:r>
              <a:rPr lang="en-US" dirty="0"/>
              <a:t> </a:t>
            </a:r>
            <a:r>
              <a:rPr lang="en-US" dirty="0" err="1"/>
              <a:t>incrementa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1 no </a:t>
            </a:r>
            <a:r>
              <a:rPr lang="en-US" dirty="0" err="1"/>
              <a:t>último</a:t>
            </a:r>
            <a:r>
              <a:rPr lang="en-US" dirty="0"/>
              <a:t> </a:t>
            </a:r>
            <a:r>
              <a:rPr lang="en-US" dirty="0" err="1"/>
              <a:t>inserido</a:t>
            </a:r>
            <a:r>
              <a:rPr lang="en-US" dirty="0"/>
              <a:t>, </a:t>
            </a:r>
            <a:r>
              <a:rPr lang="en-US" dirty="0" err="1"/>
              <a:t>sem</a:t>
            </a:r>
            <a:r>
              <a:rPr lang="en-US" dirty="0"/>
              <a:t> a </a:t>
            </a:r>
            <a:r>
              <a:rPr lang="en-US" dirty="0" err="1"/>
              <a:t>necessidade</a:t>
            </a:r>
            <a:r>
              <a:rPr lang="en-US" dirty="0"/>
              <a:t> de </a:t>
            </a:r>
            <a:r>
              <a:rPr lang="en-US" dirty="0" err="1"/>
              <a:t>inserir</a:t>
            </a:r>
            <a:r>
              <a:rPr lang="en-US" dirty="0"/>
              <a:t> </a:t>
            </a:r>
            <a:r>
              <a:rPr lang="en-US" dirty="0" err="1"/>
              <a:t>manualmente</a:t>
            </a:r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CAC4345-3181-A751-F1B8-E5E633F729D3}"/>
              </a:ext>
            </a:extLst>
          </p:cNvPr>
          <p:cNvSpPr txBox="1"/>
          <p:nvPr/>
        </p:nvSpPr>
        <p:spPr>
          <a:xfrm>
            <a:off x="8563708" y="5266592"/>
            <a:ext cx="1740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Indica que </a:t>
            </a:r>
            <a:r>
              <a:rPr lang="en-US" dirty="0" err="1"/>
              <a:t>este</a:t>
            </a:r>
            <a:r>
              <a:rPr lang="en-US" dirty="0"/>
              <a:t> é um </a:t>
            </a:r>
            <a:r>
              <a:rPr lang="en-US" dirty="0" err="1"/>
              <a:t>Atributo</a:t>
            </a:r>
            <a:r>
              <a:rPr lang="en-US" dirty="0"/>
              <a:t> </a:t>
            </a:r>
            <a:r>
              <a:rPr lang="en-US" dirty="0" err="1"/>
              <a:t>chave</a:t>
            </a:r>
            <a:r>
              <a:rPr lang="en-US" dirty="0"/>
              <a:t> para a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questão</a:t>
            </a:r>
            <a:endParaRPr lang="pt-BR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B2B0B117-7EBB-8952-6EFE-5DB3655D4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13" y="485591"/>
            <a:ext cx="2326797" cy="323166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4DA609A2-196C-8450-5FEB-881EF59C4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339" y="1004355"/>
            <a:ext cx="4454294" cy="504895"/>
          </a:xfrm>
          <a:prstGeom prst="rect">
            <a:avLst/>
          </a:prstGeom>
        </p:spPr>
      </p:pic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32F501D2-20E4-B124-FB9B-309440F6DF6E}"/>
              </a:ext>
            </a:extLst>
          </p:cNvPr>
          <p:cNvCxnSpPr>
            <a:cxnSpLocks/>
          </p:cNvCxnSpPr>
          <p:nvPr/>
        </p:nvCxnSpPr>
        <p:spPr>
          <a:xfrm flipV="1">
            <a:off x="3757132" y="1132103"/>
            <a:ext cx="562706" cy="334541"/>
          </a:xfrm>
          <a:prstGeom prst="bentConnector3">
            <a:avLst>
              <a:gd name="adj1" fmla="val -312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8226EE7-7817-7E0C-CE39-EA396CFA9162}"/>
              </a:ext>
            </a:extLst>
          </p:cNvPr>
          <p:cNvSpPr txBox="1"/>
          <p:nvPr/>
        </p:nvSpPr>
        <p:spPr>
          <a:xfrm>
            <a:off x="4421157" y="947437"/>
            <a:ext cx="975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Objeto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F68AD56-7FE8-E7AB-E87C-E2E6FCBD68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675" y="3467637"/>
            <a:ext cx="10002646" cy="504895"/>
          </a:xfrm>
          <a:prstGeom prst="rect">
            <a:avLst/>
          </a:prstGeom>
        </p:spPr>
      </p:pic>
      <p:pic>
        <p:nvPicPr>
          <p:cNvPr id="13" name="Imagem 1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7F7352D-BF19-8EB0-D8B8-FCF8A2F6EA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5170" y="1508289"/>
            <a:ext cx="7621656" cy="184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9B3BF-158D-9558-5552-07F216DFD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E514A06-ED8D-C178-7D3B-3F403C7B3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F5B4B5A-9DFD-2624-CD95-8A3207811C60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DROP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DFFE4F3-512C-763E-15BC-83FF2B4D2934}"/>
              </a:ext>
            </a:extLst>
          </p:cNvPr>
          <p:cNvSpPr txBox="1"/>
          <p:nvPr/>
        </p:nvSpPr>
        <p:spPr>
          <a:xfrm>
            <a:off x="2664802" y="1095443"/>
            <a:ext cx="6862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Comando</a:t>
            </a:r>
            <a:r>
              <a:rPr lang="en-US" sz="2800" dirty="0"/>
              <a:t> de </a:t>
            </a:r>
            <a:r>
              <a:rPr lang="en-US" sz="2800" u="sng" dirty="0" err="1"/>
              <a:t>exclusão</a:t>
            </a:r>
            <a:r>
              <a:rPr lang="en-US" sz="2800" u="sng" dirty="0"/>
              <a:t> de </a:t>
            </a:r>
            <a:r>
              <a:rPr lang="en-US" sz="2800" u="sng" dirty="0" err="1"/>
              <a:t>objetos</a:t>
            </a:r>
            <a:r>
              <a:rPr lang="en-US" sz="2800" dirty="0"/>
              <a:t> </a:t>
            </a:r>
            <a:r>
              <a:rPr lang="en-US" sz="2800" dirty="0" err="1"/>
              <a:t>presentes</a:t>
            </a:r>
            <a:r>
              <a:rPr lang="en-US" sz="2800" dirty="0"/>
              <a:t> no banco de dados</a:t>
            </a:r>
            <a:endParaRPr lang="pt-BR" sz="2800" dirty="0"/>
          </a:p>
        </p:txBody>
      </p:sp>
      <p:pic>
        <p:nvPicPr>
          <p:cNvPr id="8" name="Imagem 7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33D8B8E5-C4D8-B8D1-FA71-13DE15F78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332" y="2683735"/>
            <a:ext cx="7235336" cy="32275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B3873087-9071-E691-EEA9-C7784EC62FC9}"/>
                  </a:ext>
                </a:extLst>
              </p14:cNvPr>
              <p14:cNvContentPartPr/>
              <p14:nvPr/>
            </p14:nvContentPartPr>
            <p14:xfrm>
              <a:off x="3938496" y="3207437"/>
              <a:ext cx="2022689" cy="72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B3873087-9071-E691-EEA9-C7784EC62F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2371" y="3195197"/>
                <a:ext cx="2034939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4EB4C1D9-98B5-EC53-17AE-0AA50BD8430A}"/>
                  </a:ext>
                </a:extLst>
              </p14:cNvPr>
              <p14:cNvContentPartPr/>
              <p14:nvPr/>
            </p14:nvContentPartPr>
            <p14:xfrm>
              <a:off x="3938496" y="4568674"/>
              <a:ext cx="987801" cy="72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4EB4C1D9-98B5-EC53-17AE-0AA50BD843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32372" y="4556434"/>
                <a:ext cx="1000049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90AAEAD4-9E77-0E0A-EE9A-82A145D262E6}"/>
                  </a:ext>
                </a:extLst>
              </p14:cNvPr>
              <p14:cNvContentPartPr/>
              <p14:nvPr/>
            </p14:nvContentPartPr>
            <p14:xfrm>
              <a:off x="3938496" y="5911262"/>
              <a:ext cx="1222589" cy="72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90AAEAD4-9E77-0E0A-EE9A-82A145D262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2372" y="5899022"/>
                <a:ext cx="1234837" cy="252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2105D30D-8C4F-1C50-2CDA-BEF548FAA3CF}"/>
              </a:ext>
            </a:extLst>
          </p:cNvPr>
          <p:cNvSpPr txBox="1"/>
          <p:nvPr/>
        </p:nvSpPr>
        <p:spPr>
          <a:xfrm>
            <a:off x="4543602" y="3233264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Objeto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5EA3C9E-AA79-1E38-0C96-C0B62A3C52F5}"/>
              </a:ext>
            </a:extLst>
          </p:cNvPr>
          <p:cNvSpPr txBox="1"/>
          <p:nvPr/>
        </p:nvSpPr>
        <p:spPr>
          <a:xfrm>
            <a:off x="4019982" y="4577230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Objeto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9F76F17-36A5-0405-4109-8CD724193E0B}"/>
              </a:ext>
            </a:extLst>
          </p:cNvPr>
          <p:cNvSpPr txBox="1"/>
          <p:nvPr/>
        </p:nvSpPr>
        <p:spPr>
          <a:xfrm>
            <a:off x="4113845" y="5930722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Objeto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524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C84EF-45F2-197C-F9CA-A9A972BE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62D66FE-2007-3583-97CA-BA292DFA8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EA88441-A83A-04F9-05B4-399F838BC59D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ALTER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49C705-6AD3-B8CF-DB18-1C23C4F7662D}"/>
              </a:ext>
            </a:extLst>
          </p:cNvPr>
          <p:cNvSpPr txBox="1"/>
          <p:nvPr/>
        </p:nvSpPr>
        <p:spPr>
          <a:xfrm>
            <a:off x="2480528" y="1314057"/>
            <a:ext cx="72309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Comando</a:t>
            </a:r>
            <a:r>
              <a:rPr lang="en-US" sz="2800" dirty="0"/>
              <a:t> de </a:t>
            </a:r>
            <a:r>
              <a:rPr lang="en-US" sz="2800" u="sng" dirty="0" err="1"/>
              <a:t>modificação</a:t>
            </a:r>
            <a:r>
              <a:rPr lang="en-US" sz="2800" u="sng" dirty="0"/>
              <a:t> de </a:t>
            </a:r>
            <a:r>
              <a:rPr lang="en-US" sz="2800" u="sng" dirty="0" err="1"/>
              <a:t>objetos</a:t>
            </a:r>
            <a:r>
              <a:rPr lang="en-US" sz="2800" dirty="0"/>
              <a:t> </a:t>
            </a:r>
            <a:r>
              <a:rPr lang="en-US" sz="2800" dirty="0" err="1"/>
              <a:t>presentes</a:t>
            </a:r>
            <a:r>
              <a:rPr lang="en-US" sz="2800" dirty="0"/>
              <a:t> no banco de dados</a:t>
            </a:r>
            <a:endParaRPr lang="pt-BR" sz="2800" dirty="0"/>
          </a:p>
        </p:txBody>
      </p: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5FF1616F-518C-9F10-7EA7-97525327340F}"/>
              </a:ext>
            </a:extLst>
          </p:cNvPr>
          <p:cNvCxnSpPr>
            <a:cxnSpLocks/>
          </p:cNvCxnSpPr>
          <p:nvPr/>
        </p:nvCxnSpPr>
        <p:spPr>
          <a:xfrm>
            <a:off x="4891453" y="3013552"/>
            <a:ext cx="621324" cy="415448"/>
          </a:xfrm>
          <a:prstGeom prst="bentConnector3">
            <a:avLst>
              <a:gd name="adj1" fmla="val 18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E41468CF-7131-AFDF-467C-9FE58305B571}"/>
              </a:ext>
            </a:extLst>
          </p:cNvPr>
          <p:cNvCxnSpPr>
            <a:cxnSpLocks/>
          </p:cNvCxnSpPr>
          <p:nvPr/>
        </p:nvCxnSpPr>
        <p:spPr>
          <a:xfrm>
            <a:off x="5202115" y="5372398"/>
            <a:ext cx="621324" cy="545178"/>
          </a:xfrm>
          <a:prstGeom prst="bentConnector3">
            <a:avLst>
              <a:gd name="adj1" fmla="val -9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55DF513-59C6-8B7B-4423-D90596961D33}"/>
              </a:ext>
            </a:extLst>
          </p:cNvPr>
          <p:cNvSpPr txBox="1"/>
          <p:nvPr/>
        </p:nvSpPr>
        <p:spPr>
          <a:xfrm>
            <a:off x="6005145" y="5688623"/>
            <a:ext cx="5161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Altera algo </a:t>
            </a:r>
            <a:r>
              <a:rPr lang="en-US" sz="2000" u="sng" dirty="0" err="1"/>
              <a:t>existente</a:t>
            </a:r>
            <a:r>
              <a:rPr lang="en-US" sz="2000" u="sng" dirty="0"/>
              <a:t>:</a:t>
            </a:r>
            <a:endParaRPr lang="en-US" sz="2000" dirty="0"/>
          </a:p>
          <a:p>
            <a:r>
              <a:rPr lang="en-US" sz="2000" dirty="0"/>
              <a:t>- Tipo de dado, </a:t>
            </a:r>
            <a:r>
              <a:rPr lang="en-US" sz="2000" dirty="0" err="1"/>
              <a:t>capacidade</a:t>
            </a:r>
            <a:r>
              <a:rPr lang="en-US" sz="2000" dirty="0"/>
              <a:t> do dado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restrição</a:t>
            </a:r>
            <a:endParaRPr lang="pt-BR" sz="2000" dirty="0"/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76F694DD-B310-11D4-B5A4-05675A7575AC}"/>
              </a:ext>
            </a:extLst>
          </p:cNvPr>
          <p:cNvCxnSpPr>
            <a:cxnSpLocks/>
          </p:cNvCxnSpPr>
          <p:nvPr/>
        </p:nvCxnSpPr>
        <p:spPr>
          <a:xfrm flipV="1">
            <a:off x="10515600" y="5372398"/>
            <a:ext cx="0" cy="545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Interface gráfica do usuário, Texto">
            <a:extLst>
              <a:ext uri="{FF2B5EF4-FFF2-40B4-BE49-F238E27FC236}">
                <a16:creationId xmlns:a16="http://schemas.microsoft.com/office/drawing/2014/main" id="{9781C70E-9183-485C-4318-388C463E9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7" y="2765177"/>
            <a:ext cx="11231542" cy="2610214"/>
          </a:xfrm>
          <a:prstGeom prst="rect">
            <a:avLst/>
          </a:prstGeom>
        </p:spPr>
      </p:pic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5BCD87CE-5474-9B9D-D40F-EF05B8462D83}"/>
              </a:ext>
            </a:extLst>
          </p:cNvPr>
          <p:cNvCxnSpPr>
            <a:cxnSpLocks/>
          </p:cNvCxnSpPr>
          <p:nvPr/>
        </p:nvCxnSpPr>
        <p:spPr>
          <a:xfrm flipV="1">
            <a:off x="8425961" y="5521569"/>
            <a:ext cx="278424" cy="50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BFD138CF-611A-58B8-8C2F-AA553D811A6D}"/>
              </a:ext>
            </a:extLst>
          </p:cNvPr>
          <p:cNvSpPr txBox="1"/>
          <p:nvPr/>
        </p:nvSpPr>
        <p:spPr>
          <a:xfrm>
            <a:off x="6254260" y="4466177"/>
            <a:ext cx="226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Exclui</a:t>
            </a:r>
            <a:r>
              <a:rPr lang="en-US" sz="2000" dirty="0"/>
              <a:t> algo </a:t>
            </a:r>
            <a:r>
              <a:rPr lang="en-US" sz="2000" u="sng" dirty="0" err="1"/>
              <a:t>existente</a:t>
            </a:r>
            <a:r>
              <a:rPr lang="en-US" sz="2000" u="sng" dirty="0"/>
              <a:t> </a:t>
            </a:r>
            <a:endParaRPr lang="pt-BR" sz="2000" u="sng" dirty="0"/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6D347459-8056-9854-D8E1-0BCD0A0ED609}"/>
              </a:ext>
            </a:extLst>
          </p:cNvPr>
          <p:cNvCxnSpPr>
            <a:cxnSpLocks/>
          </p:cNvCxnSpPr>
          <p:nvPr/>
        </p:nvCxnSpPr>
        <p:spPr>
          <a:xfrm>
            <a:off x="5580182" y="4277291"/>
            <a:ext cx="618394" cy="373552"/>
          </a:xfrm>
          <a:prstGeom prst="bentConnector3">
            <a:avLst>
              <a:gd name="adj1" fmla="val -11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87F8CF8-C065-2D09-6C06-673DF4F0EF8F}"/>
              </a:ext>
            </a:extLst>
          </p:cNvPr>
          <p:cNvSpPr txBox="1"/>
          <p:nvPr/>
        </p:nvSpPr>
        <p:spPr>
          <a:xfrm>
            <a:off x="5580182" y="3377220"/>
            <a:ext cx="3212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Adiciona</a:t>
            </a:r>
            <a:r>
              <a:rPr lang="en-US" sz="2000" dirty="0"/>
              <a:t> algo </a:t>
            </a:r>
            <a:r>
              <a:rPr lang="en-US" sz="2000" u="sng" dirty="0"/>
              <a:t>novo</a:t>
            </a:r>
            <a:r>
              <a:rPr lang="en-US" sz="2000" dirty="0"/>
              <a:t> </a:t>
            </a:r>
            <a:r>
              <a:rPr lang="en-US" sz="2000" dirty="0" err="1"/>
              <a:t>ao</a:t>
            </a:r>
            <a:r>
              <a:rPr lang="en-US" sz="2000" dirty="0"/>
              <a:t> </a:t>
            </a:r>
            <a:r>
              <a:rPr lang="en-US" sz="2000" dirty="0" err="1"/>
              <a:t>objeto</a:t>
            </a:r>
            <a:endParaRPr lang="pt-BR" sz="2000" dirty="0"/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C1AB674C-5620-6773-D1B6-D27A11331C80}"/>
              </a:ext>
            </a:extLst>
          </p:cNvPr>
          <p:cNvCxnSpPr>
            <a:cxnSpLocks/>
          </p:cNvCxnSpPr>
          <p:nvPr/>
        </p:nvCxnSpPr>
        <p:spPr>
          <a:xfrm>
            <a:off x="4874385" y="3195945"/>
            <a:ext cx="618394" cy="373552"/>
          </a:xfrm>
          <a:prstGeom prst="bentConnector3">
            <a:avLst>
              <a:gd name="adj1" fmla="val -11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9FAC408-958F-7D44-EEB8-E9B3764DA9A3}"/>
              </a:ext>
            </a:extLst>
          </p:cNvPr>
          <p:cNvSpPr txBox="1"/>
          <p:nvPr/>
        </p:nvSpPr>
        <p:spPr>
          <a:xfrm>
            <a:off x="1956908" y="3221276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Objeto</a:t>
            </a:r>
            <a:endParaRPr lang="pt-B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6ED95F99-D9DC-54DA-449A-86D5A8029816}"/>
                  </a:ext>
                </a:extLst>
              </p14:cNvPr>
              <p14:cNvContentPartPr/>
              <p14:nvPr/>
            </p14:nvContentPartPr>
            <p14:xfrm>
              <a:off x="1927242" y="3195945"/>
              <a:ext cx="933120" cy="72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6ED95F99-D9DC-54DA-449A-86D5A80298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1120" y="3183705"/>
                <a:ext cx="945365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203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CF606-1B1E-A203-8C49-0C1066491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A2A2527-E9D1-5BDD-7AFC-38B40FFE5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BBB5DA4-3184-8096-E5AA-496F1D20C208}"/>
              </a:ext>
            </a:extLst>
          </p:cNvPr>
          <p:cNvSpPr txBox="1"/>
          <p:nvPr/>
        </p:nvSpPr>
        <p:spPr>
          <a:xfrm>
            <a:off x="4393406" y="180011"/>
            <a:ext cx="3405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SHOW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BF248D-172B-CF57-F6C6-4974B559F334}"/>
              </a:ext>
            </a:extLst>
          </p:cNvPr>
          <p:cNvSpPr txBox="1"/>
          <p:nvPr/>
        </p:nvSpPr>
        <p:spPr>
          <a:xfrm>
            <a:off x="1819090" y="1224998"/>
            <a:ext cx="85538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Comando</a:t>
            </a:r>
            <a:r>
              <a:rPr lang="en-US" sz="2800" dirty="0"/>
              <a:t> para </a:t>
            </a:r>
            <a:r>
              <a:rPr lang="en-US" sz="2800" u="sng" dirty="0" err="1"/>
              <a:t>mostrar</a:t>
            </a:r>
            <a:r>
              <a:rPr lang="en-US" sz="2800" u="sng" dirty="0"/>
              <a:t> </a:t>
            </a:r>
            <a:r>
              <a:rPr lang="en-US" sz="2800" u="sng" dirty="0" err="1"/>
              <a:t>informações</a:t>
            </a:r>
            <a:r>
              <a:rPr lang="en-US" sz="2800" u="sng" dirty="0"/>
              <a:t> de </a:t>
            </a:r>
            <a:r>
              <a:rPr lang="en-US" sz="2800" u="sng" dirty="0" err="1"/>
              <a:t>Objetos</a:t>
            </a:r>
            <a:r>
              <a:rPr lang="en-US" sz="2800" dirty="0"/>
              <a:t> </a:t>
            </a:r>
            <a:r>
              <a:rPr lang="en-US" sz="2800" dirty="0" err="1"/>
              <a:t>presentes</a:t>
            </a:r>
            <a:r>
              <a:rPr lang="en-US" sz="2800" dirty="0"/>
              <a:t> no banco de dados</a:t>
            </a:r>
            <a:endParaRPr lang="pt-BR" sz="2800" dirty="0"/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88DAEC04-97B3-0732-843B-70311BD81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883" y="2350179"/>
            <a:ext cx="7982568" cy="38776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6015D40D-267B-0BCE-2424-FF09DDF35590}"/>
                  </a:ext>
                </a:extLst>
              </p14:cNvPr>
              <p14:cNvContentPartPr/>
              <p14:nvPr/>
            </p14:nvContentPartPr>
            <p14:xfrm>
              <a:off x="3800777" y="3083117"/>
              <a:ext cx="2512099" cy="36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6015D40D-267B-0BCE-2424-FF09DDF355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94657" y="3076997"/>
                <a:ext cx="2524339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FAE16AF4-AFD7-B965-95F3-BA4874845268}"/>
              </a:ext>
            </a:extLst>
          </p:cNvPr>
          <p:cNvSpPr txBox="1"/>
          <p:nvPr/>
        </p:nvSpPr>
        <p:spPr>
          <a:xfrm>
            <a:off x="4619795" y="3136329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Objetos</a:t>
            </a:r>
            <a:endParaRPr lang="pt-B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45EE91A5-8C16-3295-E429-90705A46EE07}"/>
                  </a:ext>
                </a:extLst>
              </p14:cNvPr>
              <p14:cNvContentPartPr/>
              <p14:nvPr/>
            </p14:nvContentPartPr>
            <p14:xfrm>
              <a:off x="3788360" y="4580740"/>
              <a:ext cx="1662871" cy="360"/>
            </p14:xfrm>
          </p:contentPart>
        </mc:Choice>
        <mc:Fallback xmlns=""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45EE91A5-8C16-3295-E429-90705A46EE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2240" y="4574620"/>
                <a:ext cx="1675111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CaixaDeTexto 12">
            <a:extLst>
              <a:ext uri="{FF2B5EF4-FFF2-40B4-BE49-F238E27FC236}">
                <a16:creationId xmlns:a16="http://schemas.microsoft.com/office/drawing/2014/main" id="{4F4BFC16-FBA5-D8E8-6B4F-7F9619304791}"/>
              </a:ext>
            </a:extLst>
          </p:cNvPr>
          <p:cNvSpPr txBox="1"/>
          <p:nvPr/>
        </p:nvSpPr>
        <p:spPr>
          <a:xfrm>
            <a:off x="4166514" y="4580740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Objetos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2306742-6BF8-B3BE-71C7-78321374E88F}"/>
              </a:ext>
            </a:extLst>
          </p:cNvPr>
          <p:cNvSpPr txBox="1"/>
          <p:nvPr/>
        </p:nvSpPr>
        <p:spPr>
          <a:xfrm>
            <a:off x="4096175" y="6078003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Objetos</a:t>
            </a:r>
            <a:endParaRPr lang="pt-B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D1020CC8-E351-B247-4E68-6D8DA60E7096}"/>
                  </a:ext>
                </a:extLst>
              </p14:cNvPr>
              <p14:cNvContentPartPr/>
              <p14:nvPr/>
            </p14:nvContentPartPr>
            <p14:xfrm>
              <a:off x="3747938" y="6042603"/>
              <a:ext cx="1662871" cy="36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D1020CC8-E351-B247-4E68-6D8DA60E70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41818" y="6036483"/>
                <a:ext cx="1675111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3468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B775C-6C2D-D4B0-5090-7F15F43E5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9FD3EB0-5E60-B973-2E1C-EF701B876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2B20EAE-0780-070F-8F2D-B64B2AC93C1E}"/>
              </a:ext>
            </a:extLst>
          </p:cNvPr>
          <p:cNvSpPr txBox="1"/>
          <p:nvPr/>
        </p:nvSpPr>
        <p:spPr>
          <a:xfrm>
            <a:off x="4050414" y="144842"/>
            <a:ext cx="4091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TRUNCATE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28CCFA-1C55-4E2E-D296-7D1DB8197392}"/>
              </a:ext>
            </a:extLst>
          </p:cNvPr>
          <p:cNvSpPr txBox="1"/>
          <p:nvPr/>
        </p:nvSpPr>
        <p:spPr>
          <a:xfrm>
            <a:off x="1400448" y="1304128"/>
            <a:ext cx="93911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Comando</a:t>
            </a:r>
            <a:r>
              <a:rPr lang="en-US" sz="2800" dirty="0"/>
              <a:t> para </a:t>
            </a:r>
            <a:r>
              <a:rPr lang="en-US" sz="2800" u="sng" dirty="0"/>
              <a:t>remover dados de </a:t>
            </a:r>
            <a:r>
              <a:rPr lang="en-US" sz="2800" u="sng" dirty="0" err="1"/>
              <a:t>uma</a:t>
            </a:r>
            <a:r>
              <a:rPr lang="en-US" sz="2800" u="sng" dirty="0"/>
              <a:t> </a:t>
            </a:r>
            <a:r>
              <a:rPr lang="en-US" sz="2800" u="sng" dirty="0" err="1"/>
              <a:t>tabela</a:t>
            </a:r>
            <a:r>
              <a:rPr lang="en-US" sz="2800" dirty="0"/>
              <a:t> </a:t>
            </a:r>
            <a:r>
              <a:rPr lang="en-US" sz="2800" dirty="0" err="1"/>
              <a:t>sem</a:t>
            </a:r>
            <a:r>
              <a:rPr lang="en-US" sz="2800" dirty="0"/>
              <a:t> a </a:t>
            </a:r>
            <a:r>
              <a:rPr lang="en-US" sz="2800" dirty="0" err="1"/>
              <a:t>necessidade</a:t>
            </a:r>
            <a:r>
              <a:rPr lang="en-US" sz="2800" dirty="0"/>
              <a:t> de </a:t>
            </a:r>
            <a:r>
              <a:rPr lang="en-US" sz="2800" dirty="0" err="1"/>
              <a:t>deletar</a:t>
            </a:r>
            <a:r>
              <a:rPr lang="en-US" sz="2800" dirty="0"/>
              <a:t> </a:t>
            </a:r>
            <a:r>
              <a:rPr lang="en-US" sz="2800" dirty="0" err="1"/>
              <a:t>sua</a:t>
            </a:r>
            <a:r>
              <a:rPr lang="en-US" sz="2800" dirty="0"/>
              <a:t> </a:t>
            </a:r>
            <a:r>
              <a:rPr lang="en-US" sz="2800" dirty="0" err="1"/>
              <a:t>estrutura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77BBD1-0B5F-675F-8462-0C9B6A077117}"/>
              </a:ext>
            </a:extLst>
          </p:cNvPr>
          <p:cNvSpPr txBox="1"/>
          <p:nvPr/>
        </p:nvSpPr>
        <p:spPr>
          <a:xfrm>
            <a:off x="1862501" y="4783015"/>
            <a:ext cx="8466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rápido</a:t>
            </a:r>
            <a:r>
              <a:rPr lang="en-US" dirty="0"/>
              <a:t> que o DELETE;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Ideal para </a:t>
            </a:r>
            <a:r>
              <a:rPr lang="en-US" dirty="0" err="1"/>
              <a:t>casos</a:t>
            </a:r>
            <a:r>
              <a:rPr lang="en-US" dirty="0"/>
              <a:t> de </a:t>
            </a:r>
            <a:r>
              <a:rPr lang="en-US" dirty="0" err="1"/>
              <a:t>exclusão</a:t>
            </a:r>
            <a:r>
              <a:rPr lang="en-US" dirty="0"/>
              <a:t> </a:t>
            </a:r>
            <a:r>
              <a:rPr lang="en-US" dirty="0" err="1"/>
              <a:t>geral</a:t>
            </a:r>
            <a:r>
              <a:rPr lang="en-US" dirty="0"/>
              <a:t> de dados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, a </a:t>
            </a:r>
            <a:r>
              <a:rPr lang="en-US" dirty="0" err="1"/>
              <a:t>fim</a:t>
            </a:r>
            <a:r>
              <a:rPr lang="en-US" dirty="0"/>
              <a:t> de </a:t>
            </a:r>
            <a:r>
              <a:rPr lang="en-US" dirty="0" err="1"/>
              <a:t>iniciar</a:t>
            </a:r>
            <a:r>
              <a:rPr lang="en-US" dirty="0"/>
              <a:t> </a:t>
            </a:r>
            <a:r>
              <a:rPr lang="en-US" dirty="0" err="1"/>
              <a:t>novos</a:t>
            </a:r>
            <a:r>
              <a:rPr lang="en-US" dirty="0"/>
              <a:t> </a:t>
            </a:r>
            <a:r>
              <a:rPr lang="en-US" dirty="0" err="1"/>
              <a:t>registros</a:t>
            </a:r>
            <a:r>
              <a:rPr lang="en-US" dirty="0"/>
              <a:t> com </a:t>
            </a:r>
            <a:r>
              <a:rPr lang="en-US" dirty="0" err="1"/>
              <a:t>novos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de ID.</a:t>
            </a:r>
            <a:endParaRPr lang="pt-BR" dirty="0"/>
          </a:p>
        </p:txBody>
      </p:sp>
      <p:pic>
        <p:nvPicPr>
          <p:cNvPr id="10" name="Imagem 9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E596F3B7-5044-4716-A9A5-AE23D75D1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033" y="2347683"/>
            <a:ext cx="9149933" cy="176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43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A5451-5C4D-E372-DA70-EB8D42D5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7BD3E59-6EFC-0EAE-0EB0-EABB1612F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7FF1BFC-39E4-AB0C-1BD2-14C68AF7686A}"/>
              </a:ext>
            </a:extLst>
          </p:cNvPr>
          <p:cNvSpPr txBox="1"/>
          <p:nvPr/>
        </p:nvSpPr>
        <p:spPr>
          <a:xfrm>
            <a:off x="4120707" y="206388"/>
            <a:ext cx="3950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Modificadores</a:t>
            </a:r>
            <a:r>
              <a:rPr lang="en-US" sz="3600" dirty="0"/>
              <a:t> </a:t>
            </a:r>
            <a:r>
              <a:rPr lang="en-US" sz="3600" dirty="0" err="1"/>
              <a:t>Úteis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8FA459-9B23-A300-E822-982807ECB614}"/>
              </a:ext>
            </a:extLst>
          </p:cNvPr>
          <p:cNvSpPr txBox="1"/>
          <p:nvPr/>
        </p:nvSpPr>
        <p:spPr>
          <a:xfrm>
            <a:off x="844061" y="1178169"/>
            <a:ext cx="5251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IF EXISTS </a:t>
            </a:r>
            <a:r>
              <a:rPr lang="en-US" dirty="0"/>
              <a:t>– </a:t>
            </a:r>
            <a:r>
              <a:rPr lang="en-US" sz="2400" dirty="0" err="1"/>
              <a:t>completamente</a:t>
            </a:r>
            <a:r>
              <a:rPr lang="en-US" sz="2400" dirty="0"/>
              <a:t> </a:t>
            </a:r>
            <a:r>
              <a:rPr lang="en-US" sz="2400" dirty="0" err="1"/>
              <a:t>opcional</a:t>
            </a:r>
            <a:r>
              <a:rPr lang="en-US" sz="2400" dirty="0"/>
              <a:t>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3E1BA8-5DC3-8AD9-CC10-A180CC1AD797}"/>
              </a:ext>
            </a:extLst>
          </p:cNvPr>
          <p:cNvSpPr txBox="1"/>
          <p:nvPr/>
        </p:nvSpPr>
        <p:spPr>
          <a:xfrm>
            <a:off x="6268915" y="1178169"/>
            <a:ext cx="525193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IF NOT EXISTS </a:t>
            </a:r>
            <a:r>
              <a:rPr lang="en-US" sz="2400" dirty="0"/>
              <a:t>–  fundamental para </a:t>
            </a:r>
            <a:r>
              <a:rPr lang="en-US" sz="2400" dirty="0" err="1"/>
              <a:t>evitar</a:t>
            </a:r>
            <a:r>
              <a:rPr lang="en-US" sz="2400" dirty="0"/>
              <a:t> </a:t>
            </a:r>
            <a:r>
              <a:rPr lang="en-US" sz="2400" dirty="0" err="1"/>
              <a:t>erros</a:t>
            </a:r>
            <a:r>
              <a:rPr lang="en-US" sz="2400" dirty="0"/>
              <a:t> </a:t>
            </a:r>
            <a:r>
              <a:rPr lang="en-US" sz="2400" dirty="0" err="1"/>
              <a:t>relativos</a:t>
            </a:r>
            <a:r>
              <a:rPr lang="en-US" sz="2400" dirty="0"/>
              <a:t> à </a:t>
            </a:r>
            <a:r>
              <a:rPr lang="en-US" sz="2400" dirty="0" err="1"/>
              <a:t>duplicidade</a:t>
            </a:r>
            <a:r>
              <a:rPr lang="en-US" sz="2400" dirty="0"/>
              <a:t> de </a:t>
            </a:r>
            <a:r>
              <a:rPr lang="en-US" sz="2400" dirty="0" err="1"/>
              <a:t>cláusulas</a:t>
            </a:r>
            <a:r>
              <a:rPr lang="en-US" sz="2400" dirty="0"/>
              <a:t>.</a:t>
            </a:r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5247CAD-69B0-C293-22CD-6FF91553461B}"/>
              </a:ext>
            </a:extLst>
          </p:cNvPr>
          <p:cNvSpPr txBox="1"/>
          <p:nvPr/>
        </p:nvSpPr>
        <p:spPr>
          <a:xfrm>
            <a:off x="844061" y="3284398"/>
            <a:ext cx="43248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err="1"/>
              <a:t>Comando</a:t>
            </a:r>
            <a:r>
              <a:rPr lang="en-US" sz="2800" dirty="0"/>
              <a:t> USE</a:t>
            </a:r>
          </a:p>
          <a:p>
            <a:endParaRPr lang="en-US" sz="2400" dirty="0"/>
          </a:p>
          <a:p>
            <a:r>
              <a:rPr lang="en-US" sz="2000" dirty="0" err="1"/>
              <a:t>Instrui</a:t>
            </a:r>
            <a:r>
              <a:rPr lang="en-US" sz="2000" dirty="0"/>
              <a:t> o SGBD a </a:t>
            </a:r>
            <a:r>
              <a:rPr lang="en-US" sz="2000" dirty="0" err="1"/>
              <a:t>utilizar</a:t>
            </a:r>
            <a:r>
              <a:rPr lang="en-US" sz="2000" dirty="0"/>
              <a:t> o banco de dados </a:t>
            </a:r>
            <a:r>
              <a:rPr lang="en-US" sz="2000" dirty="0" err="1"/>
              <a:t>especificado</a:t>
            </a:r>
            <a:r>
              <a:rPr lang="en-US" sz="2000" dirty="0"/>
              <a:t> para </a:t>
            </a:r>
            <a:r>
              <a:rPr lang="en-US" sz="2000" dirty="0" err="1"/>
              <a:t>executar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comandos</a:t>
            </a:r>
            <a:r>
              <a:rPr lang="en-US" sz="2000" dirty="0"/>
              <a:t>.</a:t>
            </a:r>
            <a:endParaRPr lang="pt-BR" sz="2000" dirty="0"/>
          </a:p>
        </p:txBody>
      </p:sp>
      <p:pic>
        <p:nvPicPr>
          <p:cNvPr id="8" name="Imagem 7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57C20828-BBAC-E1F0-BA85-DAA1CFAFB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14" y="1998152"/>
            <a:ext cx="4934486" cy="881406"/>
          </a:xfrm>
          <a:prstGeom prst="rect">
            <a:avLst/>
          </a:prstGeom>
        </p:spPr>
      </p:pic>
      <p:pic>
        <p:nvPicPr>
          <p:cNvPr id="13" name="Imagem 12" descr="Texto&#10;&#10;O conteúdo gerado por IA pode estar incorreto.">
            <a:extLst>
              <a:ext uri="{FF2B5EF4-FFF2-40B4-BE49-F238E27FC236}">
                <a16:creationId xmlns:a16="http://schemas.microsoft.com/office/drawing/2014/main" id="{67C38781-CAA6-9DC2-1027-A98FFF1B6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061" y="5440291"/>
            <a:ext cx="4480217" cy="936280"/>
          </a:xfrm>
          <a:prstGeom prst="rect">
            <a:avLst/>
          </a:prstGeom>
        </p:spPr>
      </p:pic>
      <p:pic>
        <p:nvPicPr>
          <p:cNvPr id="17" name="Imagem 16" descr="Texto&#10;&#10;O conteúdo gerado por IA pode estar incorreto.">
            <a:extLst>
              <a:ext uri="{FF2B5EF4-FFF2-40B4-BE49-F238E27FC236}">
                <a16:creationId xmlns:a16="http://schemas.microsoft.com/office/drawing/2014/main" id="{CF03AAB4-2D4E-2CBB-6593-6932E6D6E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914" y="2705171"/>
            <a:ext cx="4934486" cy="1538883"/>
          </a:xfrm>
          <a:prstGeom prst="rect">
            <a:avLst/>
          </a:prstGeom>
        </p:spPr>
      </p:pic>
      <p:pic>
        <p:nvPicPr>
          <p:cNvPr id="19" name="Imagem 18" descr="Uma imagem contendo Gráfico&#10;&#10;O conteúdo gerado por IA pode estar incorreto.">
            <a:extLst>
              <a:ext uri="{FF2B5EF4-FFF2-40B4-BE49-F238E27FC236}">
                <a16:creationId xmlns:a16="http://schemas.microsoft.com/office/drawing/2014/main" id="{29C905A8-86C4-5D79-4147-BF66BAAB0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3160" y="4496681"/>
            <a:ext cx="5103994" cy="7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22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ADBB1-8520-4430-75EB-28F25F4E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39F775B-1ABC-E412-E0B3-EA6C2FC02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30C573A-087C-020B-3721-62475C25149F}"/>
              </a:ext>
            </a:extLst>
          </p:cNvPr>
          <p:cNvSpPr txBox="1"/>
          <p:nvPr/>
        </p:nvSpPr>
        <p:spPr>
          <a:xfrm>
            <a:off x="4846049" y="228600"/>
            <a:ext cx="2499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Regras</a:t>
            </a:r>
            <a:r>
              <a:rPr lang="en-US" sz="3600" dirty="0"/>
              <a:t> </a:t>
            </a:r>
            <a:r>
              <a:rPr lang="en-US" sz="3600" dirty="0" err="1"/>
              <a:t>Úteis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D162E7-790F-2E63-03A6-3F4DC6B7956C}"/>
              </a:ext>
            </a:extLst>
          </p:cNvPr>
          <p:cNvSpPr txBox="1"/>
          <p:nvPr/>
        </p:nvSpPr>
        <p:spPr>
          <a:xfrm>
            <a:off x="844061" y="1178169"/>
            <a:ext cx="52519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Check </a:t>
            </a:r>
            <a:r>
              <a:rPr lang="en-US" dirty="0"/>
              <a:t>– </a:t>
            </a:r>
            <a:r>
              <a:rPr lang="en-US" sz="2400" dirty="0"/>
              <a:t>Regra </a:t>
            </a:r>
            <a:r>
              <a:rPr lang="en-US" sz="2400" dirty="0" err="1"/>
              <a:t>aplicada</a:t>
            </a:r>
            <a:r>
              <a:rPr lang="en-US" sz="2400" dirty="0"/>
              <a:t> a </a:t>
            </a:r>
            <a:r>
              <a:rPr lang="en-US" sz="2400" dirty="0" err="1"/>
              <a:t>colunas</a:t>
            </a:r>
            <a:r>
              <a:rPr lang="en-US" sz="2400" dirty="0"/>
              <a:t> para </a:t>
            </a:r>
            <a:r>
              <a:rPr lang="en-US" sz="2400" dirty="0" err="1"/>
              <a:t>garantir</a:t>
            </a:r>
            <a:r>
              <a:rPr lang="en-US" sz="2400" dirty="0"/>
              <a:t> a </a:t>
            </a:r>
            <a:r>
              <a:rPr lang="en-US" sz="2400" dirty="0" err="1"/>
              <a:t>integridade</a:t>
            </a:r>
            <a:r>
              <a:rPr lang="en-US" sz="2400" dirty="0"/>
              <a:t> dos dados, </a:t>
            </a:r>
            <a:r>
              <a:rPr lang="en-US" sz="2400" dirty="0" err="1"/>
              <a:t>rejeitando</a:t>
            </a:r>
            <a:r>
              <a:rPr lang="en-US" sz="2400" dirty="0"/>
              <a:t>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pt-BR" sz="2400" dirty="0"/>
              <a:t>não cumprem condições específicas.</a:t>
            </a:r>
            <a:endParaRPr lang="en-US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BD532B-D4AC-3C5F-7E06-1CD3A806958C}"/>
              </a:ext>
            </a:extLst>
          </p:cNvPr>
          <p:cNvSpPr txBox="1"/>
          <p:nvPr/>
        </p:nvSpPr>
        <p:spPr>
          <a:xfrm>
            <a:off x="6268915" y="1178169"/>
            <a:ext cx="525193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UNIQUE </a:t>
            </a:r>
            <a:r>
              <a:rPr lang="en-US" sz="2400" dirty="0"/>
              <a:t>–  Regra </a:t>
            </a:r>
            <a:r>
              <a:rPr lang="en-US" sz="2400" dirty="0" err="1"/>
              <a:t>que</a:t>
            </a:r>
            <a:r>
              <a:rPr lang="en-US" sz="2400" dirty="0"/>
              <a:t> impede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duplicados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ou</a:t>
            </a:r>
            <a:r>
              <a:rPr lang="en-US" sz="2400" dirty="0"/>
              <a:t> </a:t>
            </a:r>
            <a:r>
              <a:rPr lang="en-US" sz="2400" dirty="0" err="1"/>
              <a:t>mais</a:t>
            </a:r>
            <a:r>
              <a:rPr lang="en-US" sz="2400" dirty="0"/>
              <a:t> </a:t>
            </a:r>
            <a:r>
              <a:rPr lang="en-US" sz="2400" dirty="0" err="1"/>
              <a:t>colunas</a:t>
            </a:r>
            <a:r>
              <a:rPr lang="en-US" sz="2400" dirty="0"/>
              <a:t>.</a:t>
            </a:r>
            <a:endParaRPr lang="pt-BR" dirty="0"/>
          </a:p>
        </p:txBody>
      </p:sp>
      <p:pic>
        <p:nvPicPr>
          <p:cNvPr id="15" name="Imagem 14" descr="Texto&#10;&#10;O conteúdo gerado por IA pode estar incorreto.">
            <a:extLst>
              <a:ext uri="{FF2B5EF4-FFF2-40B4-BE49-F238E27FC236}">
                <a16:creationId xmlns:a16="http://schemas.microsoft.com/office/drawing/2014/main" id="{3AACE038-0465-4AE8-5BA4-026373730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757" y="3199642"/>
            <a:ext cx="7248315" cy="3429758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BF16121D-7AF2-42E2-A321-DBCB6907281B}"/>
              </a:ext>
            </a:extLst>
          </p:cNvPr>
          <p:cNvSpPr/>
          <p:nvPr/>
        </p:nvSpPr>
        <p:spPr>
          <a:xfrm>
            <a:off x="1266092" y="1178169"/>
            <a:ext cx="958362" cy="509954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5331BEC-030C-6203-1BB4-C0D9B14462D3}"/>
              </a:ext>
            </a:extLst>
          </p:cNvPr>
          <p:cNvSpPr/>
          <p:nvPr/>
        </p:nvSpPr>
        <p:spPr>
          <a:xfrm>
            <a:off x="5717930" y="5134096"/>
            <a:ext cx="1140070" cy="509954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69C4CF6-D111-BF88-06C8-7B1068D12DD3}"/>
              </a:ext>
            </a:extLst>
          </p:cNvPr>
          <p:cNvSpPr/>
          <p:nvPr/>
        </p:nvSpPr>
        <p:spPr>
          <a:xfrm>
            <a:off x="6778869" y="1239715"/>
            <a:ext cx="1266093" cy="394805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3C34A0C-B53F-CF0F-58C2-D8E9E9FAFC8C}"/>
              </a:ext>
            </a:extLst>
          </p:cNvPr>
          <p:cNvSpPr/>
          <p:nvPr/>
        </p:nvSpPr>
        <p:spPr>
          <a:xfrm>
            <a:off x="7442689" y="4717118"/>
            <a:ext cx="1204546" cy="394805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027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1DD83-985C-2B06-1C0D-26CFE6C2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553F16B-DE5A-58A2-301F-7D9B715A1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B9AE31B-9700-7286-3760-13A351ECFF10}"/>
              </a:ext>
            </a:extLst>
          </p:cNvPr>
          <p:cNvSpPr txBox="1"/>
          <p:nvPr/>
        </p:nvSpPr>
        <p:spPr>
          <a:xfrm>
            <a:off x="4846049" y="228600"/>
            <a:ext cx="2499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Regras</a:t>
            </a:r>
            <a:r>
              <a:rPr lang="en-US" sz="3600" dirty="0"/>
              <a:t> </a:t>
            </a:r>
            <a:r>
              <a:rPr lang="en-US" sz="3600" dirty="0" err="1"/>
              <a:t>Úteis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874B49-7F26-642F-22EE-E53D9521F0B3}"/>
              </a:ext>
            </a:extLst>
          </p:cNvPr>
          <p:cNvSpPr txBox="1"/>
          <p:nvPr/>
        </p:nvSpPr>
        <p:spPr>
          <a:xfrm>
            <a:off x="844061" y="1178169"/>
            <a:ext cx="52519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Default </a:t>
            </a:r>
            <a:r>
              <a:rPr lang="en-US" dirty="0"/>
              <a:t>– </a:t>
            </a:r>
            <a:r>
              <a:rPr lang="en-US" sz="2400" dirty="0"/>
              <a:t>Define um valor </a:t>
            </a:r>
            <a:r>
              <a:rPr lang="en-US" sz="2400" dirty="0" err="1"/>
              <a:t>padrão</a:t>
            </a:r>
            <a:r>
              <a:rPr lang="en-US" sz="2400" dirty="0"/>
              <a:t> </a:t>
            </a:r>
            <a:r>
              <a:rPr lang="en-US" sz="2400" dirty="0" err="1"/>
              <a:t>quando</a:t>
            </a:r>
            <a:r>
              <a:rPr lang="en-US" sz="2400" dirty="0"/>
              <a:t> </a:t>
            </a:r>
            <a:r>
              <a:rPr lang="en-US" sz="2400" dirty="0" err="1"/>
              <a:t>nenhum</a:t>
            </a:r>
            <a:r>
              <a:rPr lang="en-US" sz="2400" dirty="0"/>
              <a:t> valor é </a:t>
            </a:r>
            <a:r>
              <a:rPr lang="en-US" sz="2400" dirty="0" err="1"/>
              <a:t>informado</a:t>
            </a:r>
            <a:r>
              <a:rPr lang="pt-BR" sz="2400" dirty="0"/>
              <a:t>.</a:t>
            </a:r>
            <a:endParaRPr lang="en-US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A0BD2DD-BC2D-B34B-4451-7B2D2F143950}"/>
              </a:ext>
            </a:extLst>
          </p:cNvPr>
          <p:cNvSpPr txBox="1"/>
          <p:nvPr/>
        </p:nvSpPr>
        <p:spPr>
          <a:xfrm>
            <a:off x="6268915" y="1178169"/>
            <a:ext cx="52519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NOT NULL </a:t>
            </a:r>
            <a:r>
              <a:rPr lang="en-US" sz="2400" dirty="0"/>
              <a:t>–  Impede </a:t>
            </a:r>
            <a:r>
              <a:rPr lang="en-US" sz="2400" dirty="0" err="1"/>
              <a:t>valores</a:t>
            </a:r>
            <a:r>
              <a:rPr lang="en-US" sz="2400" dirty="0"/>
              <a:t> </a:t>
            </a:r>
            <a:r>
              <a:rPr lang="en-US" sz="2400" dirty="0" err="1"/>
              <a:t>nulos</a:t>
            </a:r>
            <a:r>
              <a:rPr lang="en-US" sz="2400" dirty="0"/>
              <a:t> para </a:t>
            </a:r>
            <a:r>
              <a:rPr lang="en-US" sz="2400" dirty="0" err="1"/>
              <a:t>atributos</a:t>
            </a:r>
            <a:r>
              <a:rPr lang="en-US" sz="2400" dirty="0"/>
              <a:t> da </a:t>
            </a:r>
            <a:r>
              <a:rPr lang="en-US" sz="2400" dirty="0" err="1"/>
              <a:t>tabela</a:t>
            </a:r>
            <a:r>
              <a:rPr lang="en-US" sz="2400" dirty="0"/>
              <a:t>.</a:t>
            </a:r>
            <a:endParaRPr lang="pt-BR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4454EC02-D548-400A-CAE0-CFCB424C0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637" y="2879558"/>
            <a:ext cx="8990726" cy="327054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FEC2943-E4D7-0327-059B-431B43CC9C7F}"/>
              </a:ext>
            </a:extLst>
          </p:cNvPr>
          <p:cNvSpPr/>
          <p:nvPr/>
        </p:nvSpPr>
        <p:spPr>
          <a:xfrm>
            <a:off x="6770077" y="1248508"/>
            <a:ext cx="1565031" cy="43526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0464B17-1822-22E2-507E-29FBCD9E3590}"/>
              </a:ext>
            </a:extLst>
          </p:cNvPr>
          <p:cNvSpPr/>
          <p:nvPr/>
        </p:nvSpPr>
        <p:spPr>
          <a:xfrm>
            <a:off x="5726721" y="3820262"/>
            <a:ext cx="1503484" cy="36487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2914CFF-21CC-8778-5F0C-39B60BEECBFD}"/>
              </a:ext>
            </a:extLst>
          </p:cNvPr>
          <p:cNvSpPr/>
          <p:nvPr/>
        </p:nvSpPr>
        <p:spPr>
          <a:xfrm>
            <a:off x="1160585" y="1224355"/>
            <a:ext cx="1292469" cy="435260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B284B45-07CD-3DB0-7196-EF279ED8C154}"/>
              </a:ext>
            </a:extLst>
          </p:cNvPr>
          <p:cNvSpPr/>
          <p:nvPr/>
        </p:nvSpPr>
        <p:spPr>
          <a:xfrm>
            <a:off x="4950070" y="4270976"/>
            <a:ext cx="1503484" cy="435260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925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794D-9980-3E86-E42A-A42628F3D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B310397-661B-992F-B40D-4B9CB1C23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CCB6652-941A-D981-47AA-8D8C6EEDAC35}"/>
              </a:ext>
            </a:extLst>
          </p:cNvPr>
          <p:cNvSpPr txBox="1"/>
          <p:nvPr/>
        </p:nvSpPr>
        <p:spPr>
          <a:xfrm>
            <a:off x="4846049" y="228600"/>
            <a:ext cx="2499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Regras</a:t>
            </a:r>
            <a:r>
              <a:rPr lang="en-US" sz="3600" dirty="0"/>
              <a:t> </a:t>
            </a:r>
            <a:r>
              <a:rPr lang="en-US" sz="3600" dirty="0" err="1"/>
              <a:t>Úteis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9594F44-F8E4-869C-9EFB-924CE5C2ED87}"/>
              </a:ext>
            </a:extLst>
          </p:cNvPr>
          <p:cNvSpPr txBox="1"/>
          <p:nvPr/>
        </p:nvSpPr>
        <p:spPr>
          <a:xfrm>
            <a:off x="844061" y="1178169"/>
            <a:ext cx="6128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INDEX </a:t>
            </a:r>
            <a:r>
              <a:rPr lang="en-US" dirty="0"/>
              <a:t>– </a:t>
            </a:r>
            <a:r>
              <a:rPr lang="en-US" sz="2400" dirty="0" err="1"/>
              <a:t>Melhora</a:t>
            </a:r>
            <a:r>
              <a:rPr lang="en-US" sz="2400" dirty="0"/>
              <a:t> </a:t>
            </a:r>
            <a:r>
              <a:rPr lang="en-US" sz="2400" dirty="0" err="1"/>
              <a:t>desempenho</a:t>
            </a:r>
            <a:r>
              <a:rPr lang="en-US" sz="2400" dirty="0"/>
              <a:t> de </a:t>
            </a:r>
            <a:r>
              <a:rPr lang="en-US" sz="2400" dirty="0" err="1"/>
              <a:t>consultas</a:t>
            </a:r>
            <a:r>
              <a:rPr lang="pt-BR" sz="2400" dirty="0"/>
              <a:t>.</a:t>
            </a:r>
            <a:endParaRPr lang="en-US" sz="2400" dirty="0"/>
          </a:p>
        </p:txBody>
      </p:sp>
      <p:pic>
        <p:nvPicPr>
          <p:cNvPr id="21" name="Imagem 20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336F4530-A508-4F80-45AF-528178BD8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905" y="2053100"/>
            <a:ext cx="8394187" cy="443927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9D1C756A-16C5-1E44-6C4F-1BCAB5991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255" y="5121528"/>
            <a:ext cx="4046266" cy="452796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32723E5F-132A-AF09-172E-DC3E3C34EE04}"/>
              </a:ext>
            </a:extLst>
          </p:cNvPr>
          <p:cNvSpPr txBox="1"/>
          <p:nvPr/>
        </p:nvSpPr>
        <p:spPr>
          <a:xfrm>
            <a:off x="9294403" y="4422453"/>
            <a:ext cx="1455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Consulta</a:t>
            </a:r>
          </a:p>
        </p:txBody>
      </p:sp>
    </p:spTree>
    <p:extLst>
      <p:ext uri="{BB962C8B-B14F-4D97-AF65-F5344CB8AC3E}">
        <p14:creationId xmlns:p14="http://schemas.microsoft.com/office/powerpoint/2010/main" val="3500646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CD083-90E8-4F0C-F1A8-855D3C9DB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60CB107-5E8C-FB5A-C155-4597AAB09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063136F-4393-C0B8-340B-0DF940D9AB68}"/>
              </a:ext>
            </a:extLst>
          </p:cNvPr>
          <p:cNvSpPr txBox="1"/>
          <p:nvPr/>
        </p:nvSpPr>
        <p:spPr>
          <a:xfrm>
            <a:off x="5188949" y="361950"/>
            <a:ext cx="1814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Tipo </a:t>
            </a:r>
            <a:r>
              <a:rPr lang="en-US" sz="3600" dirty="0" err="1"/>
              <a:t>Útil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AFC93D-6A5C-9EDD-ADB7-ACE614154AE6}"/>
              </a:ext>
            </a:extLst>
          </p:cNvPr>
          <p:cNvSpPr txBox="1"/>
          <p:nvPr/>
        </p:nvSpPr>
        <p:spPr>
          <a:xfrm>
            <a:off x="844061" y="1178169"/>
            <a:ext cx="1040130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sz="2800" dirty="0"/>
              <a:t> ENUM </a:t>
            </a:r>
            <a:r>
              <a:rPr lang="en-US" dirty="0"/>
              <a:t>– </a:t>
            </a:r>
            <a:r>
              <a:rPr lang="en-US" sz="2400" dirty="0"/>
              <a:t>Tipo de dado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b="1" u="sng" dirty="0" err="1"/>
              <a:t>restringe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coluna</a:t>
            </a:r>
            <a:r>
              <a:rPr lang="en-US" sz="2400" dirty="0"/>
              <a:t> a um conjunto </a:t>
            </a:r>
            <a:r>
              <a:rPr lang="en-US" sz="2400" dirty="0" err="1"/>
              <a:t>predefinido</a:t>
            </a:r>
            <a:r>
              <a:rPr lang="en-US" sz="2400" dirty="0"/>
              <a:t> de </a:t>
            </a:r>
            <a:r>
              <a:rPr lang="en-US" sz="2400" dirty="0" err="1"/>
              <a:t>valores</a:t>
            </a:r>
            <a:r>
              <a:rPr lang="pt-BR" sz="2400" dirty="0"/>
              <a:t>.</a:t>
            </a:r>
            <a:endParaRPr lang="en-US" sz="2400" dirty="0"/>
          </a:p>
        </p:txBody>
      </p:sp>
      <p:pic>
        <p:nvPicPr>
          <p:cNvPr id="6" name="Imagem 5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490F2E04-E0E8-1AFF-9CF3-F4F66BA13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75" y="2685743"/>
            <a:ext cx="10998250" cy="2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26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4B3E-BF56-2FB0-BD21-370EC944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F0E214E-D45B-BB9E-2317-56B6D93F6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09A396E-A5FD-0E7C-4C13-36A282E1FEE1}"/>
              </a:ext>
            </a:extLst>
          </p:cNvPr>
          <p:cNvSpPr txBox="1"/>
          <p:nvPr/>
        </p:nvSpPr>
        <p:spPr>
          <a:xfrm>
            <a:off x="5186740" y="197595"/>
            <a:ext cx="181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Exercício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C55075-4B50-0E84-DEF8-D1AFBA0E2829}"/>
              </a:ext>
            </a:extLst>
          </p:cNvPr>
          <p:cNvSpPr txBox="1"/>
          <p:nvPr/>
        </p:nvSpPr>
        <p:spPr>
          <a:xfrm>
            <a:off x="1459523" y="1011115"/>
            <a:ext cx="8976946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 err="1"/>
              <a:t>Utilizando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conceitos</a:t>
            </a:r>
            <a:r>
              <a:rPr lang="en-US" sz="2000" dirty="0"/>
              <a:t> </a:t>
            </a:r>
            <a:r>
              <a:rPr lang="en-US" sz="2000" dirty="0" err="1"/>
              <a:t>abordados</a:t>
            </a:r>
            <a:r>
              <a:rPr lang="en-US" sz="2000" dirty="0"/>
              <a:t> </a:t>
            </a:r>
            <a:r>
              <a:rPr lang="en-US" sz="2000" dirty="0" err="1"/>
              <a:t>nesta</a:t>
            </a:r>
            <a:r>
              <a:rPr lang="en-US" sz="2000" dirty="0"/>
              <a:t> aula, </a:t>
            </a:r>
            <a:r>
              <a:rPr lang="en-US" sz="2000" dirty="0" err="1"/>
              <a:t>crie</a:t>
            </a:r>
            <a:r>
              <a:rPr lang="en-US" sz="2000" dirty="0"/>
              <a:t> o banco de dados com as </a:t>
            </a:r>
            <a:r>
              <a:rPr lang="en-US" sz="2000" dirty="0" err="1"/>
              <a:t>tabelas</a:t>
            </a:r>
            <a:r>
              <a:rPr lang="en-US" sz="2000" dirty="0"/>
              <a:t>, tendo </a:t>
            </a:r>
            <a:r>
              <a:rPr lang="en-US" sz="2000" dirty="0" err="1"/>
              <a:t>como</a:t>
            </a:r>
            <a:r>
              <a:rPr lang="en-US" sz="2000" dirty="0"/>
              <a:t> base </a:t>
            </a:r>
            <a:r>
              <a:rPr lang="en-US" sz="2000" dirty="0" err="1"/>
              <a:t>os</a:t>
            </a:r>
            <a:r>
              <a:rPr lang="en-US" sz="2000" dirty="0"/>
              <a:t> dados </a:t>
            </a:r>
            <a:r>
              <a:rPr lang="en-US" sz="2000" dirty="0" err="1"/>
              <a:t>apresentados</a:t>
            </a:r>
            <a:r>
              <a:rPr lang="en-US" sz="2000" dirty="0"/>
              <a:t> no </a:t>
            </a:r>
            <a:r>
              <a:rPr lang="en-US" sz="2000" dirty="0" err="1"/>
              <a:t>próximo</a:t>
            </a:r>
            <a:r>
              <a:rPr lang="en-US" sz="2000" dirty="0"/>
              <a:t> slide: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Uma </a:t>
            </a:r>
            <a:r>
              <a:rPr lang="en-US" sz="2000" dirty="0" err="1">
                <a:ea typeface="Calibri"/>
                <a:cs typeface="Calibri"/>
              </a:rPr>
              <a:t>Universidade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possui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diversos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cursos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r>
              <a:rPr lang="en-US" sz="2000" dirty="0">
                <a:ea typeface="Calibri"/>
                <a:cs typeface="Calibri"/>
              </a:rPr>
              <a:t>Um </a:t>
            </a:r>
            <a:r>
              <a:rPr lang="en-US" sz="2000" dirty="0" err="1">
                <a:ea typeface="Calibri"/>
                <a:cs typeface="Calibri"/>
              </a:rPr>
              <a:t>curso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apresenta</a:t>
            </a:r>
            <a:r>
              <a:rPr lang="en-US" sz="2000" dirty="0">
                <a:ea typeface="Calibri"/>
                <a:cs typeface="Calibri"/>
              </a:rPr>
              <a:t> </a:t>
            </a:r>
            <a:r>
              <a:rPr lang="en-US" sz="2000" dirty="0" err="1">
                <a:ea typeface="Calibri"/>
                <a:cs typeface="Calibri"/>
              </a:rPr>
              <a:t>diversas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disciplinas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que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podem</a:t>
            </a:r>
            <a:r>
              <a:rPr lang="en-US" sz="2000" dirty="0">
                <a:ea typeface="Calibri"/>
                <a:cs typeface="Calibri"/>
              </a:rPr>
              <a:t> ser </a:t>
            </a:r>
            <a:r>
              <a:rPr lang="en-US" sz="2000" dirty="0" err="1">
                <a:ea typeface="Calibri"/>
                <a:cs typeface="Calibri"/>
              </a:rPr>
              <a:t>ministradas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por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professores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r>
              <a:rPr lang="en-US" sz="2000" dirty="0">
                <a:ea typeface="Calibri"/>
                <a:cs typeface="Calibri"/>
              </a:rPr>
              <a:t>Um </a:t>
            </a:r>
            <a:r>
              <a:rPr lang="en-US" sz="2000" dirty="0" err="1">
                <a:ea typeface="Calibri"/>
                <a:cs typeface="Calibri"/>
              </a:rPr>
              <a:t>aluno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pode</a:t>
            </a:r>
            <a:r>
              <a:rPr lang="en-US" sz="2000" dirty="0">
                <a:ea typeface="Calibri"/>
                <a:cs typeface="Calibri"/>
              </a:rPr>
              <a:t> se matricular </a:t>
            </a:r>
            <a:r>
              <a:rPr lang="en-US" sz="2000" dirty="0" err="1">
                <a:ea typeface="Calibri"/>
                <a:cs typeface="Calibri"/>
              </a:rPr>
              <a:t>nas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disciplinas</a:t>
            </a:r>
            <a:r>
              <a:rPr lang="en-US" sz="2000" dirty="0">
                <a:ea typeface="Calibri"/>
                <a:cs typeface="Calibri"/>
              </a:rPr>
              <a:t> e as </a:t>
            </a:r>
            <a:r>
              <a:rPr lang="en-US" sz="2000" dirty="0" err="1">
                <a:ea typeface="Calibri"/>
                <a:cs typeface="Calibri"/>
              </a:rPr>
              <a:t>disciplinas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podem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conter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alunos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r>
              <a:rPr lang="en-US" sz="2000" dirty="0">
                <a:ea typeface="Calibri"/>
                <a:cs typeface="Calibri"/>
              </a:rPr>
              <a:t>O </a:t>
            </a:r>
            <a:r>
              <a:rPr lang="en-US" sz="2000" dirty="0" err="1">
                <a:ea typeface="Calibri"/>
                <a:cs typeface="Calibri"/>
              </a:rPr>
              <a:t>sistema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deve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armazenar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informações</a:t>
            </a:r>
            <a:r>
              <a:rPr lang="en-US" sz="2000" dirty="0">
                <a:ea typeface="Calibri"/>
                <a:cs typeface="Calibri"/>
              </a:rPr>
              <a:t> de </a:t>
            </a:r>
            <a:r>
              <a:rPr lang="en-US" sz="2000" dirty="0" err="1">
                <a:ea typeface="Calibri"/>
                <a:cs typeface="Calibri"/>
              </a:rPr>
              <a:t>Alunos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Cursos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Disciplinas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Matrículas</a:t>
            </a:r>
            <a:r>
              <a:rPr lang="en-US" sz="2000" dirty="0">
                <a:ea typeface="Calibri"/>
                <a:cs typeface="Calibri"/>
              </a:rPr>
              <a:t> e </a:t>
            </a:r>
            <a:r>
              <a:rPr lang="en-US" sz="2000" dirty="0" err="1">
                <a:ea typeface="Calibri"/>
                <a:cs typeface="Calibri"/>
              </a:rPr>
              <a:t>Professores</a:t>
            </a:r>
            <a:r>
              <a:rPr lang="en-US" sz="2000" dirty="0">
                <a:ea typeface="Calibri"/>
                <a:cs typeface="Calibri"/>
              </a:rPr>
              <a:t>.</a:t>
            </a:r>
          </a:p>
          <a:p>
            <a:endParaRPr lang="en-US" sz="2000" dirty="0">
              <a:ea typeface="Calibri"/>
              <a:cs typeface="Calibri"/>
            </a:endParaRPr>
          </a:p>
          <a:p>
            <a:r>
              <a:rPr lang="en-US" sz="2000" dirty="0" err="1">
                <a:ea typeface="Calibri"/>
                <a:cs typeface="Calibri"/>
              </a:rPr>
              <a:t>Após</a:t>
            </a:r>
            <a:r>
              <a:rPr lang="en-US" sz="2000" dirty="0">
                <a:ea typeface="Calibri"/>
                <a:cs typeface="Calibri"/>
              </a:rPr>
              <a:t> a </a:t>
            </a:r>
            <a:r>
              <a:rPr lang="en-US" sz="2000" dirty="0" err="1">
                <a:ea typeface="Calibri"/>
                <a:cs typeface="Calibri"/>
              </a:rPr>
              <a:t>modelagem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inicial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faça</a:t>
            </a:r>
            <a:r>
              <a:rPr lang="en-US" sz="2000" dirty="0">
                <a:ea typeface="Calibri"/>
                <a:cs typeface="Calibri"/>
              </a:rPr>
              <a:t> o </a:t>
            </a:r>
            <a:r>
              <a:rPr lang="en-US" sz="2000" dirty="0" err="1">
                <a:ea typeface="Calibri"/>
                <a:cs typeface="Calibri"/>
              </a:rPr>
              <a:t>que</a:t>
            </a:r>
            <a:r>
              <a:rPr lang="en-US" sz="2000" dirty="0">
                <a:ea typeface="Calibri"/>
                <a:cs typeface="Calibri"/>
              </a:rPr>
              <a:t> se </a:t>
            </a:r>
            <a:r>
              <a:rPr lang="en-US" sz="2000" dirty="0" err="1">
                <a:ea typeface="Calibri"/>
                <a:cs typeface="Calibri"/>
              </a:rPr>
              <a:t>pede</a:t>
            </a:r>
            <a:r>
              <a:rPr lang="en-US" sz="2000" dirty="0">
                <a:ea typeface="Calibri"/>
                <a:cs typeface="Calibri"/>
              </a:rPr>
              <a:t>:</a:t>
            </a:r>
          </a:p>
          <a:p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r>
              <a:rPr lang="en-US" sz="2000" dirty="0">
                <a:ea typeface="Calibri"/>
                <a:cs typeface="Calibri"/>
              </a:rPr>
              <a:t>Adicione </a:t>
            </a:r>
            <a:r>
              <a:rPr lang="en-US" sz="2000" dirty="0" err="1">
                <a:ea typeface="Calibri"/>
                <a:cs typeface="Calibri"/>
              </a:rPr>
              <a:t>uma</a:t>
            </a:r>
            <a:r>
              <a:rPr lang="en-US" sz="2000" dirty="0">
                <a:ea typeface="Calibri"/>
                <a:cs typeface="Calibri"/>
              </a:rPr>
              <a:t> nova </a:t>
            </a:r>
            <a:r>
              <a:rPr lang="en-US" sz="2000" dirty="0" err="1">
                <a:ea typeface="Calibri"/>
                <a:cs typeface="Calibri"/>
              </a:rPr>
              <a:t>coluna</a:t>
            </a:r>
            <a:r>
              <a:rPr lang="en-US" sz="2000" dirty="0">
                <a:ea typeface="Calibri"/>
                <a:cs typeface="Calibri"/>
              </a:rPr>
              <a:t> 'nota' </a:t>
            </a:r>
            <a:r>
              <a:rPr lang="en-US" sz="2000" dirty="0" err="1">
                <a:ea typeface="Calibri"/>
                <a:cs typeface="Calibri"/>
              </a:rPr>
              <a:t>na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tabela</a:t>
            </a:r>
            <a:r>
              <a:rPr lang="en-US" sz="2000" dirty="0">
                <a:ea typeface="Calibri"/>
                <a:cs typeface="Calibri"/>
              </a:rPr>
              <a:t> de </a:t>
            </a:r>
            <a:r>
              <a:rPr lang="en-US" sz="2000" dirty="0" err="1">
                <a:ea typeface="Calibri"/>
                <a:cs typeface="Calibri"/>
              </a:rPr>
              <a:t>Alunos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pPr marL="342900" indent="-342900">
              <a:buFont typeface="Calibri"/>
              <a:buChar char="-"/>
            </a:pPr>
            <a:r>
              <a:rPr lang="en-US" sz="2000" dirty="0" err="1">
                <a:ea typeface="Calibri"/>
                <a:cs typeface="Calibri"/>
              </a:rPr>
              <a:t>Modifique</a:t>
            </a:r>
            <a:r>
              <a:rPr lang="en-US" sz="2000" dirty="0">
                <a:ea typeface="Calibri"/>
                <a:cs typeface="Calibri"/>
              </a:rPr>
              <a:t> a </a:t>
            </a:r>
            <a:r>
              <a:rPr lang="en-US" sz="2000" dirty="0" err="1">
                <a:ea typeface="Calibri"/>
                <a:cs typeface="Calibri"/>
              </a:rPr>
              <a:t>tabela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Professores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alterando</a:t>
            </a:r>
            <a:r>
              <a:rPr lang="en-US" sz="2000" dirty="0">
                <a:ea typeface="Calibri"/>
                <a:cs typeface="Calibri"/>
              </a:rPr>
              <a:t> a </a:t>
            </a:r>
            <a:r>
              <a:rPr lang="en-US" sz="2000" dirty="0" err="1">
                <a:ea typeface="Calibri"/>
                <a:cs typeface="Calibri"/>
              </a:rPr>
              <a:t>coluna</a:t>
            </a:r>
            <a:r>
              <a:rPr lang="en-US" sz="2000" dirty="0">
                <a:ea typeface="Calibri"/>
                <a:cs typeface="Calibri"/>
              </a:rPr>
              <a:t> email para </a:t>
            </a:r>
            <a:r>
              <a:rPr lang="en-US" sz="2000" dirty="0" err="1">
                <a:ea typeface="Calibri"/>
                <a:cs typeface="Calibri"/>
              </a:rPr>
              <a:t>não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nula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pPr marL="342900" indent="-342900">
              <a:buFont typeface="Calibri"/>
              <a:buChar char="-"/>
            </a:pPr>
            <a:r>
              <a:rPr lang="en-US" sz="2000" dirty="0">
                <a:ea typeface="Calibri"/>
                <a:cs typeface="Calibri"/>
              </a:rPr>
              <a:t>Use o </a:t>
            </a:r>
            <a:r>
              <a:rPr lang="en-US" sz="2000" dirty="0" err="1">
                <a:ea typeface="Calibri"/>
                <a:cs typeface="Calibri"/>
              </a:rPr>
              <a:t>Comando</a:t>
            </a:r>
            <a:r>
              <a:rPr lang="en-US" sz="2000" dirty="0">
                <a:ea typeface="Calibri"/>
                <a:cs typeface="Calibri"/>
              </a:rPr>
              <a:t> SHOW para </a:t>
            </a:r>
            <a:r>
              <a:rPr lang="en-US" sz="2000" dirty="0" err="1">
                <a:ea typeface="Calibri"/>
                <a:cs typeface="Calibri"/>
              </a:rPr>
              <a:t>mostrar</a:t>
            </a:r>
            <a:r>
              <a:rPr lang="en-US" sz="2000" dirty="0">
                <a:ea typeface="Calibri"/>
                <a:cs typeface="Calibri"/>
              </a:rPr>
              <a:t> as </a:t>
            </a:r>
            <a:r>
              <a:rPr lang="en-US" sz="2000" dirty="0" err="1">
                <a:ea typeface="Calibri"/>
                <a:cs typeface="Calibri"/>
              </a:rPr>
              <a:t>informações</a:t>
            </a:r>
            <a:r>
              <a:rPr lang="en-US" sz="2000" dirty="0">
                <a:ea typeface="Calibri"/>
                <a:cs typeface="Calibri"/>
              </a:rPr>
              <a:t> das </a:t>
            </a:r>
            <a:r>
              <a:rPr lang="en-US" sz="2000" dirty="0" err="1">
                <a:ea typeface="Calibri"/>
                <a:cs typeface="Calibri"/>
              </a:rPr>
              <a:t>tabelas</a:t>
            </a:r>
            <a:r>
              <a:rPr lang="en-US" sz="2000" dirty="0">
                <a:ea typeface="Calibri"/>
                <a:cs typeface="Calibri"/>
              </a:rPr>
              <a:t> criadas.</a:t>
            </a:r>
          </a:p>
        </p:txBody>
      </p:sp>
    </p:spTree>
    <p:extLst>
      <p:ext uri="{BB962C8B-B14F-4D97-AF65-F5344CB8AC3E}">
        <p14:creationId xmlns:p14="http://schemas.microsoft.com/office/powerpoint/2010/main" val="2334101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F292-7046-EDD2-8B03-C5A40915B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82051E4-9E9A-DBCE-38C2-BC2D0CE3F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335F6CA-E497-F594-D07E-20E34E7A12B3}"/>
              </a:ext>
            </a:extLst>
          </p:cNvPr>
          <p:cNvSpPr txBox="1"/>
          <p:nvPr/>
        </p:nvSpPr>
        <p:spPr>
          <a:xfrm>
            <a:off x="5186740" y="197595"/>
            <a:ext cx="181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Exercício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99254F-8BC8-68DE-371A-C7B69EB11197}"/>
              </a:ext>
            </a:extLst>
          </p:cNvPr>
          <p:cNvSpPr txBox="1"/>
          <p:nvPr/>
        </p:nvSpPr>
        <p:spPr>
          <a:xfrm>
            <a:off x="1459523" y="1011115"/>
            <a:ext cx="8976946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 err="1">
                <a:ea typeface="Calibri"/>
                <a:cs typeface="Calibri"/>
              </a:rPr>
              <a:t>Aluno</a:t>
            </a:r>
            <a:r>
              <a:rPr lang="en-US" sz="2000" dirty="0">
                <a:ea typeface="Calibri"/>
                <a:cs typeface="Calibri"/>
              </a:rPr>
              <a:t>: id, </a:t>
            </a:r>
            <a:r>
              <a:rPr lang="en-US" sz="2000" dirty="0" err="1">
                <a:ea typeface="Calibri"/>
                <a:cs typeface="Calibri"/>
              </a:rPr>
              <a:t>nome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cpf</a:t>
            </a:r>
            <a:r>
              <a:rPr lang="en-US" sz="2000" dirty="0">
                <a:ea typeface="Calibri"/>
                <a:cs typeface="Calibri"/>
              </a:rPr>
              <a:t>, email, </a:t>
            </a:r>
            <a:r>
              <a:rPr lang="en-US" sz="2000" dirty="0" err="1">
                <a:ea typeface="Calibri"/>
                <a:cs typeface="Calibri"/>
              </a:rPr>
              <a:t>data_nascimento</a:t>
            </a:r>
            <a:r>
              <a:rPr lang="en-US" sz="2000" dirty="0">
                <a:ea typeface="Calibri"/>
                <a:cs typeface="Calibri"/>
              </a:rPr>
              <a:t> e </a:t>
            </a:r>
            <a:r>
              <a:rPr lang="en-US" sz="2000" dirty="0" err="1">
                <a:ea typeface="Calibri"/>
                <a:cs typeface="Calibri"/>
              </a:rPr>
              <a:t>matrícula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r>
              <a:rPr lang="en-US" sz="2000" dirty="0" err="1">
                <a:ea typeface="Calibri"/>
                <a:cs typeface="Calibri"/>
              </a:rPr>
              <a:t>Curso</a:t>
            </a:r>
            <a:r>
              <a:rPr lang="en-US" sz="2000" dirty="0">
                <a:ea typeface="Calibri"/>
                <a:cs typeface="Calibri"/>
              </a:rPr>
              <a:t>: id, </a:t>
            </a:r>
            <a:r>
              <a:rPr lang="en-US" sz="2000" dirty="0" err="1">
                <a:ea typeface="Calibri"/>
                <a:cs typeface="Calibri"/>
              </a:rPr>
              <a:t>nome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duração</a:t>
            </a:r>
            <a:r>
              <a:rPr lang="en-US" sz="2000" dirty="0">
                <a:ea typeface="Calibri"/>
                <a:cs typeface="Calibri"/>
              </a:rPr>
              <a:t> e </a:t>
            </a:r>
            <a:r>
              <a:rPr lang="en-US" sz="2000" dirty="0" err="1">
                <a:ea typeface="Calibri"/>
                <a:cs typeface="Calibri"/>
              </a:rPr>
              <a:t>modalidade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r>
              <a:rPr lang="en-US" sz="2000" dirty="0">
                <a:ea typeface="Calibri"/>
                <a:cs typeface="Calibri"/>
              </a:rPr>
              <a:t>Professor: id, </a:t>
            </a:r>
            <a:r>
              <a:rPr lang="en-US" sz="2000" dirty="0" err="1">
                <a:ea typeface="Calibri"/>
                <a:cs typeface="Calibri"/>
              </a:rPr>
              <a:t>nome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cpf</a:t>
            </a:r>
            <a:r>
              <a:rPr lang="en-US" sz="2000" dirty="0">
                <a:ea typeface="Calibri"/>
                <a:cs typeface="Calibri"/>
              </a:rPr>
              <a:t>, email;</a:t>
            </a:r>
          </a:p>
          <a:p>
            <a:r>
              <a:rPr lang="en-US" sz="2000" dirty="0" err="1">
                <a:ea typeface="Calibri"/>
                <a:cs typeface="Calibri"/>
              </a:rPr>
              <a:t>Disciplina</a:t>
            </a:r>
            <a:r>
              <a:rPr lang="en-US" sz="2000" dirty="0">
                <a:ea typeface="Calibri"/>
                <a:cs typeface="Calibri"/>
              </a:rPr>
              <a:t>: id, </a:t>
            </a:r>
            <a:r>
              <a:rPr lang="en-US" sz="2000" dirty="0" err="1">
                <a:ea typeface="Calibri"/>
                <a:cs typeface="Calibri"/>
              </a:rPr>
              <a:t>nome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carga_horária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id_curso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id_professor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r>
              <a:rPr lang="en-US" sz="2000" dirty="0" err="1">
                <a:ea typeface="Calibri"/>
                <a:cs typeface="Calibri"/>
              </a:rPr>
              <a:t>Matrícula</a:t>
            </a:r>
            <a:r>
              <a:rPr lang="en-US" sz="2000" dirty="0">
                <a:ea typeface="Calibri"/>
                <a:cs typeface="Calibri"/>
              </a:rPr>
              <a:t>: id, </a:t>
            </a:r>
            <a:r>
              <a:rPr lang="en-US" sz="2000" dirty="0" err="1">
                <a:ea typeface="Calibri"/>
                <a:cs typeface="Calibri"/>
              </a:rPr>
              <a:t>id_aluno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id_disciplina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data_matricula</a:t>
            </a:r>
            <a:r>
              <a:rPr lang="en-US" sz="2000" dirty="0">
                <a:ea typeface="Calibri"/>
                <a:cs typeface="Calibri"/>
              </a:rPr>
              <a:t>, status.</a:t>
            </a:r>
          </a:p>
          <a:p>
            <a:endParaRPr lang="en-US" sz="2000" dirty="0">
              <a:ea typeface="Calibri"/>
              <a:cs typeface="Calibri"/>
            </a:endParaRPr>
          </a:p>
          <a:p>
            <a:r>
              <a:rPr lang="en-US" sz="2000" dirty="0" err="1">
                <a:ea typeface="Calibri"/>
                <a:cs typeface="Calibri"/>
              </a:rPr>
              <a:t>Considerações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Importantes</a:t>
            </a:r>
            <a:r>
              <a:rPr lang="en-US" sz="2000" dirty="0">
                <a:ea typeface="Calibri"/>
                <a:cs typeface="Calibri"/>
              </a:rPr>
              <a:t>:</a:t>
            </a:r>
          </a:p>
          <a:p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r>
              <a:rPr lang="en-US" sz="2000" dirty="0">
                <a:ea typeface="Calibri"/>
                <a:cs typeface="Calibri"/>
              </a:rPr>
              <a:t>CPF e e-mail </a:t>
            </a:r>
            <a:r>
              <a:rPr lang="en-US" sz="2000" dirty="0" err="1">
                <a:ea typeface="Calibri"/>
                <a:cs typeface="Calibri"/>
              </a:rPr>
              <a:t>não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podem</a:t>
            </a:r>
            <a:r>
              <a:rPr lang="en-US" sz="2000" dirty="0">
                <a:ea typeface="Calibri"/>
                <a:cs typeface="Calibri"/>
              </a:rPr>
              <a:t> ser </a:t>
            </a:r>
            <a:r>
              <a:rPr lang="en-US" sz="2000" dirty="0" err="1">
                <a:ea typeface="Calibri"/>
                <a:cs typeface="Calibri"/>
              </a:rPr>
              <a:t>duplicados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pPr marL="342900" indent="-342900">
              <a:buFont typeface="Calibri"/>
              <a:buChar char="-"/>
            </a:pPr>
            <a:r>
              <a:rPr lang="en-US" sz="2000" dirty="0">
                <a:ea typeface="Calibri"/>
                <a:cs typeface="Calibri"/>
              </a:rPr>
              <a:t>Campos </a:t>
            </a:r>
            <a:r>
              <a:rPr lang="en-US" sz="2000" dirty="0" err="1">
                <a:ea typeface="Calibri"/>
                <a:cs typeface="Calibri"/>
              </a:rPr>
              <a:t>Obrigatórios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não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podem</a:t>
            </a:r>
            <a:r>
              <a:rPr lang="en-US" sz="2000" dirty="0">
                <a:ea typeface="Calibri"/>
                <a:cs typeface="Calibri"/>
              </a:rPr>
              <a:t> ser </a:t>
            </a:r>
            <a:r>
              <a:rPr lang="en-US" sz="2000" dirty="0" err="1">
                <a:ea typeface="Calibri"/>
                <a:cs typeface="Calibri"/>
              </a:rPr>
              <a:t>nulos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pPr marL="342900" indent="-342900">
              <a:buFont typeface="Calibri"/>
              <a:buChar char="-"/>
            </a:pPr>
            <a:r>
              <a:rPr lang="en-US" sz="2000" dirty="0" err="1">
                <a:ea typeface="Calibri"/>
                <a:cs typeface="Calibri"/>
              </a:rPr>
              <a:t>Modalidade</a:t>
            </a:r>
            <a:r>
              <a:rPr lang="en-US" sz="2000" dirty="0">
                <a:ea typeface="Calibri"/>
                <a:cs typeface="Calibri"/>
              </a:rPr>
              <a:t> </a:t>
            </a:r>
            <a:r>
              <a:rPr lang="en-US" sz="2000" dirty="0" err="1">
                <a:ea typeface="Calibri"/>
                <a:cs typeface="Calibri"/>
              </a:rPr>
              <a:t>deve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aceitar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apenas</a:t>
            </a:r>
            <a:r>
              <a:rPr lang="en-US" sz="2000" dirty="0">
                <a:ea typeface="Calibri"/>
                <a:cs typeface="Calibri"/>
              </a:rPr>
              <a:t>: </a:t>
            </a:r>
            <a:r>
              <a:rPr lang="en-US" sz="2000" dirty="0" err="1">
                <a:ea typeface="Calibri"/>
                <a:cs typeface="Calibri"/>
              </a:rPr>
              <a:t>Presencial</a:t>
            </a:r>
            <a:r>
              <a:rPr lang="en-US" sz="2000" dirty="0">
                <a:ea typeface="Calibri"/>
                <a:cs typeface="Calibri"/>
              </a:rPr>
              <a:t>, EAD </a:t>
            </a:r>
            <a:r>
              <a:rPr lang="en-US" sz="2000" dirty="0" err="1">
                <a:ea typeface="Calibri"/>
                <a:cs typeface="Calibri"/>
              </a:rPr>
              <a:t>ou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Híbrido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pPr marL="342900" indent="-342900">
              <a:buFont typeface="Calibri"/>
              <a:buChar char="-"/>
            </a:pPr>
            <a:r>
              <a:rPr lang="en-US" sz="2000" dirty="0" err="1">
                <a:ea typeface="Calibri"/>
                <a:cs typeface="Calibri"/>
              </a:rPr>
              <a:t>Carga_horária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deve</a:t>
            </a:r>
            <a:r>
              <a:rPr lang="en-US" sz="2000" dirty="0">
                <a:ea typeface="Calibri"/>
                <a:cs typeface="Calibri"/>
              </a:rPr>
              <a:t> ser </a:t>
            </a:r>
            <a:r>
              <a:rPr lang="en-US" sz="2000" dirty="0" err="1">
                <a:ea typeface="Calibri"/>
                <a:cs typeface="Calibri"/>
              </a:rPr>
              <a:t>maior</a:t>
            </a:r>
            <a:r>
              <a:rPr lang="en-US" sz="2000" dirty="0">
                <a:ea typeface="Calibri"/>
                <a:cs typeface="Calibri"/>
              </a:rPr>
              <a:t> do </a:t>
            </a:r>
            <a:r>
              <a:rPr lang="en-US" sz="2000" dirty="0" err="1">
                <a:ea typeface="Calibri"/>
                <a:cs typeface="Calibri"/>
              </a:rPr>
              <a:t>que</a:t>
            </a:r>
            <a:r>
              <a:rPr lang="en-US" sz="2000" dirty="0">
                <a:ea typeface="Calibri"/>
                <a:cs typeface="Calibri"/>
              </a:rPr>
              <a:t> zero;</a:t>
            </a:r>
          </a:p>
          <a:p>
            <a:pPr marL="342900" indent="-342900">
              <a:buFont typeface="Calibri"/>
              <a:buChar char="-"/>
            </a:pPr>
            <a:r>
              <a:rPr lang="en-US" sz="2000" dirty="0" err="1">
                <a:ea typeface="Calibri"/>
                <a:cs typeface="Calibri"/>
              </a:rPr>
              <a:t>Data_matrícula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deve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possuir</a:t>
            </a:r>
            <a:r>
              <a:rPr lang="en-US" sz="2000" dirty="0">
                <a:ea typeface="Calibri"/>
                <a:cs typeface="Calibri"/>
              </a:rPr>
              <a:t> um valor </a:t>
            </a:r>
            <a:r>
              <a:rPr lang="en-US" sz="2000" dirty="0" err="1">
                <a:ea typeface="Calibri"/>
                <a:cs typeface="Calibri"/>
              </a:rPr>
              <a:t>padrão</a:t>
            </a:r>
            <a:r>
              <a:rPr lang="en-US" sz="2000" dirty="0">
                <a:ea typeface="Calibri"/>
                <a:cs typeface="Calibri"/>
              </a:rPr>
              <a:t>;</a:t>
            </a:r>
          </a:p>
          <a:p>
            <a:pPr marL="342900" indent="-342900">
              <a:buFont typeface="Calibri"/>
              <a:buChar char="-"/>
            </a:pPr>
            <a:r>
              <a:rPr lang="en-US" sz="2000" dirty="0" err="1">
                <a:ea typeface="Calibri"/>
                <a:cs typeface="Calibri"/>
              </a:rPr>
              <a:t>Não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esquecer</a:t>
            </a:r>
            <a:r>
              <a:rPr lang="en-US" sz="2000" dirty="0">
                <a:ea typeface="Calibri"/>
                <a:cs typeface="Calibri"/>
              </a:rPr>
              <a:t> de </a:t>
            </a:r>
            <a:r>
              <a:rPr lang="en-US" sz="2000" dirty="0" err="1">
                <a:ea typeface="Calibri"/>
                <a:cs typeface="Calibri"/>
              </a:rPr>
              <a:t>criar</a:t>
            </a:r>
            <a:r>
              <a:rPr lang="en-US" sz="2000" dirty="0">
                <a:ea typeface="Calibri"/>
                <a:cs typeface="Calibri"/>
              </a:rPr>
              <a:t> as Chaves </a:t>
            </a:r>
            <a:r>
              <a:rPr lang="en-US" sz="2000" dirty="0" err="1">
                <a:ea typeface="Calibri"/>
                <a:cs typeface="Calibri"/>
              </a:rPr>
              <a:t>Estrangeiras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corretamente</a:t>
            </a:r>
            <a:r>
              <a:rPr lang="en-US" sz="2000" dirty="0">
                <a:ea typeface="Calibri"/>
                <a:cs typeface="Calibri"/>
              </a:rPr>
              <a:t>.</a:t>
            </a:r>
          </a:p>
          <a:p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2137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534</Words>
  <Application>Microsoft Office PowerPoint</Application>
  <PresentationFormat>Widescreen</PresentationFormat>
  <Paragraphs>79</Paragraphs>
  <Slides>16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125</cp:revision>
  <dcterms:created xsi:type="dcterms:W3CDTF">2025-07-21T21:42:57Z</dcterms:created>
  <dcterms:modified xsi:type="dcterms:W3CDTF">2026-08-14T01:12:03Z</dcterms:modified>
</cp:coreProperties>
</file>