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63" r:id="rId3"/>
    <p:sldId id="258" r:id="rId4"/>
    <p:sldId id="276" r:id="rId5"/>
    <p:sldId id="260" r:id="rId6"/>
    <p:sldId id="264" r:id="rId7"/>
    <p:sldId id="259" r:id="rId8"/>
    <p:sldId id="261" r:id="rId9"/>
    <p:sldId id="262" r:id="rId10"/>
    <p:sldId id="278" r:id="rId11"/>
    <p:sldId id="280" r:id="rId12"/>
    <p:sldId id="279" r:id="rId13"/>
    <p:sldId id="281" r:id="rId14"/>
    <p:sldId id="265" r:id="rId15"/>
    <p:sldId id="277" r:id="rId16"/>
    <p:sldId id="275" r:id="rId1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0T23:09:00.1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 23713,'5613'0'0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0T23:09:21.5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 23713,'2741'0'0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0T23:09:36.6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 23713,'3393'0'0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0T23:04:17.3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 24145,'2590'0'0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0T22:53:27.1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23949,'6977'0'0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0T22:55:16.4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23949,'4618'0'0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0T22:55:51.6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23949,'4618'0'0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588FEF-F436-4522-91D9-3FBB4B3CDA67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532B0-B003-473B-9208-A2E213C2D0C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0493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42E039-2C2B-455F-97AD-3DF3B59C34CF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0681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6936EA-EDCE-E395-A3E8-3B2553530B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6DB4B34-F732-5ACA-6C64-CED1D90FC4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70857D1-B367-B814-EB98-03A99F1AC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045AAC5-EA2D-166D-3500-ABB01AE0A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E55D0B9-E2E2-DB70-C689-7F79AFF10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49709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E2275C-1CE0-37A1-A0F3-1B6AFA707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5F4C68-467D-983C-74F1-D5AB782244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C15F145-D4D9-9519-40B5-847ABEF84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320868-5273-EA97-185C-AFABF5A7D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0577338-6DA6-1C93-707E-C0538EE57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9417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0F43FE9-E8BA-CCB6-9A8A-65A43F166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F8C63ED-48FC-5189-9E33-145A2ECC28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27E829B-FB38-1C71-36FE-9F7CC3886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F2FA988-7822-0A2A-A085-6E9CB9E30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AAD0A9E-D6CA-A6F9-75F9-8827D85CF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4623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27C781-785B-137D-989A-7D979D4C9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BAABEAD-EBF0-E3C3-2EED-DC7FAAB06D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5AFE13E-692D-C8D6-6BC2-2E77A8B083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D7AEEC0-4DF7-46B1-E6C8-D6B390029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DD2D2BC-F1F2-E327-6161-1E02C31A9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402263B-1BEB-A007-DB23-9D3756597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6451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02F793-4DA6-BFF2-7FC7-9E6DC55E6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6BE7B32-DB6E-AEC8-9F1A-B3CC133FBE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7F77343-E9FC-15D1-D7E4-AE32381DC1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ECF0CB81-11F6-08C1-FBC4-3574A79C1E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F878FC7-B946-534C-278B-4AF49E94D4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939F3ACE-AC93-8885-1C19-0E0E5FDF4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7DF5604-31E6-42E1-EBA2-53EC7DCD4F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63CF9D0-E687-62D8-A172-619849E48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3962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4A493C-DDF2-EEF4-03EE-673453A9A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FB35FD19-D95E-C04E-FFAC-1D2860CBD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7A639466-8599-4EDF-4D25-214154F3A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076BE16-EC65-B64D-5603-6145B5107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1274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9DD1F7C1-363E-CA07-3901-4ACE7ADFD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083D0BD-BCE7-8367-19E6-8D231BE98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617531C-D1B9-1DB7-4A9D-3F1B9BA20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5382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23E8EE-BC9B-43B1-E826-34541631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CFA0916-0B97-2E29-CF1E-4C5914F684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D3E8EF7-4BF1-C3F0-E4A1-2FE127D77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35DECFD-BE3C-AD54-F9C9-4882D6438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68B860C-46C7-515E-14B4-D55944E16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BC1B3ED-FCFC-3A46-8D2E-582D0A077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15141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E8FA00-90BA-966E-6A29-4ED50ED36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716D27F3-3175-5174-61EB-42D8CBC76E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C9A38C8-0F8D-9E70-9A78-FA6C49AFB0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D54D4CC-95EE-108A-3A59-AEC31AB3A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656F36D-1B0A-AF43-E75E-5DE081680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A3A6A6E-B119-B59C-5632-66E0FA6EF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04028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E687EC-2FEA-BC90-D23C-270FBAAE2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516177C-80D8-4A0B-304D-1ABD56BA29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04CBAFD-3824-CD6F-8DEC-C50F51B98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186DC45-DB64-0507-6ED8-3A7D1B5D8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374F945-38A2-F849-3C34-CF311E2E3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52877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EFE493D-BDF8-AA72-B71F-6681AA2362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3004253-4DC3-5D09-A175-05901F3C6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BEC77F8-F88B-7BBA-8C73-C36A5CB6C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0325517-ED4A-69ED-A0E2-864A1353A3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DBC8591-79BB-C3CD-D7EC-502B066B2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5337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D09E6E89-3B11-68A4-2DA2-B8FB90D53E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953AA82-BC41-C118-C2DC-9DEEC2A8AB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84F65B-1D61-FE33-D1D7-CD35F437CF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DEC918-6A4C-437B-AF1C-9622FE800873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1FC38E8-EBE4-6922-D320-4CEECB9564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8AE9D3-CE56-1A26-2C9B-5A3E79B5C0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1051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5" Type="http://schemas.openxmlformats.org/officeDocument/2006/relationships/image" Target="../media/image9.png"/><Relationship Id="rId4" Type="http://schemas.openxmlformats.org/officeDocument/2006/relationships/customXml" Target="../ink/ink1.xml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customXml" Target="../ink/ink4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customXml" Target="../ink/ink7.xml"/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6.xml"/><Relationship Id="rId5" Type="http://schemas.openxmlformats.org/officeDocument/2006/relationships/image" Target="../media/image15.png"/><Relationship Id="rId4" Type="http://schemas.openxmlformats.org/officeDocument/2006/relationships/customXml" Target="../ink/ink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6754681D-DBF5-8273-C23C-0299FB464C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3BCE7230-F407-9EF5-8E18-0586494E95F1}"/>
              </a:ext>
            </a:extLst>
          </p:cNvPr>
          <p:cNvSpPr txBox="1"/>
          <p:nvPr/>
        </p:nvSpPr>
        <p:spPr>
          <a:xfrm>
            <a:off x="105508" y="114300"/>
            <a:ext cx="39389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Banco de Dados – C07</a:t>
            </a:r>
            <a:endParaRPr lang="pt-BR" sz="3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3CC7D12-D3BF-9337-7D0C-D2B1685C85F8}"/>
              </a:ext>
            </a:extLst>
          </p:cNvPr>
          <p:cNvSpPr txBox="1"/>
          <p:nvPr/>
        </p:nvSpPr>
        <p:spPr>
          <a:xfrm>
            <a:off x="105508" y="602313"/>
            <a:ext cx="25233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Felipe Tagawa Reis</a:t>
            </a:r>
            <a:endParaRPr lang="pt-BR" sz="24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E590A6B-DA49-9159-AD12-07097EA653E5}"/>
              </a:ext>
            </a:extLst>
          </p:cNvPr>
          <p:cNvSpPr txBox="1"/>
          <p:nvPr/>
        </p:nvSpPr>
        <p:spPr>
          <a:xfrm>
            <a:off x="105508" y="6035814"/>
            <a:ext cx="33586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Comandos DDL</a:t>
            </a:r>
          </a:p>
        </p:txBody>
      </p:sp>
    </p:spTree>
    <p:extLst>
      <p:ext uri="{BB962C8B-B14F-4D97-AF65-F5344CB8AC3E}">
        <p14:creationId xmlns:p14="http://schemas.microsoft.com/office/powerpoint/2010/main" val="239161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168834C-13B9-6CB3-5318-985EEE39F3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26" name="Picture 2" descr="Types of SQL Commands. - Learnomate Technologies">
            <a:extLst>
              <a:ext uri="{FF2B5EF4-FFF2-40B4-BE49-F238E27FC236}">
                <a16:creationId xmlns:a16="http://schemas.microsoft.com/office/drawing/2014/main" id="{2BE99228-959E-AC6D-4561-CD3DF5B2D6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023937"/>
            <a:ext cx="8572500" cy="481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9941A8B2-D380-DC77-7419-374815BF0369}"/>
              </a:ext>
            </a:extLst>
          </p:cNvPr>
          <p:cNvSpPr txBox="1"/>
          <p:nvPr/>
        </p:nvSpPr>
        <p:spPr>
          <a:xfrm>
            <a:off x="4588119" y="188803"/>
            <a:ext cx="30157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Linguagem</a:t>
            </a:r>
            <a:r>
              <a:rPr lang="en-US" sz="3600" dirty="0"/>
              <a:t> SQL</a:t>
            </a:r>
            <a:endParaRPr lang="pt-BR" sz="3600" dirty="0"/>
          </a:p>
        </p:txBody>
      </p:sp>
    </p:spTree>
    <p:extLst>
      <p:ext uri="{BB962C8B-B14F-4D97-AF65-F5344CB8AC3E}">
        <p14:creationId xmlns:p14="http://schemas.microsoft.com/office/powerpoint/2010/main" val="27763632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8113F-A1BD-AB7E-5C05-BD73BE930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920B5AB8-0114-3359-FC84-630E6C7F1E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93E29DD7-F91D-7787-FE3B-123FF3FEFD57}"/>
              </a:ext>
            </a:extLst>
          </p:cNvPr>
          <p:cNvSpPr txBox="1"/>
          <p:nvPr/>
        </p:nvSpPr>
        <p:spPr>
          <a:xfrm>
            <a:off x="4798402" y="180011"/>
            <a:ext cx="25951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Aula de </a:t>
            </a:r>
            <a:r>
              <a:rPr lang="en-US" sz="3600" dirty="0" err="1"/>
              <a:t>Hoje</a:t>
            </a:r>
            <a:endParaRPr lang="pt-BR" sz="3600" dirty="0"/>
          </a:p>
        </p:txBody>
      </p:sp>
      <p:pic>
        <p:nvPicPr>
          <p:cNvPr id="3" name="Picture 2" descr="Types of SQL Commands. - Learnomate Technologies">
            <a:extLst>
              <a:ext uri="{FF2B5EF4-FFF2-40B4-BE49-F238E27FC236}">
                <a16:creationId xmlns:a16="http://schemas.microsoft.com/office/drawing/2014/main" id="{AAE9AD72-B988-9CA1-92D2-AFAE815E10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023937"/>
            <a:ext cx="8572500" cy="481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eta: para a Direita 3">
            <a:extLst>
              <a:ext uri="{FF2B5EF4-FFF2-40B4-BE49-F238E27FC236}">
                <a16:creationId xmlns:a16="http://schemas.microsoft.com/office/drawing/2014/main" id="{ECDAE331-760E-0B2B-E687-90DE10150262}"/>
              </a:ext>
            </a:extLst>
          </p:cNvPr>
          <p:cNvSpPr/>
          <p:nvPr/>
        </p:nvSpPr>
        <p:spPr>
          <a:xfrm flipH="1">
            <a:off x="2857498" y="2711666"/>
            <a:ext cx="422031" cy="2637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Seta: para a Direita 5">
            <a:extLst>
              <a:ext uri="{FF2B5EF4-FFF2-40B4-BE49-F238E27FC236}">
                <a16:creationId xmlns:a16="http://schemas.microsoft.com/office/drawing/2014/main" id="{41C933C8-ABC8-9C19-5FE1-2E679453A02A}"/>
              </a:ext>
            </a:extLst>
          </p:cNvPr>
          <p:cNvSpPr/>
          <p:nvPr/>
        </p:nvSpPr>
        <p:spPr>
          <a:xfrm flipH="1">
            <a:off x="2857498" y="3041145"/>
            <a:ext cx="422031" cy="2637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Seta: para a Direita 6">
            <a:extLst>
              <a:ext uri="{FF2B5EF4-FFF2-40B4-BE49-F238E27FC236}">
                <a16:creationId xmlns:a16="http://schemas.microsoft.com/office/drawing/2014/main" id="{7A2CE3F9-1D8A-FD32-1BCF-37A3DFD7E346}"/>
              </a:ext>
            </a:extLst>
          </p:cNvPr>
          <p:cNvSpPr/>
          <p:nvPr/>
        </p:nvSpPr>
        <p:spPr>
          <a:xfrm flipH="1">
            <a:off x="3182814" y="3297115"/>
            <a:ext cx="422031" cy="2637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Seta: para a Direita 7">
            <a:extLst>
              <a:ext uri="{FF2B5EF4-FFF2-40B4-BE49-F238E27FC236}">
                <a16:creationId xmlns:a16="http://schemas.microsoft.com/office/drawing/2014/main" id="{5C7BCAF4-BD4C-0798-192A-479758143CFC}"/>
              </a:ext>
            </a:extLst>
          </p:cNvPr>
          <p:cNvSpPr/>
          <p:nvPr/>
        </p:nvSpPr>
        <p:spPr>
          <a:xfrm flipH="1">
            <a:off x="2971798" y="2404991"/>
            <a:ext cx="422031" cy="2637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7300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78719FF-F7CE-4325-97A0-FF41192BC7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39BBF6BF-6C28-843E-8D7C-54E5E79316A6}"/>
              </a:ext>
            </a:extLst>
          </p:cNvPr>
          <p:cNvSpPr txBox="1"/>
          <p:nvPr/>
        </p:nvSpPr>
        <p:spPr>
          <a:xfrm>
            <a:off x="4279106" y="162426"/>
            <a:ext cx="3633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Comando CREATE</a:t>
            </a:r>
            <a:endParaRPr lang="pt-BR" sz="3600" dirty="0"/>
          </a:p>
        </p:txBody>
      </p: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F2ADEBE6-B192-E25D-FBDE-E8F8065A0A74}"/>
              </a:ext>
            </a:extLst>
          </p:cNvPr>
          <p:cNvCxnSpPr>
            <a:cxnSpLocks/>
          </p:cNvCxnSpPr>
          <p:nvPr/>
        </p:nvCxnSpPr>
        <p:spPr>
          <a:xfrm flipH="1">
            <a:off x="1441938" y="4086612"/>
            <a:ext cx="266006" cy="6860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ector de Seta Reta 14">
            <a:extLst>
              <a:ext uri="{FF2B5EF4-FFF2-40B4-BE49-F238E27FC236}">
                <a16:creationId xmlns:a16="http://schemas.microsoft.com/office/drawing/2014/main" id="{3727BA92-63A0-F1BC-74DE-05A5AF25B4D7}"/>
              </a:ext>
            </a:extLst>
          </p:cNvPr>
          <p:cNvCxnSpPr>
            <a:cxnSpLocks/>
          </p:cNvCxnSpPr>
          <p:nvPr/>
        </p:nvCxnSpPr>
        <p:spPr>
          <a:xfrm>
            <a:off x="3017648" y="3972532"/>
            <a:ext cx="209129" cy="10425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B7DCBB4D-2820-209B-44C8-5BE88C126B99}"/>
              </a:ext>
            </a:extLst>
          </p:cNvPr>
          <p:cNvCxnSpPr>
            <a:cxnSpLocks/>
          </p:cNvCxnSpPr>
          <p:nvPr/>
        </p:nvCxnSpPr>
        <p:spPr>
          <a:xfrm>
            <a:off x="4279106" y="4018085"/>
            <a:ext cx="284102" cy="997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Conector de Seta Reta 20">
            <a:extLst>
              <a:ext uri="{FF2B5EF4-FFF2-40B4-BE49-F238E27FC236}">
                <a16:creationId xmlns:a16="http://schemas.microsoft.com/office/drawing/2014/main" id="{A129D181-5AFE-1228-DF99-673156D75A82}"/>
              </a:ext>
            </a:extLst>
          </p:cNvPr>
          <p:cNvCxnSpPr>
            <a:cxnSpLocks/>
          </p:cNvCxnSpPr>
          <p:nvPr/>
        </p:nvCxnSpPr>
        <p:spPr>
          <a:xfrm>
            <a:off x="6638193" y="4086612"/>
            <a:ext cx="0" cy="9284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74CC7A68-586D-A3BF-4331-42C01F368DFB}"/>
              </a:ext>
            </a:extLst>
          </p:cNvPr>
          <p:cNvCxnSpPr>
            <a:cxnSpLocks/>
          </p:cNvCxnSpPr>
          <p:nvPr/>
        </p:nvCxnSpPr>
        <p:spPr>
          <a:xfrm>
            <a:off x="9336734" y="4018085"/>
            <a:ext cx="0" cy="997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4E55AD1B-D3AD-923B-0703-62D260DDE8C4}"/>
              </a:ext>
            </a:extLst>
          </p:cNvPr>
          <p:cNvSpPr txBox="1"/>
          <p:nvPr/>
        </p:nvSpPr>
        <p:spPr>
          <a:xfrm>
            <a:off x="647233" y="4849323"/>
            <a:ext cx="1060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Nome do </a:t>
            </a:r>
            <a:r>
              <a:rPr lang="en-US" dirty="0" err="1"/>
              <a:t>Atributo</a:t>
            </a:r>
            <a:endParaRPr lang="pt-BR" dirty="0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F775F0BE-8064-6993-10C1-38805A4389C3}"/>
              </a:ext>
            </a:extLst>
          </p:cNvPr>
          <p:cNvSpPr txBox="1"/>
          <p:nvPr/>
        </p:nvSpPr>
        <p:spPr>
          <a:xfrm>
            <a:off x="2696421" y="5146111"/>
            <a:ext cx="1060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Tipo do </a:t>
            </a:r>
            <a:r>
              <a:rPr lang="en-US" dirty="0" err="1"/>
              <a:t>Atributo</a:t>
            </a:r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F73AE8B8-376E-7DB2-EB08-98211C63B96E}"/>
              </a:ext>
            </a:extLst>
          </p:cNvPr>
          <p:cNvSpPr txBox="1"/>
          <p:nvPr/>
        </p:nvSpPr>
        <p:spPr>
          <a:xfrm>
            <a:off x="3947746" y="5172488"/>
            <a:ext cx="13715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Indica que o </a:t>
            </a:r>
            <a:r>
              <a:rPr lang="en-US" dirty="0" err="1"/>
              <a:t>Atributo</a:t>
            </a:r>
            <a:r>
              <a:rPr lang="en-US" dirty="0"/>
              <a:t> </a:t>
            </a:r>
            <a:r>
              <a:rPr lang="en-US" u="sng" dirty="0" err="1"/>
              <a:t>não</a:t>
            </a:r>
            <a:r>
              <a:rPr lang="en-US" u="sng" dirty="0"/>
              <a:t> </a:t>
            </a:r>
            <a:r>
              <a:rPr lang="en-US" u="sng" dirty="0" err="1"/>
              <a:t>pode</a:t>
            </a:r>
            <a:r>
              <a:rPr lang="en-US" u="sng" dirty="0"/>
              <a:t> ser </a:t>
            </a:r>
            <a:r>
              <a:rPr lang="en-US" u="sng" dirty="0" err="1"/>
              <a:t>nulo</a:t>
            </a:r>
            <a:endParaRPr lang="pt-BR" dirty="0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AD911C3A-F14B-D6C5-5E59-858CCEC673FE}"/>
              </a:ext>
            </a:extLst>
          </p:cNvPr>
          <p:cNvSpPr txBox="1"/>
          <p:nvPr/>
        </p:nvSpPr>
        <p:spPr>
          <a:xfrm>
            <a:off x="5459965" y="5103674"/>
            <a:ext cx="25145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Para </a:t>
            </a:r>
            <a:r>
              <a:rPr lang="en-US" dirty="0" err="1"/>
              <a:t>Atributos</a:t>
            </a:r>
            <a:r>
              <a:rPr lang="en-US" dirty="0"/>
              <a:t> </a:t>
            </a:r>
            <a:r>
              <a:rPr lang="en-US" dirty="0" err="1"/>
              <a:t>numéricos</a:t>
            </a:r>
            <a:r>
              <a:rPr lang="en-US" dirty="0"/>
              <a:t>,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modificador</a:t>
            </a:r>
            <a:r>
              <a:rPr lang="en-US" dirty="0"/>
              <a:t> </a:t>
            </a:r>
            <a:r>
              <a:rPr lang="en-US" dirty="0" err="1"/>
              <a:t>incrementa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1 no </a:t>
            </a:r>
            <a:r>
              <a:rPr lang="en-US" dirty="0" err="1"/>
              <a:t>último</a:t>
            </a:r>
            <a:r>
              <a:rPr lang="en-US" dirty="0"/>
              <a:t> </a:t>
            </a:r>
            <a:r>
              <a:rPr lang="en-US" dirty="0" err="1"/>
              <a:t>inserido</a:t>
            </a:r>
            <a:r>
              <a:rPr lang="en-US" dirty="0"/>
              <a:t>, </a:t>
            </a:r>
            <a:r>
              <a:rPr lang="en-US" dirty="0" err="1"/>
              <a:t>sem</a:t>
            </a:r>
            <a:r>
              <a:rPr lang="en-US" dirty="0"/>
              <a:t> a </a:t>
            </a:r>
            <a:r>
              <a:rPr lang="en-US" dirty="0" err="1"/>
              <a:t>necessidade</a:t>
            </a:r>
            <a:r>
              <a:rPr lang="en-US" dirty="0"/>
              <a:t> de </a:t>
            </a:r>
            <a:r>
              <a:rPr lang="en-US" dirty="0" err="1"/>
              <a:t>inserir</a:t>
            </a:r>
            <a:r>
              <a:rPr lang="en-US" dirty="0"/>
              <a:t> </a:t>
            </a:r>
            <a:r>
              <a:rPr lang="en-US" dirty="0" err="1"/>
              <a:t>manualmente</a:t>
            </a:r>
            <a:endParaRPr lang="pt-BR" dirty="0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1CAC4345-3181-A751-F1B8-E5E633F729D3}"/>
              </a:ext>
            </a:extLst>
          </p:cNvPr>
          <p:cNvSpPr txBox="1"/>
          <p:nvPr/>
        </p:nvSpPr>
        <p:spPr>
          <a:xfrm>
            <a:off x="8563708" y="5266592"/>
            <a:ext cx="17408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Indica que </a:t>
            </a:r>
            <a:r>
              <a:rPr lang="en-US" dirty="0" err="1"/>
              <a:t>este</a:t>
            </a:r>
            <a:r>
              <a:rPr lang="en-US" dirty="0"/>
              <a:t> é um </a:t>
            </a:r>
            <a:r>
              <a:rPr lang="en-US" dirty="0" err="1"/>
              <a:t>Atributo</a:t>
            </a:r>
            <a:r>
              <a:rPr lang="en-US" dirty="0"/>
              <a:t> </a:t>
            </a:r>
            <a:r>
              <a:rPr lang="en-US" dirty="0" err="1"/>
              <a:t>chave</a:t>
            </a:r>
            <a:r>
              <a:rPr lang="en-US" dirty="0"/>
              <a:t> para a </a:t>
            </a:r>
            <a:r>
              <a:rPr lang="en-US" dirty="0" err="1"/>
              <a:t>tabela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questão</a:t>
            </a:r>
            <a:endParaRPr lang="pt-BR" dirty="0"/>
          </a:p>
        </p:txBody>
      </p:sp>
      <p:pic>
        <p:nvPicPr>
          <p:cNvPr id="32" name="Imagem 31">
            <a:extLst>
              <a:ext uri="{FF2B5EF4-FFF2-40B4-BE49-F238E27FC236}">
                <a16:creationId xmlns:a16="http://schemas.microsoft.com/office/drawing/2014/main" id="{B2B0B117-7EBB-8952-6EFE-5DB3655D4B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813" y="485591"/>
            <a:ext cx="2326797" cy="323166"/>
          </a:xfrm>
          <a:prstGeom prst="rect">
            <a:avLst/>
          </a:prstGeom>
        </p:spPr>
      </p:pic>
      <p:pic>
        <p:nvPicPr>
          <p:cNvPr id="34" name="Imagem 33">
            <a:extLst>
              <a:ext uri="{FF2B5EF4-FFF2-40B4-BE49-F238E27FC236}">
                <a16:creationId xmlns:a16="http://schemas.microsoft.com/office/drawing/2014/main" id="{4DA609A2-196C-8450-5FEB-881EF59C4F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0339" y="1004355"/>
            <a:ext cx="4454294" cy="504895"/>
          </a:xfrm>
          <a:prstGeom prst="rect">
            <a:avLst/>
          </a:prstGeom>
        </p:spPr>
      </p:pic>
      <p:cxnSp>
        <p:nvCxnSpPr>
          <p:cNvPr id="36" name="Conector: Angulado 35">
            <a:extLst>
              <a:ext uri="{FF2B5EF4-FFF2-40B4-BE49-F238E27FC236}">
                <a16:creationId xmlns:a16="http://schemas.microsoft.com/office/drawing/2014/main" id="{32F501D2-20E4-B124-FB9B-309440F6DF6E}"/>
              </a:ext>
            </a:extLst>
          </p:cNvPr>
          <p:cNvCxnSpPr>
            <a:cxnSpLocks/>
          </p:cNvCxnSpPr>
          <p:nvPr/>
        </p:nvCxnSpPr>
        <p:spPr>
          <a:xfrm flipV="1">
            <a:off x="3757132" y="1132103"/>
            <a:ext cx="562706" cy="334541"/>
          </a:xfrm>
          <a:prstGeom prst="bentConnector3">
            <a:avLst>
              <a:gd name="adj1" fmla="val -3125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B8226EE7-7817-7E0C-CE39-EA396CFA9162}"/>
              </a:ext>
            </a:extLst>
          </p:cNvPr>
          <p:cNvSpPr txBox="1"/>
          <p:nvPr/>
        </p:nvSpPr>
        <p:spPr>
          <a:xfrm>
            <a:off x="4421157" y="947437"/>
            <a:ext cx="975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Objeto</a:t>
            </a:r>
            <a:endParaRPr lang="pt-BR" dirty="0">
              <a:solidFill>
                <a:srgbClr val="FF0000"/>
              </a:solidFill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F68AD56-7FE8-E7AB-E87C-E2E6FCBD68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4675" y="3467637"/>
            <a:ext cx="10002646" cy="504895"/>
          </a:xfrm>
          <a:prstGeom prst="rect">
            <a:avLst/>
          </a:prstGeom>
        </p:spPr>
      </p:pic>
      <p:pic>
        <p:nvPicPr>
          <p:cNvPr id="13" name="Imagem 12" descr="Interface gráfica do usuário, Aplicativo&#10;&#10;O conteúdo gerado por IA pode estar incorreto.">
            <a:extLst>
              <a:ext uri="{FF2B5EF4-FFF2-40B4-BE49-F238E27FC236}">
                <a16:creationId xmlns:a16="http://schemas.microsoft.com/office/drawing/2014/main" id="{37F7352D-BF19-8EB0-D8B8-FCF8A2F6EA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5170" y="1508289"/>
            <a:ext cx="7621656" cy="1844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63201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9B3BF-158D-9558-5552-07F216DFD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6E514A06-ED8D-C178-7D3B-3F403C7B31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0F5B4B5A-9DFD-2624-CD95-8A3207811C60}"/>
              </a:ext>
            </a:extLst>
          </p:cNvPr>
          <p:cNvSpPr txBox="1"/>
          <p:nvPr/>
        </p:nvSpPr>
        <p:spPr>
          <a:xfrm>
            <a:off x="4376005" y="180011"/>
            <a:ext cx="3439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DROP</a:t>
            </a:r>
            <a:endParaRPr lang="pt-BR" sz="3600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DFFE4F3-512C-763E-15BC-83FF2B4D2934}"/>
              </a:ext>
            </a:extLst>
          </p:cNvPr>
          <p:cNvSpPr txBox="1"/>
          <p:nvPr/>
        </p:nvSpPr>
        <p:spPr>
          <a:xfrm>
            <a:off x="2664802" y="1095443"/>
            <a:ext cx="68623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/>
              <a:t>Comando</a:t>
            </a:r>
            <a:r>
              <a:rPr lang="en-US" sz="2800" dirty="0"/>
              <a:t> de </a:t>
            </a:r>
            <a:r>
              <a:rPr lang="en-US" sz="2800" u="sng" dirty="0" err="1"/>
              <a:t>exclusão</a:t>
            </a:r>
            <a:r>
              <a:rPr lang="en-US" sz="2800" u="sng" dirty="0"/>
              <a:t> de </a:t>
            </a:r>
            <a:r>
              <a:rPr lang="en-US" sz="2800" u="sng" dirty="0" err="1"/>
              <a:t>objetos</a:t>
            </a:r>
            <a:r>
              <a:rPr lang="en-US" sz="2800" dirty="0"/>
              <a:t> </a:t>
            </a:r>
            <a:r>
              <a:rPr lang="en-US" sz="2800" dirty="0" err="1"/>
              <a:t>presentes</a:t>
            </a:r>
            <a:r>
              <a:rPr lang="en-US" sz="2800" dirty="0"/>
              <a:t> no banco de dados</a:t>
            </a:r>
            <a:endParaRPr lang="pt-BR" sz="2800" dirty="0"/>
          </a:p>
        </p:txBody>
      </p:sp>
      <p:pic>
        <p:nvPicPr>
          <p:cNvPr id="8" name="Imagem 7" descr="Uma imagem contendo Texto&#10;&#10;O conteúdo gerado por IA pode estar incorreto.">
            <a:extLst>
              <a:ext uri="{FF2B5EF4-FFF2-40B4-BE49-F238E27FC236}">
                <a16:creationId xmlns:a16="http://schemas.microsoft.com/office/drawing/2014/main" id="{33D8B8E5-C4D8-B8D1-FA71-13DE15F789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8332" y="2683735"/>
            <a:ext cx="7235336" cy="322752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9" name="Tinta 8">
                <a:extLst>
                  <a:ext uri="{FF2B5EF4-FFF2-40B4-BE49-F238E27FC236}">
                    <a16:creationId xmlns:a16="http://schemas.microsoft.com/office/drawing/2014/main" id="{B3873087-9071-E691-EEA9-C7784EC62FC9}"/>
                  </a:ext>
                </a:extLst>
              </p14:cNvPr>
              <p14:cNvContentPartPr/>
              <p14:nvPr/>
            </p14:nvContentPartPr>
            <p14:xfrm>
              <a:off x="3938496" y="3207437"/>
              <a:ext cx="2022689" cy="720"/>
            </p14:xfrm>
          </p:contentPart>
        </mc:Choice>
        <mc:Fallback xmlns="">
          <p:pic>
            <p:nvPicPr>
              <p:cNvPr id="9" name="Tinta 8">
                <a:extLst>
                  <a:ext uri="{FF2B5EF4-FFF2-40B4-BE49-F238E27FC236}">
                    <a16:creationId xmlns:a16="http://schemas.microsoft.com/office/drawing/2014/main" id="{B3873087-9071-E691-EEA9-C7784EC62FC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932371" y="3195197"/>
                <a:ext cx="2034939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0" name="Tinta 9">
                <a:extLst>
                  <a:ext uri="{FF2B5EF4-FFF2-40B4-BE49-F238E27FC236}">
                    <a16:creationId xmlns:a16="http://schemas.microsoft.com/office/drawing/2014/main" id="{4EB4C1D9-98B5-EC53-17AE-0AA50BD8430A}"/>
                  </a:ext>
                </a:extLst>
              </p14:cNvPr>
              <p14:cNvContentPartPr/>
              <p14:nvPr/>
            </p14:nvContentPartPr>
            <p14:xfrm>
              <a:off x="3938496" y="4568674"/>
              <a:ext cx="987801" cy="720"/>
            </p14:xfrm>
          </p:contentPart>
        </mc:Choice>
        <mc:Fallback xmlns="">
          <p:pic>
            <p:nvPicPr>
              <p:cNvPr id="10" name="Tinta 9">
                <a:extLst>
                  <a:ext uri="{FF2B5EF4-FFF2-40B4-BE49-F238E27FC236}">
                    <a16:creationId xmlns:a16="http://schemas.microsoft.com/office/drawing/2014/main" id="{4EB4C1D9-98B5-EC53-17AE-0AA50BD8430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32372" y="4556434"/>
                <a:ext cx="1000049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1" name="Tinta 10">
                <a:extLst>
                  <a:ext uri="{FF2B5EF4-FFF2-40B4-BE49-F238E27FC236}">
                    <a16:creationId xmlns:a16="http://schemas.microsoft.com/office/drawing/2014/main" id="{90AAEAD4-9E77-0E0A-EE9A-82A145D262E6}"/>
                  </a:ext>
                </a:extLst>
              </p14:cNvPr>
              <p14:cNvContentPartPr/>
              <p14:nvPr/>
            </p14:nvContentPartPr>
            <p14:xfrm>
              <a:off x="3938496" y="5911262"/>
              <a:ext cx="1222589" cy="720"/>
            </p14:xfrm>
          </p:contentPart>
        </mc:Choice>
        <mc:Fallback xmlns="">
          <p:pic>
            <p:nvPicPr>
              <p:cNvPr id="11" name="Tinta 10">
                <a:extLst>
                  <a:ext uri="{FF2B5EF4-FFF2-40B4-BE49-F238E27FC236}">
                    <a16:creationId xmlns:a16="http://schemas.microsoft.com/office/drawing/2014/main" id="{90AAEAD4-9E77-0E0A-EE9A-82A145D262E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932372" y="5899022"/>
                <a:ext cx="1234837" cy="25200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CaixaDeTexto 11">
            <a:extLst>
              <a:ext uri="{FF2B5EF4-FFF2-40B4-BE49-F238E27FC236}">
                <a16:creationId xmlns:a16="http://schemas.microsoft.com/office/drawing/2014/main" id="{2105D30D-8C4F-1C50-2CDA-BEF548FAA3CF}"/>
              </a:ext>
            </a:extLst>
          </p:cNvPr>
          <p:cNvSpPr txBox="1"/>
          <p:nvPr/>
        </p:nvSpPr>
        <p:spPr>
          <a:xfrm>
            <a:off x="4543602" y="3233264"/>
            <a:ext cx="104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Objeto</a:t>
            </a:r>
            <a:endParaRPr lang="pt-BR" b="1" dirty="0">
              <a:solidFill>
                <a:srgbClr val="FF0000"/>
              </a:solidFill>
            </a:endParaRP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05EA3C9E-AA79-1E38-0C96-C0B62A3C52F5}"/>
              </a:ext>
            </a:extLst>
          </p:cNvPr>
          <p:cNvSpPr txBox="1"/>
          <p:nvPr/>
        </p:nvSpPr>
        <p:spPr>
          <a:xfrm>
            <a:off x="4019982" y="4577230"/>
            <a:ext cx="104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Objeto</a:t>
            </a:r>
            <a:endParaRPr lang="pt-BR" b="1" dirty="0">
              <a:solidFill>
                <a:srgbClr val="FF0000"/>
              </a:solidFill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E9F76F17-36A5-0405-4109-8CD724193E0B}"/>
              </a:ext>
            </a:extLst>
          </p:cNvPr>
          <p:cNvSpPr txBox="1"/>
          <p:nvPr/>
        </p:nvSpPr>
        <p:spPr>
          <a:xfrm>
            <a:off x="4113845" y="5930722"/>
            <a:ext cx="104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Objeto</a:t>
            </a:r>
            <a:endParaRPr lang="pt-B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4524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DC84EF-45F2-197C-F9CA-A9A972BE5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A62D66FE-2007-3583-97CA-BA292DFA8A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DEA88441-A83A-04F9-05B4-399F838BC59D}"/>
              </a:ext>
            </a:extLst>
          </p:cNvPr>
          <p:cNvSpPr txBox="1"/>
          <p:nvPr/>
        </p:nvSpPr>
        <p:spPr>
          <a:xfrm>
            <a:off x="4376005" y="180011"/>
            <a:ext cx="3439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ALTER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049C705-6AD3-B8CF-DB18-1C23C4F7662D}"/>
              </a:ext>
            </a:extLst>
          </p:cNvPr>
          <p:cNvSpPr txBox="1"/>
          <p:nvPr/>
        </p:nvSpPr>
        <p:spPr>
          <a:xfrm>
            <a:off x="2480528" y="1314057"/>
            <a:ext cx="723094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/>
              <a:t>Comando</a:t>
            </a:r>
            <a:r>
              <a:rPr lang="en-US" sz="2800" dirty="0"/>
              <a:t> de </a:t>
            </a:r>
            <a:r>
              <a:rPr lang="en-US" sz="2800" u="sng" dirty="0" err="1"/>
              <a:t>modificação</a:t>
            </a:r>
            <a:r>
              <a:rPr lang="en-US" sz="2800" u="sng" dirty="0"/>
              <a:t> de </a:t>
            </a:r>
            <a:r>
              <a:rPr lang="en-US" sz="2800" u="sng" dirty="0" err="1"/>
              <a:t>objetos</a:t>
            </a:r>
            <a:r>
              <a:rPr lang="en-US" sz="2800" dirty="0"/>
              <a:t> </a:t>
            </a:r>
            <a:r>
              <a:rPr lang="en-US" sz="2800" dirty="0" err="1"/>
              <a:t>presentes</a:t>
            </a:r>
            <a:r>
              <a:rPr lang="en-US" sz="2800" dirty="0"/>
              <a:t> no banco de dados</a:t>
            </a:r>
            <a:endParaRPr lang="pt-BR" sz="2800" dirty="0"/>
          </a:p>
        </p:txBody>
      </p:sp>
      <p:cxnSp>
        <p:nvCxnSpPr>
          <p:cNvPr id="12" name="Conector: Angulado 11">
            <a:extLst>
              <a:ext uri="{FF2B5EF4-FFF2-40B4-BE49-F238E27FC236}">
                <a16:creationId xmlns:a16="http://schemas.microsoft.com/office/drawing/2014/main" id="{5FF1616F-518C-9F10-7EA7-97525327340F}"/>
              </a:ext>
            </a:extLst>
          </p:cNvPr>
          <p:cNvCxnSpPr>
            <a:cxnSpLocks/>
          </p:cNvCxnSpPr>
          <p:nvPr/>
        </p:nvCxnSpPr>
        <p:spPr>
          <a:xfrm>
            <a:off x="4891453" y="3013552"/>
            <a:ext cx="621324" cy="415448"/>
          </a:xfrm>
          <a:prstGeom prst="bentConnector3">
            <a:avLst>
              <a:gd name="adj1" fmla="val 188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: Angulado 17">
            <a:extLst>
              <a:ext uri="{FF2B5EF4-FFF2-40B4-BE49-F238E27FC236}">
                <a16:creationId xmlns:a16="http://schemas.microsoft.com/office/drawing/2014/main" id="{E41468CF-7131-AFDF-467C-9FE58305B571}"/>
              </a:ext>
            </a:extLst>
          </p:cNvPr>
          <p:cNvCxnSpPr>
            <a:cxnSpLocks/>
          </p:cNvCxnSpPr>
          <p:nvPr/>
        </p:nvCxnSpPr>
        <p:spPr>
          <a:xfrm>
            <a:off x="5202115" y="5372398"/>
            <a:ext cx="621324" cy="545178"/>
          </a:xfrm>
          <a:prstGeom prst="bentConnector3">
            <a:avLst>
              <a:gd name="adj1" fmla="val -94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B55DF513-59C6-8B7B-4423-D90596961D33}"/>
              </a:ext>
            </a:extLst>
          </p:cNvPr>
          <p:cNvSpPr txBox="1"/>
          <p:nvPr/>
        </p:nvSpPr>
        <p:spPr>
          <a:xfrm>
            <a:off x="6005145" y="5688623"/>
            <a:ext cx="51610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Altera algo </a:t>
            </a:r>
            <a:r>
              <a:rPr lang="en-US" sz="2000" u="sng" dirty="0" err="1"/>
              <a:t>existente</a:t>
            </a:r>
            <a:r>
              <a:rPr lang="en-US" sz="2000" u="sng" dirty="0"/>
              <a:t>:</a:t>
            </a:r>
            <a:endParaRPr lang="en-US" sz="2000" dirty="0"/>
          </a:p>
          <a:p>
            <a:r>
              <a:rPr lang="en-US" sz="2000" dirty="0"/>
              <a:t>- Tipo de dado, </a:t>
            </a:r>
            <a:r>
              <a:rPr lang="en-US" sz="2000" dirty="0" err="1"/>
              <a:t>capacidade</a:t>
            </a:r>
            <a:r>
              <a:rPr lang="en-US" sz="2000" dirty="0"/>
              <a:t> do dado </a:t>
            </a:r>
            <a:r>
              <a:rPr lang="en-US" sz="2000" dirty="0" err="1"/>
              <a:t>ou</a:t>
            </a:r>
            <a:r>
              <a:rPr lang="en-US" sz="2000" dirty="0"/>
              <a:t> </a:t>
            </a:r>
            <a:r>
              <a:rPr lang="en-US" sz="2000" dirty="0" err="1"/>
              <a:t>restrição</a:t>
            </a:r>
            <a:endParaRPr lang="pt-BR" sz="2000" dirty="0"/>
          </a:p>
        </p:txBody>
      </p:sp>
      <p:cxnSp>
        <p:nvCxnSpPr>
          <p:cNvPr id="27" name="Conector de Seta Reta 26">
            <a:extLst>
              <a:ext uri="{FF2B5EF4-FFF2-40B4-BE49-F238E27FC236}">
                <a16:creationId xmlns:a16="http://schemas.microsoft.com/office/drawing/2014/main" id="{76F694DD-B310-11D4-B5A4-05675A7575AC}"/>
              </a:ext>
            </a:extLst>
          </p:cNvPr>
          <p:cNvCxnSpPr>
            <a:cxnSpLocks/>
          </p:cNvCxnSpPr>
          <p:nvPr/>
        </p:nvCxnSpPr>
        <p:spPr>
          <a:xfrm flipV="1">
            <a:off x="10515600" y="5372398"/>
            <a:ext cx="0" cy="5451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Imagem 6" descr="Interface gráfica do usuário, Texto">
            <a:extLst>
              <a:ext uri="{FF2B5EF4-FFF2-40B4-BE49-F238E27FC236}">
                <a16:creationId xmlns:a16="http://schemas.microsoft.com/office/drawing/2014/main" id="{9781C70E-9183-485C-4318-388C463E93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7" y="2765177"/>
            <a:ext cx="11231542" cy="2610214"/>
          </a:xfrm>
          <a:prstGeom prst="rect">
            <a:avLst/>
          </a:prstGeom>
        </p:spPr>
      </p:pic>
      <p:cxnSp>
        <p:nvCxnSpPr>
          <p:cNvPr id="32" name="Conector de Seta Reta 31">
            <a:extLst>
              <a:ext uri="{FF2B5EF4-FFF2-40B4-BE49-F238E27FC236}">
                <a16:creationId xmlns:a16="http://schemas.microsoft.com/office/drawing/2014/main" id="{5BCD87CE-5474-9B9D-D40F-EF05B8462D83}"/>
              </a:ext>
            </a:extLst>
          </p:cNvPr>
          <p:cNvCxnSpPr>
            <a:cxnSpLocks/>
          </p:cNvCxnSpPr>
          <p:nvPr/>
        </p:nvCxnSpPr>
        <p:spPr>
          <a:xfrm flipV="1">
            <a:off x="8425961" y="5521569"/>
            <a:ext cx="278424" cy="50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BFD138CF-611A-58B8-8C2F-AA553D811A6D}"/>
              </a:ext>
            </a:extLst>
          </p:cNvPr>
          <p:cNvSpPr txBox="1"/>
          <p:nvPr/>
        </p:nvSpPr>
        <p:spPr>
          <a:xfrm>
            <a:off x="6254260" y="4466177"/>
            <a:ext cx="22654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Exclui</a:t>
            </a:r>
            <a:r>
              <a:rPr lang="en-US" sz="2000" dirty="0"/>
              <a:t> algo </a:t>
            </a:r>
            <a:r>
              <a:rPr lang="en-US" sz="2000" u="sng" dirty="0" err="1"/>
              <a:t>existente</a:t>
            </a:r>
            <a:r>
              <a:rPr lang="en-US" sz="2000" u="sng" dirty="0"/>
              <a:t> </a:t>
            </a:r>
            <a:endParaRPr lang="pt-BR" sz="2000" u="sng" dirty="0"/>
          </a:p>
        </p:txBody>
      </p:sp>
      <p:cxnSp>
        <p:nvCxnSpPr>
          <p:cNvPr id="11" name="Conector: Angulado 10">
            <a:extLst>
              <a:ext uri="{FF2B5EF4-FFF2-40B4-BE49-F238E27FC236}">
                <a16:creationId xmlns:a16="http://schemas.microsoft.com/office/drawing/2014/main" id="{6D347459-8056-9854-D8E1-0BCD0A0ED609}"/>
              </a:ext>
            </a:extLst>
          </p:cNvPr>
          <p:cNvCxnSpPr>
            <a:cxnSpLocks/>
          </p:cNvCxnSpPr>
          <p:nvPr/>
        </p:nvCxnSpPr>
        <p:spPr>
          <a:xfrm>
            <a:off x="5580182" y="4277291"/>
            <a:ext cx="618394" cy="373552"/>
          </a:xfrm>
          <a:prstGeom prst="bentConnector3">
            <a:avLst>
              <a:gd name="adj1" fmla="val -11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B87F8CF8-C065-2D09-6C06-673DF4F0EF8F}"/>
              </a:ext>
            </a:extLst>
          </p:cNvPr>
          <p:cNvSpPr txBox="1"/>
          <p:nvPr/>
        </p:nvSpPr>
        <p:spPr>
          <a:xfrm>
            <a:off x="5580182" y="3377220"/>
            <a:ext cx="32121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Adiciona</a:t>
            </a:r>
            <a:r>
              <a:rPr lang="en-US" sz="2000" dirty="0"/>
              <a:t> algo </a:t>
            </a:r>
            <a:r>
              <a:rPr lang="en-US" sz="2000" u="sng" dirty="0"/>
              <a:t>novo</a:t>
            </a:r>
            <a:r>
              <a:rPr lang="en-US" sz="2000" dirty="0"/>
              <a:t> </a:t>
            </a:r>
            <a:r>
              <a:rPr lang="en-US" sz="2000" dirty="0" err="1"/>
              <a:t>ao</a:t>
            </a:r>
            <a:r>
              <a:rPr lang="en-US" sz="2000" dirty="0"/>
              <a:t> </a:t>
            </a:r>
            <a:r>
              <a:rPr lang="en-US" sz="2000" dirty="0" err="1"/>
              <a:t>objeto</a:t>
            </a:r>
            <a:endParaRPr lang="pt-BR" sz="2000" dirty="0"/>
          </a:p>
        </p:txBody>
      </p:sp>
      <p:cxnSp>
        <p:nvCxnSpPr>
          <p:cNvPr id="14" name="Conector: Angulado 13">
            <a:extLst>
              <a:ext uri="{FF2B5EF4-FFF2-40B4-BE49-F238E27FC236}">
                <a16:creationId xmlns:a16="http://schemas.microsoft.com/office/drawing/2014/main" id="{C1AB674C-5620-6773-D1B6-D27A11331C80}"/>
              </a:ext>
            </a:extLst>
          </p:cNvPr>
          <p:cNvCxnSpPr>
            <a:cxnSpLocks/>
          </p:cNvCxnSpPr>
          <p:nvPr/>
        </p:nvCxnSpPr>
        <p:spPr>
          <a:xfrm>
            <a:off x="4874385" y="3195945"/>
            <a:ext cx="618394" cy="373552"/>
          </a:xfrm>
          <a:prstGeom prst="bentConnector3">
            <a:avLst>
              <a:gd name="adj1" fmla="val -11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19FAC408-958F-7D44-EEB8-E9B3764DA9A3}"/>
              </a:ext>
            </a:extLst>
          </p:cNvPr>
          <p:cNvSpPr txBox="1"/>
          <p:nvPr/>
        </p:nvSpPr>
        <p:spPr>
          <a:xfrm>
            <a:off x="1956908" y="3221276"/>
            <a:ext cx="104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Objeto</a:t>
            </a:r>
            <a:endParaRPr lang="pt-BR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9" name="Tinta 18">
                <a:extLst>
                  <a:ext uri="{FF2B5EF4-FFF2-40B4-BE49-F238E27FC236}">
                    <a16:creationId xmlns:a16="http://schemas.microsoft.com/office/drawing/2014/main" id="{6ED95F99-D9DC-54DA-449A-86D5A8029816}"/>
                  </a:ext>
                </a:extLst>
              </p14:cNvPr>
              <p14:cNvContentPartPr/>
              <p14:nvPr/>
            </p14:nvContentPartPr>
            <p14:xfrm>
              <a:off x="1927242" y="3195945"/>
              <a:ext cx="933120" cy="720"/>
            </p14:xfrm>
          </p:contentPart>
        </mc:Choice>
        <mc:Fallback xmlns="">
          <p:pic>
            <p:nvPicPr>
              <p:cNvPr id="19" name="Tinta 18">
                <a:extLst>
                  <a:ext uri="{FF2B5EF4-FFF2-40B4-BE49-F238E27FC236}">
                    <a16:creationId xmlns:a16="http://schemas.microsoft.com/office/drawing/2014/main" id="{6ED95F99-D9DC-54DA-449A-86D5A802981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21120" y="3183705"/>
                <a:ext cx="945365" cy="25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320375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CF606-1B1E-A203-8C49-0C1066491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A2A2527-E9D1-5BDD-7AFC-38B40FFE5D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CBBB5DA4-3184-8096-E5AA-496F1D20C208}"/>
              </a:ext>
            </a:extLst>
          </p:cNvPr>
          <p:cNvSpPr txBox="1"/>
          <p:nvPr/>
        </p:nvSpPr>
        <p:spPr>
          <a:xfrm>
            <a:off x="4393406" y="180011"/>
            <a:ext cx="34051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SHOW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C1BF248D-172B-CF57-F6C6-4974B559F334}"/>
              </a:ext>
            </a:extLst>
          </p:cNvPr>
          <p:cNvSpPr txBox="1"/>
          <p:nvPr/>
        </p:nvSpPr>
        <p:spPr>
          <a:xfrm>
            <a:off x="1819090" y="1224998"/>
            <a:ext cx="855381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/>
              <a:t>Comando</a:t>
            </a:r>
            <a:r>
              <a:rPr lang="en-US" sz="2800" dirty="0"/>
              <a:t> para </a:t>
            </a:r>
            <a:r>
              <a:rPr lang="en-US" sz="2800" u="sng" dirty="0" err="1"/>
              <a:t>mostrar</a:t>
            </a:r>
            <a:r>
              <a:rPr lang="en-US" sz="2800" u="sng" dirty="0"/>
              <a:t> </a:t>
            </a:r>
            <a:r>
              <a:rPr lang="en-US" sz="2800" u="sng" dirty="0" err="1"/>
              <a:t>informações</a:t>
            </a:r>
            <a:r>
              <a:rPr lang="en-US" sz="2800" u="sng" dirty="0"/>
              <a:t> de </a:t>
            </a:r>
            <a:r>
              <a:rPr lang="en-US" sz="2800" u="sng" dirty="0" err="1"/>
              <a:t>Objetos</a:t>
            </a:r>
            <a:r>
              <a:rPr lang="en-US" sz="2800" dirty="0"/>
              <a:t> </a:t>
            </a:r>
            <a:r>
              <a:rPr lang="en-US" sz="2800" dirty="0" err="1"/>
              <a:t>presentes</a:t>
            </a:r>
            <a:r>
              <a:rPr lang="en-US" sz="2800" dirty="0"/>
              <a:t> no banco de dados</a:t>
            </a:r>
            <a:endParaRPr lang="pt-BR" sz="2800" dirty="0"/>
          </a:p>
        </p:txBody>
      </p:sp>
      <p:pic>
        <p:nvPicPr>
          <p:cNvPr id="7" name="Imagem 6" descr="Texto&#10;&#10;O conteúdo gerado por IA pode estar incorreto.">
            <a:extLst>
              <a:ext uri="{FF2B5EF4-FFF2-40B4-BE49-F238E27FC236}">
                <a16:creationId xmlns:a16="http://schemas.microsoft.com/office/drawing/2014/main" id="{88DAEC04-97B3-0732-843B-70311BD814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9883" y="2350179"/>
            <a:ext cx="7982568" cy="387763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8" name="Tinta 7">
                <a:extLst>
                  <a:ext uri="{FF2B5EF4-FFF2-40B4-BE49-F238E27FC236}">
                    <a16:creationId xmlns:a16="http://schemas.microsoft.com/office/drawing/2014/main" id="{6015D40D-267B-0BCE-2424-FF09DDF35590}"/>
                  </a:ext>
                </a:extLst>
              </p14:cNvPr>
              <p14:cNvContentPartPr/>
              <p14:nvPr/>
            </p14:nvContentPartPr>
            <p14:xfrm>
              <a:off x="3800777" y="3083117"/>
              <a:ext cx="2512099" cy="360"/>
            </p14:xfrm>
          </p:contentPart>
        </mc:Choice>
        <mc:Fallback xmlns="">
          <p:pic>
            <p:nvPicPr>
              <p:cNvPr id="8" name="Tinta 7">
                <a:extLst>
                  <a:ext uri="{FF2B5EF4-FFF2-40B4-BE49-F238E27FC236}">
                    <a16:creationId xmlns:a16="http://schemas.microsoft.com/office/drawing/2014/main" id="{6015D40D-267B-0BCE-2424-FF09DDF3559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794657" y="3076997"/>
                <a:ext cx="2524339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9" name="CaixaDeTexto 8">
            <a:extLst>
              <a:ext uri="{FF2B5EF4-FFF2-40B4-BE49-F238E27FC236}">
                <a16:creationId xmlns:a16="http://schemas.microsoft.com/office/drawing/2014/main" id="{FAE16AF4-AFD7-B965-95F3-BA4874845268}"/>
              </a:ext>
            </a:extLst>
          </p:cNvPr>
          <p:cNvSpPr txBox="1"/>
          <p:nvPr/>
        </p:nvSpPr>
        <p:spPr>
          <a:xfrm>
            <a:off x="4619795" y="3136329"/>
            <a:ext cx="104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Objetos</a:t>
            </a:r>
            <a:endParaRPr lang="pt-BR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1" name="Tinta 10">
                <a:extLst>
                  <a:ext uri="{FF2B5EF4-FFF2-40B4-BE49-F238E27FC236}">
                    <a16:creationId xmlns:a16="http://schemas.microsoft.com/office/drawing/2014/main" id="{45EE91A5-8C16-3295-E429-90705A46EE07}"/>
                  </a:ext>
                </a:extLst>
              </p14:cNvPr>
              <p14:cNvContentPartPr/>
              <p14:nvPr/>
            </p14:nvContentPartPr>
            <p14:xfrm>
              <a:off x="3788360" y="4580740"/>
              <a:ext cx="1662871" cy="360"/>
            </p14:xfrm>
          </p:contentPart>
        </mc:Choice>
        <mc:Fallback xmlns="">
          <p:pic>
            <p:nvPicPr>
              <p:cNvPr id="11" name="Tinta 10">
                <a:extLst>
                  <a:ext uri="{FF2B5EF4-FFF2-40B4-BE49-F238E27FC236}">
                    <a16:creationId xmlns:a16="http://schemas.microsoft.com/office/drawing/2014/main" id="{45EE91A5-8C16-3295-E429-90705A46EE0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782240" y="4574620"/>
                <a:ext cx="1675111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3" name="CaixaDeTexto 12">
            <a:extLst>
              <a:ext uri="{FF2B5EF4-FFF2-40B4-BE49-F238E27FC236}">
                <a16:creationId xmlns:a16="http://schemas.microsoft.com/office/drawing/2014/main" id="{4F4BFC16-FBA5-D8E8-6B4F-7F9619304791}"/>
              </a:ext>
            </a:extLst>
          </p:cNvPr>
          <p:cNvSpPr txBox="1"/>
          <p:nvPr/>
        </p:nvSpPr>
        <p:spPr>
          <a:xfrm>
            <a:off x="4166514" y="4580740"/>
            <a:ext cx="104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Objetos</a:t>
            </a:r>
            <a:endParaRPr lang="pt-BR" b="1" dirty="0">
              <a:solidFill>
                <a:srgbClr val="FF0000"/>
              </a:solidFill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B2306742-6BF8-B3BE-71C7-78321374E88F}"/>
              </a:ext>
            </a:extLst>
          </p:cNvPr>
          <p:cNvSpPr txBox="1"/>
          <p:nvPr/>
        </p:nvSpPr>
        <p:spPr>
          <a:xfrm>
            <a:off x="4096175" y="6078003"/>
            <a:ext cx="104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Objetos</a:t>
            </a:r>
            <a:endParaRPr lang="pt-BR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Tinta 18">
                <a:extLst>
                  <a:ext uri="{FF2B5EF4-FFF2-40B4-BE49-F238E27FC236}">
                    <a16:creationId xmlns:a16="http://schemas.microsoft.com/office/drawing/2014/main" id="{D1020CC8-E351-B247-4E68-6D8DA60E7096}"/>
                  </a:ext>
                </a:extLst>
              </p14:cNvPr>
              <p14:cNvContentPartPr/>
              <p14:nvPr/>
            </p14:nvContentPartPr>
            <p14:xfrm>
              <a:off x="3747938" y="6042603"/>
              <a:ext cx="1662871" cy="360"/>
            </p14:xfrm>
          </p:contentPart>
        </mc:Choice>
        <mc:Fallback xmlns="">
          <p:pic>
            <p:nvPicPr>
              <p:cNvPr id="19" name="Tinta 18">
                <a:extLst>
                  <a:ext uri="{FF2B5EF4-FFF2-40B4-BE49-F238E27FC236}">
                    <a16:creationId xmlns:a16="http://schemas.microsoft.com/office/drawing/2014/main" id="{D1020CC8-E351-B247-4E68-6D8DA60E7096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741818" y="6036483"/>
                <a:ext cx="1675111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234681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B775C-6C2D-D4B0-5090-7F15F43E5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19FD3EB0-5E60-B973-2E1C-EF701B876D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12B20EAE-0780-070F-8F2D-B64B2AC93C1E}"/>
              </a:ext>
            </a:extLst>
          </p:cNvPr>
          <p:cNvSpPr txBox="1"/>
          <p:nvPr/>
        </p:nvSpPr>
        <p:spPr>
          <a:xfrm>
            <a:off x="4050414" y="144842"/>
            <a:ext cx="40911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TRUNCATE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428CCFA-1C55-4E2E-D296-7D1DB8197392}"/>
              </a:ext>
            </a:extLst>
          </p:cNvPr>
          <p:cNvSpPr txBox="1"/>
          <p:nvPr/>
        </p:nvSpPr>
        <p:spPr>
          <a:xfrm>
            <a:off x="1400448" y="1304128"/>
            <a:ext cx="939110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/>
              <a:t>Comando</a:t>
            </a:r>
            <a:r>
              <a:rPr lang="en-US" sz="2800" dirty="0"/>
              <a:t> para </a:t>
            </a:r>
            <a:r>
              <a:rPr lang="en-US" sz="2800" u="sng" dirty="0"/>
              <a:t>remover dados de </a:t>
            </a:r>
            <a:r>
              <a:rPr lang="en-US" sz="2800" u="sng" dirty="0" err="1"/>
              <a:t>uma</a:t>
            </a:r>
            <a:r>
              <a:rPr lang="en-US" sz="2800" u="sng" dirty="0"/>
              <a:t> </a:t>
            </a:r>
            <a:r>
              <a:rPr lang="en-US" sz="2800" u="sng" dirty="0" err="1"/>
              <a:t>tabela</a:t>
            </a:r>
            <a:r>
              <a:rPr lang="en-US" sz="2800" dirty="0"/>
              <a:t> </a:t>
            </a:r>
            <a:r>
              <a:rPr lang="en-US" sz="2800" dirty="0" err="1"/>
              <a:t>sem</a:t>
            </a:r>
            <a:r>
              <a:rPr lang="en-US" sz="2800" dirty="0"/>
              <a:t> a </a:t>
            </a:r>
            <a:r>
              <a:rPr lang="en-US" sz="2800" dirty="0" err="1"/>
              <a:t>necessidade</a:t>
            </a:r>
            <a:r>
              <a:rPr lang="en-US" sz="2800" dirty="0"/>
              <a:t> de </a:t>
            </a:r>
            <a:r>
              <a:rPr lang="en-US" sz="2800" dirty="0" err="1"/>
              <a:t>deletar</a:t>
            </a:r>
            <a:r>
              <a:rPr lang="en-US" sz="2800" dirty="0"/>
              <a:t> </a:t>
            </a:r>
            <a:r>
              <a:rPr lang="en-US" sz="2800" dirty="0" err="1"/>
              <a:t>sua</a:t>
            </a:r>
            <a:r>
              <a:rPr lang="en-US" sz="2800" dirty="0"/>
              <a:t> </a:t>
            </a:r>
            <a:r>
              <a:rPr lang="en-US" sz="2800" dirty="0" err="1"/>
              <a:t>estrutura</a:t>
            </a:r>
            <a:endParaRPr lang="pt-BR" sz="28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177BBD1-0B5F-675F-8462-0C9B6A077117}"/>
              </a:ext>
            </a:extLst>
          </p:cNvPr>
          <p:cNvSpPr txBox="1"/>
          <p:nvPr/>
        </p:nvSpPr>
        <p:spPr>
          <a:xfrm>
            <a:off x="1862501" y="4783015"/>
            <a:ext cx="84669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err="1"/>
              <a:t>Muito</a:t>
            </a:r>
            <a:r>
              <a:rPr lang="en-US" dirty="0"/>
              <a:t> </a:t>
            </a:r>
            <a:r>
              <a:rPr lang="en-US" dirty="0" err="1"/>
              <a:t>mais</a:t>
            </a:r>
            <a:r>
              <a:rPr lang="en-US" dirty="0"/>
              <a:t> </a:t>
            </a:r>
            <a:r>
              <a:rPr lang="en-US" dirty="0" err="1"/>
              <a:t>rápido</a:t>
            </a:r>
            <a:r>
              <a:rPr lang="en-US" dirty="0"/>
              <a:t> que o DELETE;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Ideal para </a:t>
            </a:r>
            <a:r>
              <a:rPr lang="en-US" dirty="0" err="1"/>
              <a:t>casos</a:t>
            </a:r>
            <a:r>
              <a:rPr lang="en-US" dirty="0"/>
              <a:t> de </a:t>
            </a:r>
            <a:r>
              <a:rPr lang="en-US" dirty="0" err="1"/>
              <a:t>exclusão</a:t>
            </a:r>
            <a:r>
              <a:rPr lang="en-US" dirty="0"/>
              <a:t> </a:t>
            </a:r>
            <a:r>
              <a:rPr lang="en-US" dirty="0" err="1"/>
              <a:t>geral</a:t>
            </a:r>
            <a:r>
              <a:rPr lang="en-US" dirty="0"/>
              <a:t> de dados de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tabela</a:t>
            </a:r>
            <a:r>
              <a:rPr lang="en-US" dirty="0"/>
              <a:t>, a </a:t>
            </a:r>
            <a:r>
              <a:rPr lang="en-US" dirty="0" err="1"/>
              <a:t>fim</a:t>
            </a:r>
            <a:r>
              <a:rPr lang="en-US" dirty="0"/>
              <a:t> de </a:t>
            </a:r>
            <a:r>
              <a:rPr lang="en-US" dirty="0" err="1"/>
              <a:t>iniciar</a:t>
            </a:r>
            <a:r>
              <a:rPr lang="en-US" dirty="0"/>
              <a:t> </a:t>
            </a:r>
            <a:r>
              <a:rPr lang="en-US" dirty="0" err="1"/>
              <a:t>novos</a:t>
            </a:r>
            <a:r>
              <a:rPr lang="en-US" dirty="0"/>
              <a:t> </a:t>
            </a:r>
            <a:r>
              <a:rPr lang="en-US" dirty="0" err="1"/>
              <a:t>registros</a:t>
            </a:r>
            <a:r>
              <a:rPr lang="en-US" dirty="0"/>
              <a:t> com </a:t>
            </a:r>
            <a:r>
              <a:rPr lang="en-US" dirty="0" err="1"/>
              <a:t>novos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de ID.</a:t>
            </a:r>
            <a:endParaRPr lang="pt-BR" dirty="0"/>
          </a:p>
        </p:txBody>
      </p:sp>
      <p:pic>
        <p:nvPicPr>
          <p:cNvPr id="10" name="Imagem 9" descr="Uma imagem contendo Texto&#10;&#10;O conteúdo gerado por IA pode estar incorreto.">
            <a:extLst>
              <a:ext uri="{FF2B5EF4-FFF2-40B4-BE49-F238E27FC236}">
                <a16:creationId xmlns:a16="http://schemas.microsoft.com/office/drawing/2014/main" id="{E596F3B7-5044-4716-A9A5-AE23D75D18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033" y="2347683"/>
            <a:ext cx="9149933" cy="1767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4437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A5451-5C4D-E372-DA70-EB8D42D50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D7BD3E59-6EFC-0EAE-0EB0-EABB1612FC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E7FF1BFC-39E4-AB0C-1BD2-14C68AF7686A}"/>
              </a:ext>
            </a:extLst>
          </p:cNvPr>
          <p:cNvSpPr txBox="1"/>
          <p:nvPr/>
        </p:nvSpPr>
        <p:spPr>
          <a:xfrm>
            <a:off x="4120707" y="206388"/>
            <a:ext cx="39505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Modificadores</a:t>
            </a:r>
            <a:r>
              <a:rPr lang="en-US" sz="3600" dirty="0"/>
              <a:t> </a:t>
            </a:r>
            <a:r>
              <a:rPr lang="en-US" sz="3600" dirty="0" err="1"/>
              <a:t>Úteis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48FA459-9B23-A300-E822-982807ECB614}"/>
              </a:ext>
            </a:extLst>
          </p:cNvPr>
          <p:cNvSpPr txBox="1"/>
          <p:nvPr/>
        </p:nvSpPr>
        <p:spPr>
          <a:xfrm>
            <a:off x="844061" y="1178169"/>
            <a:ext cx="52519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/>
              <a:t> IF EXISTS </a:t>
            </a:r>
            <a:r>
              <a:rPr lang="en-US" dirty="0"/>
              <a:t>– </a:t>
            </a:r>
            <a:r>
              <a:rPr lang="en-US" sz="2400" dirty="0" err="1"/>
              <a:t>completamente</a:t>
            </a:r>
            <a:r>
              <a:rPr lang="en-US" sz="2400" dirty="0"/>
              <a:t> </a:t>
            </a:r>
            <a:r>
              <a:rPr lang="en-US" sz="2400" dirty="0" err="1"/>
              <a:t>opcional</a:t>
            </a:r>
            <a:r>
              <a:rPr lang="en-US" sz="2400" dirty="0"/>
              <a:t>.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F83E1BA8-5DC3-8AD9-CC10-A180CC1AD797}"/>
              </a:ext>
            </a:extLst>
          </p:cNvPr>
          <p:cNvSpPr txBox="1"/>
          <p:nvPr/>
        </p:nvSpPr>
        <p:spPr>
          <a:xfrm>
            <a:off x="6268915" y="1178169"/>
            <a:ext cx="525193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IF NOT EXISTS </a:t>
            </a:r>
            <a:r>
              <a:rPr lang="en-US" sz="2400" dirty="0"/>
              <a:t>–  fundamental para </a:t>
            </a:r>
            <a:r>
              <a:rPr lang="en-US" sz="2400" dirty="0" err="1"/>
              <a:t>evitar</a:t>
            </a:r>
            <a:r>
              <a:rPr lang="en-US" sz="2400" dirty="0"/>
              <a:t> </a:t>
            </a:r>
            <a:r>
              <a:rPr lang="en-US" sz="2400" dirty="0" err="1"/>
              <a:t>erros</a:t>
            </a:r>
            <a:r>
              <a:rPr lang="en-US" sz="2400" dirty="0"/>
              <a:t> </a:t>
            </a:r>
            <a:r>
              <a:rPr lang="en-US" sz="2400" dirty="0" err="1"/>
              <a:t>relativos</a:t>
            </a:r>
            <a:r>
              <a:rPr lang="en-US" sz="2400" dirty="0"/>
              <a:t> à </a:t>
            </a:r>
            <a:r>
              <a:rPr lang="en-US" sz="2400" dirty="0" err="1"/>
              <a:t>duplicidade</a:t>
            </a:r>
            <a:r>
              <a:rPr lang="en-US" sz="2400" dirty="0"/>
              <a:t> de </a:t>
            </a:r>
            <a:r>
              <a:rPr lang="en-US" sz="2400" dirty="0" err="1"/>
              <a:t>cláusulas</a:t>
            </a:r>
            <a:r>
              <a:rPr lang="en-US" sz="2400" dirty="0"/>
              <a:t>.</a:t>
            </a:r>
          </a:p>
          <a:p>
            <a:endParaRPr lang="pt-BR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F5247CAD-69B0-C293-22CD-6FF91553461B}"/>
              </a:ext>
            </a:extLst>
          </p:cNvPr>
          <p:cNvSpPr txBox="1"/>
          <p:nvPr/>
        </p:nvSpPr>
        <p:spPr>
          <a:xfrm>
            <a:off x="844061" y="3284398"/>
            <a:ext cx="432488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800" dirty="0" err="1"/>
              <a:t>Comando</a:t>
            </a:r>
            <a:r>
              <a:rPr lang="en-US" sz="2800" dirty="0"/>
              <a:t> USE</a:t>
            </a:r>
          </a:p>
          <a:p>
            <a:endParaRPr lang="en-US" sz="2400" dirty="0"/>
          </a:p>
          <a:p>
            <a:r>
              <a:rPr lang="en-US" sz="2000" dirty="0" err="1"/>
              <a:t>Instrui</a:t>
            </a:r>
            <a:r>
              <a:rPr lang="en-US" sz="2000" dirty="0"/>
              <a:t> o SGBD a </a:t>
            </a:r>
            <a:r>
              <a:rPr lang="en-US" sz="2000" dirty="0" err="1"/>
              <a:t>utilizar</a:t>
            </a:r>
            <a:r>
              <a:rPr lang="en-US" sz="2000" dirty="0"/>
              <a:t> o banco de dados </a:t>
            </a:r>
            <a:r>
              <a:rPr lang="en-US" sz="2000" dirty="0" err="1"/>
              <a:t>especificado</a:t>
            </a:r>
            <a:r>
              <a:rPr lang="en-US" sz="2000" dirty="0"/>
              <a:t> para </a:t>
            </a:r>
            <a:r>
              <a:rPr lang="en-US" sz="2000" dirty="0" err="1"/>
              <a:t>executar</a:t>
            </a:r>
            <a:r>
              <a:rPr lang="en-US" sz="2000" dirty="0"/>
              <a:t> </a:t>
            </a:r>
            <a:r>
              <a:rPr lang="en-US" sz="2000" dirty="0" err="1"/>
              <a:t>os</a:t>
            </a:r>
            <a:r>
              <a:rPr lang="en-US" sz="2000" dirty="0"/>
              <a:t> </a:t>
            </a:r>
            <a:r>
              <a:rPr lang="en-US" sz="2000" dirty="0" err="1"/>
              <a:t>comandos</a:t>
            </a:r>
            <a:r>
              <a:rPr lang="en-US" sz="2000" dirty="0"/>
              <a:t>.</a:t>
            </a:r>
            <a:endParaRPr lang="pt-BR" sz="2000" dirty="0"/>
          </a:p>
        </p:txBody>
      </p:sp>
      <p:pic>
        <p:nvPicPr>
          <p:cNvPr id="8" name="Imagem 7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57C20828-BBAC-E1F0-BA85-DAA1CFAFB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714" y="1998152"/>
            <a:ext cx="4934486" cy="881406"/>
          </a:xfrm>
          <a:prstGeom prst="rect">
            <a:avLst/>
          </a:prstGeom>
        </p:spPr>
      </p:pic>
      <p:pic>
        <p:nvPicPr>
          <p:cNvPr id="13" name="Imagem 12" descr="Texto&#10;&#10;O conteúdo gerado por IA pode estar incorreto.">
            <a:extLst>
              <a:ext uri="{FF2B5EF4-FFF2-40B4-BE49-F238E27FC236}">
                <a16:creationId xmlns:a16="http://schemas.microsoft.com/office/drawing/2014/main" id="{67C38781-CAA6-9DC2-1027-A98FFF1B6F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061" y="5440291"/>
            <a:ext cx="4480217" cy="936280"/>
          </a:xfrm>
          <a:prstGeom prst="rect">
            <a:avLst/>
          </a:prstGeom>
        </p:spPr>
      </p:pic>
      <p:pic>
        <p:nvPicPr>
          <p:cNvPr id="17" name="Imagem 16" descr="Texto&#10;&#10;O conteúdo gerado por IA pode estar incorreto.">
            <a:extLst>
              <a:ext uri="{FF2B5EF4-FFF2-40B4-BE49-F238E27FC236}">
                <a16:creationId xmlns:a16="http://schemas.microsoft.com/office/drawing/2014/main" id="{CF03AAB4-2D4E-2CBB-6593-6932E6D6E3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7914" y="2705171"/>
            <a:ext cx="4934486" cy="1538883"/>
          </a:xfrm>
          <a:prstGeom prst="rect">
            <a:avLst/>
          </a:prstGeom>
        </p:spPr>
      </p:pic>
      <p:pic>
        <p:nvPicPr>
          <p:cNvPr id="19" name="Imagem 18" descr="Uma imagem contendo Gráfico&#10;&#10;O conteúdo gerado por IA pode estar incorreto.">
            <a:extLst>
              <a:ext uri="{FF2B5EF4-FFF2-40B4-BE49-F238E27FC236}">
                <a16:creationId xmlns:a16="http://schemas.microsoft.com/office/drawing/2014/main" id="{29C905A8-86C4-5D79-4147-BF66BAAB0E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3160" y="4496681"/>
            <a:ext cx="5103994" cy="702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22222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ADBB1-8520-4430-75EB-28F25F4E5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439F775B-1ABC-E412-E0B3-EA6C2FC021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930C573A-087C-020B-3721-62475C25149F}"/>
              </a:ext>
            </a:extLst>
          </p:cNvPr>
          <p:cNvSpPr txBox="1"/>
          <p:nvPr/>
        </p:nvSpPr>
        <p:spPr>
          <a:xfrm>
            <a:off x="4846049" y="228600"/>
            <a:ext cx="2499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Regras</a:t>
            </a:r>
            <a:r>
              <a:rPr lang="en-US" sz="3600" dirty="0"/>
              <a:t> </a:t>
            </a:r>
            <a:r>
              <a:rPr lang="en-US" sz="3600" dirty="0" err="1"/>
              <a:t>Úteis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4D162E7-790F-2E63-03A6-3F4DC6B7956C}"/>
              </a:ext>
            </a:extLst>
          </p:cNvPr>
          <p:cNvSpPr txBox="1"/>
          <p:nvPr/>
        </p:nvSpPr>
        <p:spPr>
          <a:xfrm>
            <a:off x="844061" y="1178169"/>
            <a:ext cx="5251939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/>
              <a:t> Check </a:t>
            </a:r>
            <a:r>
              <a:rPr lang="en-US" dirty="0"/>
              <a:t>– </a:t>
            </a:r>
            <a:r>
              <a:rPr lang="en-US" sz="2400" dirty="0"/>
              <a:t>Regra </a:t>
            </a:r>
            <a:r>
              <a:rPr lang="en-US" sz="2400" dirty="0" err="1"/>
              <a:t>aplicada</a:t>
            </a:r>
            <a:r>
              <a:rPr lang="en-US" sz="2400" dirty="0"/>
              <a:t> a </a:t>
            </a:r>
            <a:r>
              <a:rPr lang="en-US" sz="2400" dirty="0" err="1"/>
              <a:t>colunas</a:t>
            </a:r>
            <a:r>
              <a:rPr lang="en-US" sz="2400" dirty="0"/>
              <a:t> para </a:t>
            </a:r>
            <a:r>
              <a:rPr lang="en-US" sz="2400" dirty="0" err="1"/>
              <a:t>garantir</a:t>
            </a:r>
            <a:r>
              <a:rPr lang="en-US" sz="2400" dirty="0"/>
              <a:t> a </a:t>
            </a:r>
            <a:r>
              <a:rPr lang="en-US" sz="2400" dirty="0" err="1"/>
              <a:t>integridade</a:t>
            </a:r>
            <a:r>
              <a:rPr lang="en-US" sz="2400" dirty="0"/>
              <a:t> dos dados, </a:t>
            </a:r>
            <a:r>
              <a:rPr lang="en-US" sz="2400" dirty="0" err="1"/>
              <a:t>rejeitando</a:t>
            </a:r>
            <a:r>
              <a:rPr lang="en-US" sz="2400" dirty="0"/>
              <a:t> </a:t>
            </a:r>
            <a:r>
              <a:rPr lang="en-US" sz="2400" dirty="0" err="1"/>
              <a:t>valores</a:t>
            </a:r>
            <a:r>
              <a:rPr lang="en-US" sz="2400" dirty="0"/>
              <a:t> </a:t>
            </a:r>
            <a:r>
              <a:rPr lang="en-US" sz="2400" dirty="0" err="1"/>
              <a:t>que</a:t>
            </a:r>
            <a:r>
              <a:rPr lang="en-US" sz="2400" dirty="0"/>
              <a:t> </a:t>
            </a:r>
            <a:r>
              <a:rPr lang="pt-BR" sz="2400" dirty="0"/>
              <a:t>não cumprem condições específicas.</a:t>
            </a:r>
            <a:endParaRPr lang="en-US" sz="24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8BD532B-D4AC-3C5F-7E06-1CD3A806958C}"/>
              </a:ext>
            </a:extLst>
          </p:cNvPr>
          <p:cNvSpPr txBox="1"/>
          <p:nvPr/>
        </p:nvSpPr>
        <p:spPr>
          <a:xfrm>
            <a:off x="6268915" y="1178169"/>
            <a:ext cx="5251939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UNIQUE </a:t>
            </a:r>
            <a:r>
              <a:rPr lang="en-US" sz="2400" dirty="0"/>
              <a:t>–  Regra </a:t>
            </a:r>
            <a:r>
              <a:rPr lang="en-US" sz="2400" dirty="0" err="1"/>
              <a:t>que</a:t>
            </a:r>
            <a:r>
              <a:rPr lang="en-US" sz="2400" dirty="0"/>
              <a:t> impede </a:t>
            </a:r>
            <a:r>
              <a:rPr lang="en-US" sz="2400" dirty="0" err="1"/>
              <a:t>valores</a:t>
            </a:r>
            <a:r>
              <a:rPr lang="en-US" sz="2400" dirty="0"/>
              <a:t> </a:t>
            </a:r>
            <a:r>
              <a:rPr lang="en-US" sz="2400" dirty="0" err="1"/>
              <a:t>duplicados</a:t>
            </a:r>
            <a:r>
              <a:rPr lang="en-US" sz="2400" dirty="0"/>
              <a:t> </a:t>
            </a:r>
            <a:r>
              <a:rPr lang="en-US" sz="2400" dirty="0" err="1"/>
              <a:t>em</a:t>
            </a:r>
            <a:r>
              <a:rPr lang="en-US" sz="2400" dirty="0"/>
              <a:t> </a:t>
            </a:r>
            <a:r>
              <a:rPr lang="en-US" sz="2400" dirty="0" err="1"/>
              <a:t>uma</a:t>
            </a:r>
            <a:r>
              <a:rPr lang="en-US" sz="2400" dirty="0"/>
              <a:t> </a:t>
            </a:r>
            <a:r>
              <a:rPr lang="en-US" sz="2400" dirty="0" err="1"/>
              <a:t>ou</a:t>
            </a:r>
            <a:r>
              <a:rPr lang="en-US" sz="2400" dirty="0"/>
              <a:t> </a:t>
            </a:r>
            <a:r>
              <a:rPr lang="en-US" sz="2400" dirty="0" err="1"/>
              <a:t>mais</a:t>
            </a:r>
            <a:r>
              <a:rPr lang="en-US" sz="2400" dirty="0"/>
              <a:t> </a:t>
            </a:r>
            <a:r>
              <a:rPr lang="en-US" sz="2400" dirty="0" err="1"/>
              <a:t>colunas</a:t>
            </a:r>
            <a:r>
              <a:rPr lang="en-US" sz="2400" dirty="0"/>
              <a:t>.</a:t>
            </a:r>
            <a:endParaRPr lang="pt-BR" dirty="0"/>
          </a:p>
        </p:txBody>
      </p:sp>
      <p:pic>
        <p:nvPicPr>
          <p:cNvPr id="15" name="Imagem 14" descr="Texto&#10;&#10;O conteúdo gerado por IA pode estar incorreto.">
            <a:extLst>
              <a:ext uri="{FF2B5EF4-FFF2-40B4-BE49-F238E27FC236}">
                <a16:creationId xmlns:a16="http://schemas.microsoft.com/office/drawing/2014/main" id="{3AACE038-0465-4AE8-5BA4-026373730C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4757" y="3199642"/>
            <a:ext cx="7248315" cy="3429758"/>
          </a:xfrm>
          <a:prstGeom prst="rect">
            <a:avLst/>
          </a:prstGeom>
        </p:spPr>
      </p:pic>
      <p:sp>
        <p:nvSpPr>
          <p:cNvPr id="16" name="Elipse 15">
            <a:extLst>
              <a:ext uri="{FF2B5EF4-FFF2-40B4-BE49-F238E27FC236}">
                <a16:creationId xmlns:a16="http://schemas.microsoft.com/office/drawing/2014/main" id="{BF16121D-7AF2-42E2-A321-DBCB6907281B}"/>
              </a:ext>
            </a:extLst>
          </p:cNvPr>
          <p:cNvSpPr/>
          <p:nvPr/>
        </p:nvSpPr>
        <p:spPr>
          <a:xfrm>
            <a:off x="1266092" y="1178169"/>
            <a:ext cx="958362" cy="509954"/>
          </a:xfrm>
          <a:prstGeom prst="ellipse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A5331BEC-030C-6203-1BB4-C0D9B14462D3}"/>
              </a:ext>
            </a:extLst>
          </p:cNvPr>
          <p:cNvSpPr/>
          <p:nvPr/>
        </p:nvSpPr>
        <p:spPr>
          <a:xfrm>
            <a:off x="5717930" y="5134096"/>
            <a:ext cx="1140070" cy="509954"/>
          </a:xfrm>
          <a:prstGeom prst="ellipse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369C4CF6-D111-BF88-06C8-7B1068D12DD3}"/>
              </a:ext>
            </a:extLst>
          </p:cNvPr>
          <p:cNvSpPr/>
          <p:nvPr/>
        </p:nvSpPr>
        <p:spPr>
          <a:xfrm>
            <a:off x="6778869" y="1239715"/>
            <a:ext cx="1266093" cy="394805"/>
          </a:xfrm>
          <a:prstGeom prst="round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93C34A0C-B53F-CF0F-58C2-D8E9E9FAFC8C}"/>
              </a:ext>
            </a:extLst>
          </p:cNvPr>
          <p:cNvSpPr/>
          <p:nvPr/>
        </p:nvSpPr>
        <p:spPr>
          <a:xfrm>
            <a:off x="7442689" y="4717118"/>
            <a:ext cx="1204546" cy="394805"/>
          </a:xfrm>
          <a:prstGeom prst="round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90273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1DD83-985C-2B06-1C0D-26CFE6C26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553F16B-DE5A-58A2-301F-7D9B715A10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3B9AE31B-9700-7286-3760-13A351ECFF10}"/>
              </a:ext>
            </a:extLst>
          </p:cNvPr>
          <p:cNvSpPr txBox="1"/>
          <p:nvPr/>
        </p:nvSpPr>
        <p:spPr>
          <a:xfrm>
            <a:off x="4846049" y="228600"/>
            <a:ext cx="2499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Regras</a:t>
            </a:r>
            <a:r>
              <a:rPr lang="en-US" sz="3600" dirty="0"/>
              <a:t> </a:t>
            </a:r>
            <a:r>
              <a:rPr lang="en-US" sz="3600" dirty="0" err="1"/>
              <a:t>Úteis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C5874B49-7F26-642F-22EE-E53D9521F0B3}"/>
              </a:ext>
            </a:extLst>
          </p:cNvPr>
          <p:cNvSpPr txBox="1"/>
          <p:nvPr/>
        </p:nvSpPr>
        <p:spPr>
          <a:xfrm>
            <a:off x="844061" y="1178169"/>
            <a:ext cx="525193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/>
              <a:t> Default </a:t>
            </a:r>
            <a:r>
              <a:rPr lang="en-US" dirty="0"/>
              <a:t>– </a:t>
            </a:r>
            <a:r>
              <a:rPr lang="en-US" sz="2400" dirty="0"/>
              <a:t>Define um valor </a:t>
            </a:r>
            <a:r>
              <a:rPr lang="en-US" sz="2400" dirty="0" err="1"/>
              <a:t>padrão</a:t>
            </a:r>
            <a:r>
              <a:rPr lang="en-US" sz="2400" dirty="0"/>
              <a:t> </a:t>
            </a:r>
            <a:r>
              <a:rPr lang="en-US" sz="2400" dirty="0" err="1"/>
              <a:t>quando</a:t>
            </a:r>
            <a:r>
              <a:rPr lang="en-US" sz="2400" dirty="0"/>
              <a:t> </a:t>
            </a:r>
            <a:r>
              <a:rPr lang="en-US" sz="2400" dirty="0" err="1"/>
              <a:t>nenhum</a:t>
            </a:r>
            <a:r>
              <a:rPr lang="en-US" sz="2400" dirty="0"/>
              <a:t> valor é </a:t>
            </a:r>
            <a:r>
              <a:rPr lang="en-US" sz="2400" dirty="0" err="1"/>
              <a:t>informado</a:t>
            </a:r>
            <a:r>
              <a:rPr lang="pt-BR" sz="2400" dirty="0"/>
              <a:t>.</a:t>
            </a:r>
            <a:endParaRPr lang="en-US" sz="24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A0BD2DD-BC2D-B34B-4451-7B2D2F143950}"/>
              </a:ext>
            </a:extLst>
          </p:cNvPr>
          <p:cNvSpPr txBox="1"/>
          <p:nvPr/>
        </p:nvSpPr>
        <p:spPr>
          <a:xfrm>
            <a:off x="6268915" y="1178169"/>
            <a:ext cx="525193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NOT NULL </a:t>
            </a:r>
            <a:r>
              <a:rPr lang="en-US" sz="2400" dirty="0"/>
              <a:t>–  Impede </a:t>
            </a:r>
            <a:r>
              <a:rPr lang="en-US" sz="2400" dirty="0" err="1"/>
              <a:t>valores</a:t>
            </a:r>
            <a:r>
              <a:rPr lang="en-US" sz="2400" dirty="0"/>
              <a:t> </a:t>
            </a:r>
            <a:r>
              <a:rPr lang="en-US" sz="2400" dirty="0" err="1"/>
              <a:t>nulos</a:t>
            </a:r>
            <a:r>
              <a:rPr lang="en-US" sz="2400" dirty="0"/>
              <a:t> para </a:t>
            </a:r>
            <a:r>
              <a:rPr lang="en-US" sz="2400" dirty="0" err="1"/>
              <a:t>atributos</a:t>
            </a:r>
            <a:r>
              <a:rPr lang="en-US" sz="2400" dirty="0"/>
              <a:t> da </a:t>
            </a:r>
            <a:r>
              <a:rPr lang="en-US" sz="2400" dirty="0" err="1"/>
              <a:t>tabela</a:t>
            </a:r>
            <a:r>
              <a:rPr lang="en-US" sz="2400" dirty="0"/>
              <a:t>.</a:t>
            </a:r>
            <a:endParaRPr lang="pt-BR" dirty="0"/>
          </a:p>
        </p:txBody>
      </p:sp>
      <p:pic>
        <p:nvPicPr>
          <p:cNvPr id="6" name="Imagem 5" descr="Texto&#10;&#10;O conteúdo gerado por IA pode estar incorreto.">
            <a:extLst>
              <a:ext uri="{FF2B5EF4-FFF2-40B4-BE49-F238E27FC236}">
                <a16:creationId xmlns:a16="http://schemas.microsoft.com/office/drawing/2014/main" id="{4454EC02-D548-400A-CAE0-CFCB424C07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637" y="2879558"/>
            <a:ext cx="8990726" cy="3270540"/>
          </a:xfrm>
          <a:prstGeom prst="rect">
            <a:avLst/>
          </a:prstGeom>
        </p:spPr>
      </p:pic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EFEC2943-E4D7-0327-059B-431B43CC9C7F}"/>
              </a:ext>
            </a:extLst>
          </p:cNvPr>
          <p:cNvSpPr/>
          <p:nvPr/>
        </p:nvSpPr>
        <p:spPr>
          <a:xfrm>
            <a:off x="6770077" y="1248508"/>
            <a:ext cx="1565031" cy="435260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C0464B17-1822-22E2-507E-29FBCD9E3590}"/>
              </a:ext>
            </a:extLst>
          </p:cNvPr>
          <p:cNvSpPr/>
          <p:nvPr/>
        </p:nvSpPr>
        <p:spPr>
          <a:xfrm>
            <a:off x="5726721" y="3820262"/>
            <a:ext cx="1503484" cy="364876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E2914CFF-21CC-8778-5F0C-39B60BEECBFD}"/>
              </a:ext>
            </a:extLst>
          </p:cNvPr>
          <p:cNvSpPr/>
          <p:nvPr/>
        </p:nvSpPr>
        <p:spPr>
          <a:xfrm>
            <a:off x="1160585" y="1224355"/>
            <a:ext cx="1292469" cy="435260"/>
          </a:xfrm>
          <a:prstGeom prst="ellips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6B284B45-07CD-3DB0-7196-EF279ED8C154}"/>
              </a:ext>
            </a:extLst>
          </p:cNvPr>
          <p:cNvSpPr/>
          <p:nvPr/>
        </p:nvSpPr>
        <p:spPr>
          <a:xfrm>
            <a:off x="4950070" y="4270976"/>
            <a:ext cx="1503484" cy="435260"/>
          </a:xfrm>
          <a:prstGeom prst="ellipse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999254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1794D-9980-3E86-E42A-A42628F3D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3B310397-661B-992F-B40D-4B9CB1C235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DCCB6652-941A-D981-47AA-8D8C6EEDAC35}"/>
              </a:ext>
            </a:extLst>
          </p:cNvPr>
          <p:cNvSpPr txBox="1"/>
          <p:nvPr/>
        </p:nvSpPr>
        <p:spPr>
          <a:xfrm>
            <a:off x="4846049" y="228600"/>
            <a:ext cx="2499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Regras</a:t>
            </a:r>
            <a:r>
              <a:rPr lang="en-US" sz="3600" dirty="0"/>
              <a:t> </a:t>
            </a:r>
            <a:r>
              <a:rPr lang="en-US" sz="3600" dirty="0" err="1"/>
              <a:t>Úteis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9594F44-F8E4-869C-9EFB-924CE5C2ED87}"/>
              </a:ext>
            </a:extLst>
          </p:cNvPr>
          <p:cNvSpPr txBox="1"/>
          <p:nvPr/>
        </p:nvSpPr>
        <p:spPr>
          <a:xfrm>
            <a:off x="844061" y="1178169"/>
            <a:ext cx="61282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/>
              <a:t> INDEX </a:t>
            </a:r>
            <a:r>
              <a:rPr lang="en-US" dirty="0"/>
              <a:t>– </a:t>
            </a:r>
            <a:r>
              <a:rPr lang="en-US" sz="2400" dirty="0" err="1"/>
              <a:t>Melhora</a:t>
            </a:r>
            <a:r>
              <a:rPr lang="en-US" sz="2400" dirty="0"/>
              <a:t> </a:t>
            </a:r>
            <a:r>
              <a:rPr lang="en-US" sz="2400" dirty="0" err="1"/>
              <a:t>desempenho</a:t>
            </a:r>
            <a:r>
              <a:rPr lang="en-US" sz="2400" dirty="0"/>
              <a:t> de </a:t>
            </a:r>
            <a:r>
              <a:rPr lang="en-US" sz="2400" dirty="0" err="1"/>
              <a:t>consultas</a:t>
            </a:r>
            <a:r>
              <a:rPr lang="pt-BR" sz="2400" dirty="0"/>
              <a:t>.</a:t>
            </a:r>
            <a:endParaRPr lang="en-US" sz="2400" dirty="0"/>
          </a:p>
        </p:txBody>
      </p:sp>
      <p:pic>
        <p:nvPicPr>
          <p:cNvPr id="21" name="Imagem 20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336F4530-A508-4F80-45AF-528178BD8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8905" y="2053100"/>
            <a:ext cx="8394187" cy="4439270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9D1C756A-16C5-1E44-6C4F-1BCAB59910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9255" y="5121528"/>
            <a:ext cx="4046266" cy="452796"/>
          </a:xfrm>
          <a:prstGeom prst="rect">
            <a:avLst/>
          </a:prstGeom>
        </p:spPr>
      </p:pic>
      <p:sp>
        <p:nvSpPr>
          <p:cNvPr id="24" name="CaixaDeTexto 23">
            <a:extLst>
              <a:ext uri="{FF2B5EF4-FFF2-40B4-BE49-F238E27FC236}">
                <a16:creationId xmlns:a16="http://schemas.microsoft.com/office/drawing/2014/main" id="{32723E5F-132A-AF09-172E-DC3E3C34EE04}"/>
              </a:ext>
            </a:extLst>
          </p:cNvPr>
          <p:cNvSpPr txBox="1"/>
          <p:nvPr/>
        </p:nvSpPr>
        <p:spPr>
          <a:xfrm>
            <a:off x="9294403" y="4422453"/>
            <a:ext cx="14559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Consulta</a:t>
            </a:r>
          </a:p>
        </p:txBody>
      </p:sp>
    </p:spTree>
    <p:extLst>
      <p:ext uri="{BB962C8B-B14F-4D97-AF65-F5344CB8AC3E}">
        <p14:creationId xmlns:p14="http://schemas.microsoft.com/office/powerpoint/2010/main" val="35006461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CD083-90E8-4F0C-F1A8-855D3C9DB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A60CB107-5E8C-FB5A-C155-4597AAB097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A063136F-4393-C0B8-340B-0DF940D9AB68}"/>
              </a:ext>
            </a:extLst>
          </p:cNvPr>
          <p:cNvSpPr txBox="1"/>
          <p:nvPr/>
        </p:nvSpPr>
        <p:spPr>
          <a:xfrm>
            <a:off x="4846049" y="228600"/>
            <a:ext cx="24999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Tipo </a:t>
            </a:r>
            <a:r>
              <a:rPr lang="en-US" sz="3600" dirty="0" err="1"/>
              <a:t>Útil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1AFC93D-6A5C-9EDD-ADB7-ACE614154AE6}"/>
              </a:ext>
            </a:extLst>
          </p:cNvPr>
          <p:cNvSpPr txBox="1"/>
          <p:nvPr/>
        </p:nvSpPr>
        <p:spPr>
          <a:xfrm>
            <a:off x="844061" y="1178169"/>
            <a:ext cx="10401301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Font typeface="Wingdings" panose="05000000000000000000" pitchFamily="2" charset="2"/>
              <a:buChar char="Ø"/>
            </a:pPr>
            <a:r>
              <a:rPr lang="en-US" sz="2800" dirty="0"/>
              <a:t> ENUM </a:t>
            </a:r>
            <a:r>
              <a:rPr lang="en-US" dirty="0"/>
              <a:t>– </a:t>
            </a:r>
            <a:r>
              <a:rPr lang="en-US" sz="2400" dirty="0"/>
              <a:t>Tipo de dado </a:t>
            </a:r>
            <a:r>
              <a:rPr lang="en-US" sz="2400" dirty="0" err="1"/>
              <a:t>que</a:t>
            </a:r>
            <a:r>
              <a:rPr lang="en-US" sz="2400" dirty="0"/>
              <a:t> </a:t>
            </a:r>
            <a:r>
              <a:rPr lang="en-US" sz="2400" b="1" u="sng" dirty="0" err="1"/>
              <a:t>restringe</a:t>
            </a:r>
            <a:r>
              <a:rPr lang="en-US" sz="2400" dirty="0"/>
              <a:t> </a:t>
            </a:r>
            <a:r>
              <a:rPr lang="en-US" sz="2400" dirty="0" err="1"/>
              <a:t>uma</a:t>
            </a:r>
            <a:r>
              <a:rPr lang="en-US" sz="2400" dirty="0"/>
              <a:t> </a:t>
            </a:r>
            <a:r>
              <a:rPr lang="en-US" sz="2400" dirty="0" err="1"/>
              <a:t>coluna</a:t>
            </a:r>
            <a:r>
              <a:rPr lang="en-US" sz="2400" dirty="0"/>
              <a:t> a um conjunto </a:t>
            </a:r>
            <a:r>
              <a:rPr lang="en-US" sz="2400" dirty="0" err="1"/>
              <a:t>predefinido</a:t>
            </a:r>
            <a:r>
              <a:rPr lang="en-US" sz="2400" dirty="0"/>
              <a:t> de </a:t>
            </a:r>
            <a:r>
              <a:rPr lang="en-US" sz="2400" dirty="0" err="1"/>
              <a:t>valores</a:t>
            </a:r>
            <a:r>
              <a:rPr lang="pt-BR" sz="2400" dirty="0"/>
              <a:t>.</a:t>
            </a:r>
            <a:endParaRPr lang="en-US" sz="2400" dirty="0"/>
          </a:p>
        </p:txBody>
      </p:sp>
      <p:pic>
        <p:nvPicPr>
          <p:cNvPr id="6" name="Imagem 5" descr="Uma imagem contendo Texto&#10;&#10;O conteúdo gerado por IA pode estar incorreto.">
            <a:extLst>
              <a:ext uri="{FF2B5EF4-FFF2-40B4-BE49-F238E27FC236}">
                <a16:creationId xmlns:a16="http://schemas.microsoft.com/office/drawing/2014/main" id="{490F2E04-E0E8-1AFF-9CF3-F4F66BA13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875" y="2685743"/>
            <a:ext cx="10998250" cy="2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266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4B3E-BF56-2FB0-BD21-370EC9442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9F0E214E-D45B-BB9E-2317-56B6D93F66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209A396E-A5FD-0E7C-4C13-36A282E1FEE1}"/>
              </a:ext>
            </a:extLst>
          </p:cNvPr>
          <p:cNvSpPr txBox="1"/>
          <p:nvPr/>
        </p:nvSpPr>
        <p:spPr>
          <a:xfrm>
            <a:off x="5186740" y="197595"/>
            <a:ext cx="18185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Exercício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DC55075-4B50-0E84-DEF8-D1AFBA0E2829}"/>
              </a:ext>
            </a:extLst>
          </p:cNvPr>
          <p:cNvSpPr txBox="1"/>
          <p:nvPr/>
        </p:nvSpPr>
        <p:spPr>
          <a:xfrm>
            <a:off x="1459523" y="1011115"/>
            <a:ext cx="8976946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Utilizando</a:t>
            </a:r>
            <a:r>
              <a:rPr lang="en-US" sz="2000" dirty="0"/>
              <a:t> </a:t>
            </a:r>
            <a:r>
              <a:rPr lang="en-US" sz="2000" dirty="0" err="1"/>
              <a:t>os</a:t>
            </a:r>
            <a:r>
              <a:rPr lang="en-US" sz="2000" dirty="0"/>
              <a:t> </a:t>
            </a:r>
            <a:r>
              <a:rPr lang="en-US" sz="2000" dirty="0" err="1"/>
              <a:t>conceitos</a:t>
            </a:r>
            <a:r>
              <a:rPr lang="en-US" sz="2000" dirty="0"/>
              <a:t> </a:t>
            </a:r>
            <a:r>
              <a:rPr lang="en-US" sz="2000" dirty="0" err="1"/>
              <a:t>abordados</a:t>
            </a:r>
            <a:r>
              <a:rPr lang="en-US" sz="2000" dirty="0"/>
              <a:t> </a:t>
            </a:r>
            <a:r>
              <a:rPr lang="en-US" sz="2000" dirty="0" err="1"/>
              <a:t>nesta</a:t>
            </a:r>
            <a:r>
              <a:rPr lang="en-US" sz="2000" dirty="0"/>
              <a:t> aula, </a:t>
            </a:r>
            <a:r>
              <a:rPr lang="en-US" sz="2000" dirty="0" err="1"/>
              <a:t>faça</a:t>
            </a:r>
            <a:r>
              <a:rPr lang="en-US" sz="2000" dirty="0"/>
              <a:t> o que se </a:t>
            </a:r>
            <a:r>
              <a:rPr lang="en-US" sz="2000" dirty="0" err="1"/>
              <a:t>pede</a:t>
            </a:r>
            <a:r>
              <a:rPr lang="en-US" sz="2000" dirty="0"/>
              <a:t>:</a:t>
            </a:r>
          </a:p>
          <a:p>
            <a:endParaRPr lang="en-US" sz="2000" dirty="0"/>
          </a:p>
          <a:p>
            <a:pPr marL="342900" indent="-342900">
              <a:buAutoNum type="arabicPeriod"/>
            </a:pPr>
            <a:r>
              <a:rPr lang="en-US" sz="2000" dirty="0"/>
              <a:t>Banco de Dados: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Crie</a:t>
            </a:r>
            <a:r>
              <a:rPr lang="en-US" sz="2000" dirty="0"/>
              <a:t> um banco de dados </a:t>
            </a:r>
            <a:r>
              <a:rPr lang="en-US" sz="2000" dirty="0" err="1"/>
              <a:t>chamado</a:t>
            </a:r>
            <a:r>
              <a:rPr lang="en-US" sz="2000" dirty="0"/>
              <a:t> ‘</a:t>
            </a:r>
            <a:r>
              <a:rPr lang="en-US" sz="2000" dirty="0" err="1"/>
              <a:t>streaming_db</a:t>
            </a:r>
            <a:r>
              <a:rPr lang="en-US" sz="2000" dirty="0"/>
              <a:t>’ </a:t>
            </a:r>
            <a:r>
              <a:rPr lang="en-US" sz="2000" dirty="0" err="1"/>
              <a:t>verificando</a:t>
            </a:r>
            <a:r>
              <a:rPr lang="en-US" sz="2000" dirty="0"/>
              <a:t> </a:t>
            </a:r>
            <a:r>
              <a:rPr lang="en-US" sz="2000" dirty="0" err="1"/>
              <a:t>sua</a:t>
            </a:r>
            <a:r>
              <a:rPr lang="en-US" sz="2000" dirty="0"/>
              <a:t> </a:t>
            </a:r>
            <a:r>
              <a:rPr lang="en-US" sz="2000" dirty="0" err="1"/>
              <a:t>existência</a:t>
            </a:r>
            <a:r>
              <a:rPr lang="en-US" sz="2000" dirty="0"/>
              <a:t>. Caso </a:t>
            </a:r>
            <a:r>
              <a:rPr lang="en-US" sz="2000" dirty="0" err="1"/>
              <a:t>exista</a:t>
            </a:r>
            <a:r>
              <a:rPr lang="en-US" sz="2000" dirty="0"/>
              <a:t>, </a:t>
            </a:r>
            <a:r>
              <a:rPr lang="en-US" sz="2000" dirty="0" err="1"/>
              <a:t>exclua</a:t>
            </a:r>
            <a:r>
              <a:rPr lang="en-US" sz="2000" dirty="0"/>
              <a:t> antes </a:t>
            </a:r>
            <a:r>
              <a:rPr lang="en-US" sz="2000" dirty="0" err="1"/>
              <a:t>mesmo</a:t>
            </a:r>
            <a:r>
              <a:rPr lang="en-US" sz="2000" dirty="0"/>
              <a:t> de </a:t>
            </a:r>
            <a:r>
              <a:rPr lang="en-US" sz="2000" dirty="0" err="1"/>
              <a:t>criá</a:t>
            </a:r>
            <a:r>
              <a:rPr lang="en-US" sz="2000" dirty="0"/>
              <a:t>-lo;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Execute o </a:t>
            </a:r>
            <a:r>
              <a:rPr lang="en-US" sz="2000" dirty="0" err="1"/>
              <a:t>comando</a:t>
            </a:r>
            <a:r>
              <a:rPr lang="en-US" sz="2000" dirty="0"/>
              <a:t> para </a:t>
            </a:r>
            <a:r>
              <a:rPr lang="en-US" sz="2000" dirty="0" err="1"/>
              <a:t>utilizar</a:t>
            </a:r>
            <a:r>
              <a:rPr lang="en-US" sz="2000" dirty="0"/>
              <a:t> </a:t>
            </a:r>
            <a:r>
              <a:rPr lang="en-US" sz="2000" dirty="0" err="1"/>
              <a:t>seu</a:t>
            </a:r>
            <a:r>
              <a:rPr lang="en-US" sz="2000" dirty="0"/>
              <a:t> banco de dados;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457200" indent="-457200">
              <a:buAutoNum type="arabicPeriod" startAt="2"/>
            </a:pPr>
            <a:r>
              <a:rPr lang="en-US" sz="2000" dirty="0" err="1"/>
              <a:t>Tabela</a:t>
            </a:r>
            <a:r>
              <a:rPr lang="en-US" sz="20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Crie</a:t>
            </a:r>
            <a:r>
              <a:rPr lang="en-US" sz="2000" dirty="0"/>
              <a:t> </a:t>
            </a:r>
            <a:r>
              <a:rPr lang="en-US" sz="2000" dirty="0" err="1"/>
              <a:t>uma</a:t>
            </a:r>
            <a:r>
              <a:rPr lang="en-US" sz="2000" dirty="0"/>
              <a:t> nova </a:t>
            </a:r>
            <a:r>
              <a:rPr lang="en-US" sz="2000" dirty="0" err="1"/>
              <a:t>tabela</a:t>
            </a:r>
            <a:r>
              <a:rPr lang="en-US" sz="2000" dirty="0"/>
              <a:t> ‘</a:t>
            </a:r>
            <a:r>
              <a:rPr lang="en-US" sz="2000" dirty="0" err="1"/>
              <a:t>Filme</a:t>
            </a:r>
            <a:r>
              <a:rPr lang="en-US" sz="2000" dirty="0"/>
              <a:t>’, </a:t>
            </a:r>
            <a:r>
              <a:rPr lang="en-US" sz="2000" dirty="0" err="1"/>
              <a:t>que</a:t>
            </a:r>
            <a:r>
              <a:rPr lang="en-US" sz="2000" dirty="0"/>
              <a:t> </a:t>
            </a:r>
            <a:r>
              <a:rPr lang="en-US" sz="2000" dirty="0" err="1"/>
              <a:t>deve</a:t>
            </a:r>
            <a:r>
              <a:rPr lang="en-US" sz="2000" dirty="0"/>
              <a:t> </a:t>
            </a:r>
            <a:r>
              <a:rPr lang="en-US" sz="2000" dirty="0" err="1"/>
              <a:t>conter</a:t>
            </a:r>
            <a:r>
              <a:rPr lang="en-US" sz="2000" dirty="0"/>
              <a:t> um </a:t>
            </a:r>
            <a:r>
              <a:rPr lang="en-US" sz="2000" dirty="0" err="1"/>
              <a:t>identificador</a:t>
            </a:r>
            <a:r>
              <a:rPr lang="en-US" sz="2000" dirty="0"/>
              <a:t> </a:t>
            </a:r>
            <a:r>
              <a:rPr lang="en-US" sz="2000" dirty="0" err="1"/>
              <a:t>único</a:t>
            </a:r>
            <a:r>
              <a:rPr lang="en-US" sz="2000" dirty="0"/>
              <a:t> </a:t>
            </a:r>
            <a:r>
              <a:rPr lang="en-US" sz="2000" dirty="0" err="1"/>
              <a:t>obrigatório</a:t>
            </a:r>
            <a:r>
              <a:rPr lang="en-US" sz="2000" dirty="0"/>
              <a:t> e auto-incremental, um </a:t>
            </a:r>
            <a:r>
              <a:rPr lang="en-US" sz="2000" dirty="0" err="1"/>
              <a:t>título</a:t>
            </a:r>
            <a:r>
              <a:rPr lang="en-US" sz="2000" dirty="0"/>
              <a:t> (20 </a:t>
            </a:r>
            <a:r>
              <a:rPr lang="en-US" sz="2000" dirty="0" err="1"/>
              <a:t>caracteres</a:t>
            </a:r>
            <a:r>
              <a:rPr lang="en-US" sz="2000" dirty="0"/>
              <a:t>), um </a:t>
            </a:r>
            <a:r>
              <a:rPr lang="en-US" sz="2000" dirty="0" err="1"/>
              <a:t>gênero</a:t>
            </a:r>
            <a:r>
              <a:rPr lang="en-US" sz="2000" dirty="0"/>
              <a:t> (30 </a:t>
            </a:r>
            <a:r>
              <a:rPr lang="en-US" sz="2000" dirty="0" err="1"/>
              <a:t>caracteres</a:t>
            </a:r>
            <a:r>
              <a:rPr lang="en-US" sz="2000" dirty="0"/>
              <a:t>) e o </a:t>
            </a:r>
            <a:r>
              <a:rPr lang="en-US" sz="2000" dirty="0" err="1"/>
              <a:t>ano</a:t>
            </a:r>
            <a:r>
              <a:rPr lang="en-US" sz="2000" dirty="0"/>
              <a:t> de </a:t>
            </a:r>
            <a:r>
              <a:rPr lang="en-US" sz="2000" dirty="0" err="1"/>
              <a:t>lançamento</a:t>
            </a:r>
            <a:r>
              <a:rPr lang="en-US" sz="2000" dirty="0"/>
              <a:t> (</a:t>
            </a:r>
            <a:r>
              <a:rPr lang="en-US" sz="2000" dirty="0" err="1"/>
              <a:t>obrigatório</a:t>
            </a:r>
            <a:r>
              <a:rPr lang="en-US" sz="2000" dirty="0"/>
              <a:t>);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457200" indent="-457200">
              <a:buAutoNum type="arabicPeriod" startAt="3"/>
            </a:pPr>
            <a:r>
              <a:rPr lang="en-US" sz="2000" dirty="0" err="1"/>
              <a:t>Manutenção</a:t>
            </a:r>
            <a:r>
              <a:rPr lang="en-US" sz="20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Inclua</a:t>
            </a:r>
            <a:r>
              <a:rPr lang="en-US" sz="2000" dirty="0"/>
              <a:t> </a:t>
            </a:r>
            <a:r>
              <a:rPr lang="en-US" sz="2000" dirty="0" err="1"/>
              <a:t>uma</a:t>
            </a:r>
            <a:r>
              <a:rPr lang="en-US" sz="2000" dirty="0"/>
              <a:t> nova </a:t>
            </a:r>
            <a:r>
              <a:rPr lang="en-US" sz="2000" dirty="0" err="1"/>
              <a:t>coluna</a:t>
            </a:r>
            <a:r>
              <a:rPr lang="en-US" sz="2000" dirty="0"/>
              <a:t> para a </a:t>
            </a:r>
            <a:r>
              <a:rPr lang="en-US" sz="2000" dirty="0" err="1"/>
              <a:t>classificação</a:t>
            </a:r>
            <a:r>
              <a:rPr lang="en-US" sz="2000" dirty="0"/>
              <a:t> </a:t>
            </a:r>
            <a:r>
              <a:rPr lang="en-US" sz="2000" dirty="0" err="1"/>
              <a:t>etária</a:t>
            </a:r>
            <a:r>
              <a:rPr lang="en-US" sz="2000" dirty="0"/>
              <a:t>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Percebeu</a:t>
            </a:r>
            <a:r>
              <a:rPr lang="en-US" sz="2000" dirty="0"/>
              <a:t>-se </a:t>
            </a:r>
            <a:r>
              <a:rPr lang="en-US" sz="2000" dirty="0" err="1"/>
              <a:t>que</a:t>
            </a:r>
            <a:r>
              <a:rPr lang="en-US" sz="2000" dirty="0"/>
              <a:t> 20 </a:t>
            </a:r>
            <a:r>
              <a:rPr lang="en-US" sz="2000" dirty="0" err="1"/>
              <a:t>caracteres</a:t>
            </a:r>
            <a:r>
              <a:rPr lang="en-US" sz="2000" dirty="0"/>
              <a:t> para o </a:t>
            </a:r>
            <a:r>
              <a:rPr lang="en-US" sz="2000" dirty="0" err="1"/>
              <a:t>título</a:t>
            </a:r>
            <a:r>
              <a:rPr lang="en-US" sz="2000" dirty="0"/>
              <a:t> </a:t>
            </a:r>
            <a:r>
              <a:rPr lang="en-US" sz="2000" dirty="0" err="1"/>
              <a:t>são</a:t>
            </a:r>
            <a:r>
              <a:rPr lang="en-US" sz="2000" dirty="0"/>
              <a:t> </a:t>
            </a:r>
            <a:r>
              <a:rPr lang="en-US" sz="2000" dirty="0" err="1"/>
              <a:t>insuficientes</a:t>
            </a:r>
            <a:r>
              <a:rPr lang="en-US" sz="2000" dirty="0"/>
              <a:t>, </a:t>
            </a:r>
            <a:r>
              <a:rPr lang="en-US" sz="2000" dirty="0" err="1"/>
              <a:t>aumente</a:t>
            </a:r>
            <a:r>
              <a:rPr lang="en-US" sz="2000" dirty="0"/>
              <a:t> para 60;</a:t>
            </a:r>
          </a:p>
        </p:txBody>
      </p:sp>
    </p:spTree>
    <p:extLst>
      <p:ext uri="{BB962C8B-B14F-4D97-AF65-F5344CB8AC3E}">
        <p14:creationId xmlns:p14="http://schemas.microsoft.com/office/powerpoint/2010/main" val="23341014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19E49-E462-BDC9-428F-B0EF13D0E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0A02F65-5CC2-47A4-BD18-AA2E43AB67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2E097277-0FA1-01BE-0D90-CA77001EF4A7}"/>
              </a:ext>
            </a:extLst>
          </p:cNvPr>
          <p:cNvSpPr txBox="1"/>
          <p:nvPr/>
        </p:nvSpPr>
        <p:spPr>
          <a:xfrm>
            <a:off x="5186740" y="197595"/>
            <a:ext cx="18185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Exercício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ADDB81D-FAE6-589A-65E1-1615071252EA}"/>
              </a:ext>
            </a:extLst>
          </p:cNvPr>
          <p:cNvSpPr txBox="1"/>
          <p:nvPr/>
        </p:nvSpPr>
        <p:spPr>
          <a:xfrm>
            <a:off x="1459523" y="1011115"/>
            <a:ext cx="8976946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Utilizando</a:t>
            </a:r>
            <a:r>
              <a:rPr lang="en-US" sz="2000" dirty="0"/>
              <a:t> </a:t>
            </a:r>
            <a:r>
              <a:rPr lang="en-US" sz="2000" dirty="0" err="1"/>
              <a:t>os</a:t>
            </a:r>
            <a:r>
              <a:rPr lang="en-US" sz="2000" dirty="0"/>
              <a:t> </a:t>
            </a:r>
            <a:r>
              <a:rPr lang="en-US" sz="2000" dirty="0" err="1"/>
              <a:t>conceitos</a:t>
            </a:r>
            <a:r>
              <a:rPr lang="en-US" sz="2000" dirty="0"/>
              <a:t> </a:t>
            </a:r>
            <a:r>
              <a:rPr lang="en-US" sz="2000" dirty="0" err="1"/>
              <a:t>abordados</a:t>
            </a:r>
            <a:r>
              <a:rPr lang="en-US" sz="2000" dirty="0"/>
              <a:t> </a:t>
            </a:r>
            <a:r>
              <a:rPr lang="en-US" sz="2000" dirty="0" err="1"/>
              <a:t>nesta</a:t>
            </a:r>
            <a:r>
              <a:rPr lang="en-US" sz="2000" dirty="0"/>
              <a:t> aula, </a:t>
            </a:r>
            <a:r>
              <a:rPr lang="en-US" sz="2000" dirty="0" err="1"/>
              <a:t>faça</a:t>
            </a:r>
            <a:r>
              <a:rPr lang="en-US" sz="2000" dirty="0"/>
              <a:t> o que se </a:t>
            </a:r>
            <a:r>
              <a:rPr lang="en-US" sz="2000" dirty="0" err="1"/>
              <a:t>pede</a:t>
            </a:r>
            <a:r>
              <a:rPr lang="en-US" sz="2000" dirty="0"/>
              <a:t>:</a:t>
            </a:r>
          </a:p>
          <a:p>
            <a:endParaRPr lang="en-US" sz="2000" dirty="0"/>
          </a:p>
          <a:p>
            <a:r>
              <a:rPr lang="en-US" sz="2000" dirty="0"/>
              <a:t>4.   </a:t>
            </a:r>
            <a:r>
              <a:rPr lang="en-US" sz="2000" dirty="0" err="1"/>
              <a:t>Operação</a:t>
            </a:r>
            <a:r>
              <a:rPr lang="en-US" sz="2000" dirty="0"/>
              <a:t> de Dados: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Faça</a:t>
            </a:r>
            <a:r>
              <a:rPr lang="en-US" sz="2000" dirty="0"/>
              <a:t> a </a:t>
            </a:r>
            <a:r>
              <a:rPr lang="en-US" sz="2000" dirty="0" err="1"/>
              <a:t>inserção</a:t>
            </a:r>
            <a:r>
              <a:rPr lang="en-US" sz="2000" dirty="0"/>
              <a:t> de 3 </a:t>
            </a:r>
            <a:r>
              <a:rPr lang="en-US" sz="2000" dirty="0" err="1"/>
              <a:t>filmes</a:t>
            </a:r>
            <a:r>
              <a:rPr lang="en-US" sz="2000" dirty="0"/>
              <a:t>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Desative</a:t>
            </a:r>
            <a:r>
              <a:rPr lang="en-US" sz="2000" dirty="0"/>
              <a:t> a </a:t>
            </a:r>
            <a:r>
              <a:rPr lang="en-US" sz="2000" dirty="0" err="1"/>
              <a:t>trava</a:t>
            </a:r>
            <a:r>
              <a:rPr lang="en-US" sz="2000" dirty="0"/>
              <a:t> de </a:t>
            </a:r>
            <a:r>
              <a:rPr lang="en-US" sz="2000" dirty="0" err="1"/>
              <a:t>segurança</a:t>
            </a:r>
            <a:r>
              <a:rPr lang="en-US" sz="2000" dirty="0"/>
              <a:t> de updates;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Atualize</a:t>
            </a:r>
            <a:r>
              <a:rPr lang="en-US" sz="2000" dirty="0"/>
              <a:t> o </a:t>
            </a:r>
            <a:r>
              <a:rPr lang="en-US" sz="2000" dirty="0" err="1"/>
              <a:t>gênero</a:t>
            </a:r>
            <a:r>
              <a:rPr lang="en-US" sz="2000" dirty="0"/>
              <a:t> de um dos </a:t>
            </a:r>
            <a:r>
              <a:rPr lang="en-US" sz="2000" dirty="0" err="1"/>
              <a:t>filmes</a:t>
            </a:r>
            <a:r>
              <a:rPr lang="en-US" sz="2000" dirty="0"/>
              <a:t> </a:t>
            </a:r>
            <a:r>
              <a:rPr lang="en-US" sz="2000" dirty="0" err="1"/>
              <a:t>inseridos</a:t>
            </a:r>
            <a:r>
              <a:rPr lang="en-US" sz="2000" dirty="0"/>
              <a:t>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Delete </a:t>
            </a:r>
            <a:r>
              <a:rPr lang="en-US" sz="2000" dirty="0" err="1"/>
              <a:t>apenas</a:t>
            </a:r>
            <a:r>
              <a:rPr lang="en-US" sz="2000" dirty="0"/>
              <a:t> o </a:t>
            </a:r>
            <a:r>
              <a:rPr lang="en-US" sz="2000" dirty="0" err="1"/>
              <a:t>filme</a:t>
            </a:r>
            <a:r>
              <a:rPr lang="en-US" sz="2000" dirty="0"/>
              <a:t> </a:t>
            </a:r>
            <a:r>
              <a:rPr lang="en-US" sz="2000" dirty="0" err="1"/>
              <a:t>que</a:t>
            </a:r>
            <a:r>
              <a:rPr lang="en-US" sz="2000" dirty="0"/>
              <a:t> </a:t>
            </a:r>
            <a:r>
              <a:rPr lang="en-US" sz="2000" dirty="0" err="1"/>
              <a:t>tiver</a:t>
            </a:r>
            <a:r>
              <a:rPr lang="en-US" sz="2000" dirty="0"/>
              <a:t> o </a:t>
            </a:r>
            <a:r>
              <a:rPr lang="en-US" sz="2000" dirty="0" err="1"/>
              <a:t>primeiro</a:t>
            </a:r>
            <a:r>
              <a:rPr lang="en-US" sz="2000" dirty="0"/>
              <a:t> ID;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Mostre</a:t>
            </a:r>
            <a:r>
              <a:rPr lang="en-US" sz="2000" dirty="0"/>
              <a:t> </a:t>
            </a:r>
            <a:r>
              <a:rPr lang="en-US" sz="2000" dirty="0" err="1"/>
              <a:t>todos</a:t>
            </a:r>
            <a:r>
              <a:rPr lang="en-US" sz="2000" dirty="0"/>
              <a:t> </a:t>
            </a:r>
            <a:r>
              <a:rPr lang="en-US" sz="2000" dirty="0" err="1"/>
              <a:t>os</a:t>
            </a:r>
            <a:r>
              <a:rPr lang="en-US" sz="2000" dirty="0"/>
              <a:t> dados da </a:t>
            </a:r>
            <a:r>
              <a:rPr lang="en-US" sz="2000" dirty="0" err="1"/>
              <a:t>tabela</a:t>
            </a:r>
            <a:r>
              <a:rPr lang="en-US" sz="2000" dirty="0"/>
              <a:t> para </a:t>
            </a:r>
            <a:r>
              <a:rPr lang="en-US" sz="2000" dirty="0" err="1"/>
              <a:t>validar</a:t>
            </a:r>
            <a:r>
              <a:rPr lang="en-US" sz="2000" dirty="0"/>
              <a:t> as </a:t>
            </a:r>
            <a:r>
              <a:rPr lang="en-US" sz="2000" dirty="0" err="1"/>
              <a:t>operações</a:t>
            </a:r>
            <a:r>
              <a:rPr lang="en-US" sz="2000" dirty="0"/>
              <a:t>.</a:t>
            </a:r>
          </a:p>
          <a:p>
            <a:r>
              <a:rPr lang="en-US" sz="2000" dirty="0"/>
              <a:t>OBS: </a:t>
            </a:r>
            <a:r>
              <a:rPr lang="en-US" sz="2000" dirty="0" err="1"/>
              <a:t>Não</a:t>
            </a:r>
            <a:r>
              <a:rPr lang="en-US" sz="2000" dirty="0"/>
              <a:t> se </a:t>
            </a:r>
            <a:r>
              <a:rPr lang="en-US" sz="2000" dirty="0" err="1"/>
              <a:t>esqueça</a:t>
            </a:r>
            <a:r>
              <a:rPr lang="en-US" sz="2000" dirty="0"/>
              <a:t> de usar SET SQL_SAFE_UPDATES = 0.</a:t>
            </a:r>
          </a:p>
          <a:p>
            <a:endParaRPr lang="en-US" sz="2000" dirty="0"/>
          </a:p>
          <a:p>
            <a:r>
              <a:rPr lang="en-US" sz="2000" dirty="0"/>
              <a:t>5. </a:t>
            </a:r>
            <a:r>
              <a:rPr lang="en-US" sz="2000" dirty="0" err="1"/>
              <a:t>Finalização</a:t>
            </a:r>
            <a:r>
              <a:rPr lang="en-US" sz="20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Use o commando SHOW para </a:t>
            </a:r>
            <a:r>
              <a:rPr lang="en-US" sz="2000" dirty="0" err="1"/>
              <a:t>visualizar</a:t>
            </a:r>
            <a:r>
              <a:rPr lang="en-US" sz="2000" dirty="0"/>
              <a:t> as </a:t>
            </a:r>
            <a:r>
              <a:rPr lang="en-US" sz="2000" dirty="0" err="1"/>
              <a:t>tabelas</a:t>
            </a:r>
            <a:r>
              <a:rPr lang="en-US" sz="2000" dirty="0"/>
              <a:t>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Use UM </a:t>
            </a:r>
            <a:r>
              <a:rPr lang="en-US" sz="2000" dirty="0" err="1"/>
              <a:t>comando</a:t>
            </a:r>
            <a:r>
              <a:rPr lang="en-US" sz="2000" dirty="0"/>
              <a:t> para remover </a:t>
            </a:r>
            <a:r>
              <a:rPr lang="en-US" sz="2000" dirty="0" err="1"/>
              <a:t>todos</a:t>
            </a:r>
            <a:r>
              <a:rPr lang="en-US" sz="2000" dirty="0"/>
              <a:t> </a:t>
            </a:r>
            <a:r>
              <a:rPr lang="en-US" sz="2000" dirty="0" err="1"/>
              <a:t>os</a:t>
            </a:r>
            <a:r>
              <a:rPr lang="en-US" sz="2000" dirty="0"/>
              <a:t> Registros da </a:t>
            </a:r>
            <a:r>
              <a:rPr lang="en-US" sz="2000" dirty="0" err="1"/>
              <a:t>tabela</a:t>
            </a:r>
            <a:r>
              <a:rPr lang="en-US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388090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73D6E-FC32-50DA-1CBC-9FDC465B1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33F163-C736-9349-5711-22D353FE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3625611-E7FA-1D72-494A-0AFBC3CF9F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43371B3-3339-12F0-DD89-453EBF0A0E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C30338DA-9061-D8D4-B5A5-66A14A047FD4}"/>
              </a:ext>
            </a:extLst>
          </p:cNvPr>
          <p:cNvSpPr txBox="1"/>
          <p:nvPr/>
        </p:nvSpPr>
        <p:spPr>
          <a:xfrm>
            <a:off x="3924300" y="2413337"/>
            <a:ext cx="43434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AULA CONCLUÍDA!</a:t>
            </a:r>
            <a:endParaRPr lang="pt-BR" sz="60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28466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390</TotalTime>
  <Words>534</Words>
  <Application>Microsoft Office PowerPoint</Application>
  <PresentationFormat>Widescreen</PresentationFormat>
  <Paragraphs>79</Paragraphs>
  <Slides>16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Reis</dc:creator>
  <cp:lastModifiedBy>Felipe Tagawa</cp:lastModifiedBy>
  <cp:revision>9</cp:revision>
  <dcterms:created xsi:type="dcterms:W3CDTF">2025-07-21T21:42:57Z</dcterms:created>
  <dcterms:modified xsi:type="dcterms:W3CDTF">2026-04-16T04:31:10Z</dcterms:modified>
</cp:coreProperties>
</file>